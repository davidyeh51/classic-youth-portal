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【採用版型與風格】cover ｜ McKinsey &amp; Company</a:t>
            </a:r>
          </a:p>
          <a:p>
            <a:r>
              <a:t>① 本頁結論：本頁確立金愛爛作為韓國當代文壇代表作家及其小說集《你的夏天還好嗎？》的劃時代意義。</a:t>
            </a:r>
          </a:p>
          <a:p>
            <a:r>
              <a:t>② 補充說明：大田出版總編輯莊培園深度導讀最年輕李箱文學獎得主金愛爛的代表作，解析其原書名《飛行雲》與韓文《非幸運》的諧音雙關，探討普通人在資本主義巨浪下的身心處境。</a:t>
            </a:r>
          </a:p>
          <a:p>
            <a:r>
              <a:t>③ 下一頁轉場：首先，我們檢視金愛爛如何打破過往宏大論述，以超高代入感開創當代韓國文學新風貌。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BCG (Boston Consulting Group)</a:t>
            </a:r>
          </a:p>
          <a:p>
            <a:r>
              <a:t>① 本頁結論：金愛爛的文學力量在於她不寫少數耀眼的繼承者，而是專注於刻畫占社會絕大多數的普通人。</a:t>
            </a:r>
          </a:p>
          <a:p>
            <a:r>
              <a:t>② 補充說明：莊培園指出，讀金愛爛的小說具有無法抗拒的代入感。她在捷運、地下室與辦公室捕捉那些毫不起眼的眾生相，寫出無背景、無後援的年輕世代如何在經濟壓力下掙扎維持尊嚴。</a:t>
            </a:r>
          </a:p>
          <a:p>
            <a:r>
              <a:t>③ 下一頁轉場：緊接著，我們深入解構金愛爛在創作中所展現的三層核心美學維度。</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Accenture</a:t>
            </a:r>
          </a:p>
          <a:p>
            <a:r>
              <a:t>① 本頁結論：金愛爛的小說兼具極高可讀性與深刻思想性，幽默背後是無比深沉的悲憫。</a:t>
            </a:r>
          </a:p>
          <a:p>
            <a:r>
              <a:t>② 補充說明：陳蕙慧與莊培園特別談到同名篇章〈你的夏天還好嗎？〉中學妹迷戀學長的濾鏡破滅過程，這種從滿懷期待到不得不面對荒謬現實的落差，正是金愛爛最擅長的筆法。</a:t>
            </a:r>
          </a:p>
          <a:p>
            <a:r>
              <a:t>③ 下一頁轉場：接下來，透過連鎖論法檢視全書最具震撼力的名篇〈水中的歌利亞〉滅頂演進歷程。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4：連鎖論法 (Chain / Flow) ｜ BCG (Boston Consulting Group)</a:t>
            </a:r>
          </a:p>
          <a:p>
            <a:r>
              <a:t>① 本頁結論：〈水中的歌利亞〉是金愛爛在災難與社會隱喻上的巔峰之作，被視為韓國當代最震撼的短篇之一。</a:t>
            </a:r>
          </a:p>
          <a:p>
            <a:r>
              <a:t>② 補充說明：莊培園強調，這篇作品寫於世越號沉船之前，卻不可思議地精準預言了那種被社會體制遺棄、在冰冷水中慢慢滅頂的集體創傷感，起重機歌利亞象徵著個體無法撼動的巨大體制力量。</a:t>
            </a:r>
          </a:p>
          <a:p>
            <a:r>
              <a:t>③ 下一頁轉場：從〈水中的歌利亞〉出發，我們進一步透過麥肯錫矩陣檢視金愛爛的創作演進光譜。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5：麥肯錫矩陣論法 (McKinsey Flow) ｜ McKinsey &amp; Company</a:t>
            </a:r>
          </a:p>
          <a:p>
            <a:r>
              <a:t>① 本頁結論：金愛爛的每一步創作都緊貼著韓國社會的脈搏，展現出驚人的文學進化幅度。</a:t>
            </a:r>
          </a:p>
          <a:p>
            <a:r>
              <a:t>② 補充說明：從早期的生動俏皮，到《你的夏天還好嗎？》中對非幸運群體的深切注視，再到《外面是夏天》中撫慰世越號等集體創傷，金愛爛完成了從天才少女到文壇良心的蛻變。</a:t>
            </a:r>
          </a:p>
          <a:p>
            <a:r>
              <a:t>③ 下一頁轉場：接下來，我們透過對立論法對比兩代韓國文學在敘事追求與主題關懷上的本質差異。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6：對立論法 (Opposition) ｜ McKinsey &amp; Company</a:t>
            </a:r>
          </a:p>
          <a:p>
            <a:r>
              <a:t>① 本頁結論：兩代文學的轉換不是高下之別，而是時代命題轉移的必然結果。</a:t>
            </a:r>
          </a:p>
          <a:p>
            <a:r>
              <a:t>② 補充說明：陳蕙慧與莊培園深刻指出，當代年輕人不再面臨戒嚴獨裁的槍砲，卻被淹沒在資本主義看不見的生存壓力中。金愛爛敏銳地捕捉到這個轉變，為這個世代打造了專屬的文學語言。</a:t>
            </a:r>
          </a:p>
          <a:p>
            <a:r>
              <a:t>③ 下一頁轉場：緊接著，我們從大田出版總編輯莊培園的評論角度，解析書名背後的雙關深意與東亞共通焦慮。</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2：並列論法 (Parallel) ｜ BCG (Boston Consulting Group)</a:t>
            </a:r>
          </a:p>
          <a:p>
            <a:r>
              <a:t>① 本頁結論：莊培園的引介不僅揭開了書名的文化密碼，更點明了金愛爛作品在台灣引發強烈迴響的核心原因。</a:t>
            </a:r>
          </a:p>
          <a:p>
            <a:r>
              <a:t>② 補充說明：書名改為《你的夏天還好嗎？》是一次極為成功的本土化操作，它如同一聲溫柔卻刺痛的問候，直接扣擊著每一位在生活重壓下苦苦支撐的普通讀者。</a:t>
            </a:r>
          </a:p>
          <a:p>
            <a:r>
              <a:t>③ 下一頁轉場：將金愛爛放入 BCG 策略矩陣，檢視其在東亞現代寫實文學版圖中的戰略座標。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8：BCG 2x2 矩陣 (BCG Matrix) ｜ BCG (Boston Consulting Group)</a:t>
            </a:r>
          </a:p>
          <a:p>
            <a:r>
              <a:t>① 本頁結論：金愛爛之所以能囊括李箱獎與申東曄獎，正在於她攻克了右上角最具挑戰性的文學高地。</a:t>
            </a:r>
          </a:p>
          <a:p>
            <a:r>
              <a:t>② 補充說明：她既不寫高高在上的概念說教，也不流於廉價的小確幸或矯揉造作。她以普通人的血肉之軀承受資本主義重壓，創造出既有深厚社會結構反思、又讓人讀得心驚肉跳的偉大文本。</a:t>
            </a:r>
          </a:p>
          <a:p>
            <a:r>
              <a:t>③ 下一頁轉場：最後，針對讀者引導、社會政策反思與東亞文藝對話提出具體落地實踐建議。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【採用版型與風格】行動建議：三大落地護欄實踐 ｜ Accenture</a:t>
            </a:r>
          </a:p>
          <a:p>
            <a:r>
              <a:t>① 本頁結論：將金愛爛的小說從單純的閱讀經驗，轉化為促進社會理解與政策反思的實踐力量。</a:t>
            </a:r>
          </a:p>
          <a:p>
            <a:r>
              <a:t>② 補充說明：這些建議從個人心靈撫慰、公共政策審視到跨國文化交流，確保文學不僅止於書頁，更能成為改善青年生存處境的推動力。</a:t>
            </a:r>
          </a:p>
          <a:p>
            <a:r>
              <a:t>③ 下一頁轉場：最後，進入第十頁終局結論，總結即便夏天殘酷，文學仍在廢墟中凝視微光的深刻力量。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【採用版型與風格】版型 1：一對一論法 (One-to-One) ｜ McKinsey &amp; Company</a:t>
            </a:r>
          </a:p>
          <a:p>
            <a:r>
              <a:t>① 本頁結論：本頁為《你的夏天還好嗎？》的導讀劃下最高潮，點出文學在黑暗中陪伴普通人的永恆價值。</a:t>
            </a:r>
          </a:p>
          <a:p>
            <a:r>
              <a:t>② 補充說明：陳蕙慧與莊培園的對談在結尾昇華：金愛爛的小說不是廉價的心靈雞湯，而是給予我們直面殘酷現實的勇氣。在濁流與廢墟之中，文學這道微光永遠守護著普通人的尊嚴。</a:t>
            </a:r>
          </a:p>
          <a:p>
            <a:r>
              <a:t>③ 下一頁轉場：簡報到此結束，歡迎前往知識庫大廳線上瀏覽或閱讀繁中逐字稿全文。</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371600"/>
            <a:ext cx="164592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6858000" cy="457200"/>
          </a:xfrm>
          <a:prstGeom prst="rect">
            <a:avLst/>
          </a:prstGeom>
          <a:noFill/>
        </p:spPr>
        <p:txBody>
          <a:bodyPr wrap="none">
            <a:spAutoFit/>
          </a:bodyPr>
          <a:lstStyle/>
          <a:p>
            <a:pPr>
              <a:defRPr sz="1200" b="1">
                <a:solidFill>
                  <a:srgbClr val="D97706"/>
                </a:solidFill>
              </a:defRPr>
            </a:pPr>
            <a:r>
              <a:t>EXECUTIVE PODCAST BRIEFING  |  ZERO-NOISE CONSULTING DECK</a:t>
            </a:r>
          </a:p>
        </p:txBody>
      </p:sp>
      <p:sp>
        <p:nvSpPr>
          <p:cNvPr id="5" name="TextBox 4"/>
          <p:cNvSpPr txBox="1"/>
          <p:nvPr/>
        </p:nvSpPr>
        <p:spPr>
          <a:xfrm>
            <a:off x="914400" y="2011680"/>
            <a:ext cx="6858000" cy="1645920"/>
          </a:xfrm>
          <a:prstGeom prst="rect">
            <a:avLst/>
          </a:prstGeom>
          <a:noFill/>
        </p:spPr>
        <p:txBody>
          <a:bodyPr wrap="square">
            <a:spAutoFit/>
          </a:bodyPr>
          <a:lstStyle/>
          <a:p>
            <a:pPr>
              <a:defRPr sz="3200" b="1">
                <a:solidFill>
                  <a:srgbClr val="FFFFFF"/>
                </a:solidFill>
              </a:defRPr>
            </a:pPr>
            <a:r>
              <a:t>經典也青春EP601：莊培園談金愛爛的《你的夏天還好嗎？》</a:t>
            </a:r>
          </a:p>
        </p:txBody>
      </p:sp>
      <p:sp>
        <p:nvSpPr>
          <p:cNvPr id="6" name="TextBox 5"/>
          <p:cNvSpPr txBox="1"/>
          <p:nvPr/>
        </p:nvSpPr>
        <p:spPr>
          <a:xfrm>
            <a:off x="914400" y="3749039"/>
            <a:ext cx="6858000" cy="1280160"/>
          </a:xfrm>
          <a:prstGeom prst="rect">
            <a:avLst/>
          </a:prstGeom>
          <a:noFill/>
        </p:spPr>
        <p:txBody>
          <a:bodyPr wrap="square">
            <a:spAutoFit/>
          </a:bodyPr>
          <a:lstStyle/>
          <a:p>
            <a:pPr>
              <a:defRPr sz="1600">
                <a:solidFill>
                  <a:srgbClr val="E2E8F0"/>
                </a:solidFill>
              </a:defRPr>
            </a:pPr>
            <a:r>
              <a:t>核心主張：以極具切膚感的生活細節與幽默包覆的殘酷筆觸，直視韓國當代青年在資本主義與孤立滅頂中的生存掙扎</a:t>
            </a:r>
          </a:p>
        </p:txBody>
      </p:sp>
      <p:sp>
        <p:nvSpPr>
          <p:cNvPr id="7" name="TextBox 6"/>
          <p:cNvSpPr txBox="1"/>
          <p:nvPr/>
        </p:nvSpPr>
        <p:spPr>
          <a:xfrm>
            <a:off x="914400" y="5303520"/>
            <a:ext cx="6858000" cy="548640"/>
          </a:xfrm>
          <a:prstGeom prst="rect">
            <a:avLst/>
          </a:prstGeom>
          <a:noFill/>
        </p:spPr>
        <p:txBody>
          <a:bodyPr wrap="none">
            <a:spAutoFit/>
          </a:bodyPr>
          <a:lstStyle/>
          <a:p>
            <a:pPr>
              <a:defRPr sz="1200">
                <a:solidFill>
                  <a:srgbClr val="BAC4D2"/>
                </a:solidFill>
              </a:defRPr>
            </a:pPr>
            <a:r>
              <a:t>主講人：莊培園（大田出版總編輯 / 韓國文學引介者） ｜ 主持人：陳蕙慧 ｜ IC之音 × Readmoo</a:t>
            </a:r>
          </a:p>
        </p:txBody>
      </p:sp>
      <p:sp>
        <p:nvSpPr>
          <p:cNvPr id="8" name="Rounded Rectangle 7"/>
          <p:cNvSpPr/>
          <p:nvPr/>
        </p:nvSpPr>
        <p:spPr>
          <a:xfrm>
            <a:off x="8138160" y="1371600"/>
            <a:ext cx="3291840" cy="4389120"/>
          </a:xfrm>
          <a:prstGeom prst="roundRect">
            <a:avLst/>
          </a:prstGeom>
          <a:solidFill>
            <a:srgbClr val="0F172A"/>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odcast_artwork.jpg"/>
          <p:cNvPicPr>
            <a:picLocks noChangeAspect="1"/>
          </p:cNvPicPr>
          <p:nvPr/>
        </p:nvPicPr>
        <p:blipFill>
          <a:blip r:embed="rId2"/>
          <a:stretch>
            <a:fillRect/>
          </a:stretch>
        </p:blipFill>
        <p:spPr>
          <a:xfrm>
            <a:off x="8321040" y="1554480"/>
            <a:ext cx="2926080" cy="2926080"/>
          </a:xfrm>
          <a:prstGeom prst="rect">
            <a:avLst/>
          </a:prstGeom>
        </p:spPr>
      </p:pic>
      <p:sp>
        <p:nvSpPr>
          <p:cNvPr id="10" name="TextBox 9"/>
          <p:cNvSpPr txBox="1"/>
          <p:nvPr/>
        </p:nvSpPr>
        <p:spPr>
          <a:xfrm>
            <a:off x="8321040" y="4572000"/>
            <a:ext cx="2926080" cy="1005840"/>
          </a:xfrm>
          <a:prstGeom prst="rect">
            <a:avLst/>
          </a:prstGeom>
          <a:noFill/>
        </p:spPr>
        <p:txBody>
          <a:bodyPr wrap="square">
            <a:spAutoFit/>
          </a:bodyPr>
          <a:lstStyle/>
          <a:p>
            <a:pPr>
              <a:defRPr sz="1100">
                <a:solidFill>
                  <a:srgbClr val="FFFFFF"/>
                </a:solidFill>
              </a:defRPr>
            </a:pPr>
            <a:r>
              <a:t>🎙️ 主講人：莊培園（大田出版總編輯 / 韓國文學引介者） ｜ 主持人：陳蕙慧 ｜ IC之音 × Readmoo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核心發現 1：日常共情範式轉移  ｜  版型 1：一對一論法 (One-to-One)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2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主張：金愛爛作品打破傳統宏大政治敘事，以 85% 超高微觀日常代入感直擊東亞青年的生存真實</a:t>
            </a:r>
          </a:p>
          <a:p>
            <a:pPr>
              <a:defRPr sz="1200">
                <a:solidFill>
                  <a:srgbClr val="6B7280"/>
                </a:solidFill>
              </a:defRPr>
            </a:pPr>
            <a:r>
              <a:t>從捷運車廂戴耳機的普通上班族出發，將平凡生活的不起眼角落提升為文學焦點</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韓國當代文學發展史 ｜ 《經典也青春》EP601 對談精華</a:t>
            </a:r>
          </a:p>
        </p:txBody>
      </p:sp>
      <p:sp>
        <p:nvSpPr>
          <p:cNvPr id="7" name="Rectangle 6"/>
          <p:cNvSpPr/>
          <p:nvPr/>
        </p:nvSpPr>
        <p:spPr>
          <a:xfrm>
            <a:off x="1965960" y="4894729"/>
            <a:ext cx="731520" cy="774550"/>
          </a:xfrm>
          <a:prstGeom prst="rect">
            <a:avLst/>
          </a:prstGeom>
          <a:solidFill>
            <a:srgbClr val="C0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4574689"/>
            <a:ext cx="1005840" cy="292608"/>
          </a:xfrm>
          <a:prstGeom prst="rect">
            <a:avLst/>
          </a:prstGeom>
          <a:noFill/>
        </p:spPr>
        <p:txBody>
          <a:bodyPr wrap="none">
            <a:spAutoFit/>
          </a:bodyPr>
          <a:lstStyle/>
          <a:p>
            <a:pPr algn="ctr">
              <a:defRPr sz="1100" b="0">
                <a:solidFill>
                  <a:srgbClr val="6B7280"/>
                </a:solidFill>
              </a:defRPr>
            </a:pPr>
            <a:r>
              <a:t>20%</a:t>
            </a:r>
          </a:p>
        </p:txBody>
      </p:sp>
      <p:sp>
        <p:nvSpPr>
          <p:cNvPr id="9" name="TextBox 8"/>
          <p:cNvSpPr txBox="1"/>
          <p:nvPr/>
        </p:nvSpPr>
        <p:spPr>
          <a:xfrm>
            <a:off x="1783080" y="5742432"/>
            <a:ext cx="1097280" cy="365760"/>
          </a:xfrm>
          <a:prstGeom prst="rect">
            <a:avLst/>
          </a:prstGeom>
          <a:noFill/>
        </p:spPr>
        <p:txBody>
          <a:bodyPr wrap="none">
            <a:spAutoFit/>
          </a:bodyPr>
          <a:lstStyle/>
          <a:p>
            <a:pPr algn="ctr">
              <a:defRPr sz="1150" b="0">
                <a:solidFill>
                  <a:srgbClr val="1F2937"/>
                </a:solidFill>
              </a:defRPr>
            </a:pPr>
            <a:r>
              <a:t>傳統宏大政治論述</a:t>
            </a:r>
          </a:p>
        </p:txBody>
      </p:sp>
      <p:sp>
        <p:nvSpPr>
          <p:cNvPr id="10" name="Rectangle 9"/>
          <p:cNvSpPr/>
          <p:nvPr/>
        </p:nvSpPr>
        <p:spPr>
          <a:xfrm>
            <a:off x="4800600" y="2377440"/>
            <a:ext cx="731520" cy="3291840"/>
          </a:xfrm>
          <a:prstGeom prst="rect">
            <a:avLst/>
          </a:prstGeom>
          <a:solidFill>
            <a:srgbClr val="29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057400"/>
            <a:ext cx="1005840" cy="292608"/>
          </a:xfrm>
          <a:prstGeom prst="rect">
            <a:avLst/>
          </a:prstGeom>
          <a:noFill/>
        </p:spPr>
        <p:txBody>
          <a:bodyPr wrap="none">
            <a:spAutoFit/>
          </a:bodyPr>
          <a:lstStyle/>
          <a:p>
            <a:pPr algn="ctr">
              <a:defRPr sz="1200" b="1">
                <a:solidFill>
                  <a:srgbClr val="004F32"/>
                </a:solidFill>
              </a:defRPr>
            </a:pPr>
            <a:r>
              <a:t>85%</a:t>
            </a:r>
          </a:p>
        </p:txBody>
      </p:sp>
      <p:sp>
        <p:nvSpPr>
          <p:cNvPr id="12" name="TextBox 11"/>
          <p:cNvSpPr txBox="1"/>
          <p:nvPr/>
        </p:nvSpPr>
        <p:spPr>
          <a:xfrm>
            <a:off x="4617720" y="5742432"/>
            <a:ext cx="1097280" cy="365760"/>
          </a:xfrm>
          <a:prstGeom prst="rect">
            <a:avLst/>
          </a:prstGeom>
          <a:noFill/>
        </p:spPr>
        <p:txBody>
          <a:bodyPr wrap="none">
            <a:spAutoFit/>
          </a:bodyPr>
          <a:lstStyle/>
          <a:p>
            <a:pPr algn="ctr">
              <a:defRPr sz="1150" b="1">
                <a:solidFill>
                  <a:srgbClr val="004F32"/>
                </a:solidFill>
              </a:defRPr>
            </a:pPr>
            <a:r>
              <a:t>金愛爛微觀生存共情</a:t>
            </a:r>
          </a:p>
        </p:txBody>
      </p:sp>
      <p:sp>
        <p:nvSpPr>
          <p:cNvPr id="13" name="Rounded Rectangle 12"/>
          <p:cNvSpPr/>
          <p:nvPr/>
        </p:nvSpPr>
        <p:spPr>
          <a:xfrm>
            <a:off x="6949440" y="1828800"/>
            <a:ext cx="4480560" cy="4297680"/>
          </a:xfrm>
          <a:prstGeom prst="roundRect">
            <a:avLst/>
          </a:prstGeom>
          <a:solidFill>
            <a:srgbClr val="F3F4F6"/>
          </a:solidFill>
          <a:ln w="1905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2011680"/>
            <a:ext cx="4023360" cy="3931920"/>
          </a:xfrm>
          <a:prstGeom prst="rect">
            <a:avLst/>
          </a:prstGeom>
          <a:noFill/>
        </p:spPr>
        <p:txBody>
          <a:bodyPr wrap="square">
            <a:spAutoFit/>
          </a:bodyPr>
          <a:lstStyle/>
          <a:p>
            <a:pPr>
              <a:spcAft>
                <a:spcPts val="600"/>
              </a:spcAft>
              <a:defRPr sz="1400" b="1">
                <a:solidFill>
                  <a:srgbClr val="177B57"/>
                </a:solidFill>
              </a:defRPr>
            </a:pPr>
            <a:r>
              <a:t>核心證據與文本深度解析</a:t>
            </a:r>
          </a:p>
          <a:p>
            <a:pPr>
              <a:spcAft>
                <a:spcPts val="400"/>
              </a:spcAft>
              <a:defRPr sz="1150">
                <a:solidFill>
                  <a:srgbClr val="1F2937"/>
                </a:solidFill>
              </a:defRPr>
            </a:pPr>
            <a:r>
              <a:t>• 【告別宏大】過往韓國文學多著眼於學運、威權抗爭或歷史創傷，金愛爛則聚焦無後援的普通人。</a:t>
            </a:r>
          </a:p>
          <a:p>
            <a:pPr>
              <a:spcAft>
                <a:spcPts val="400"/>
              </a:spcAft>
              <a:defRPr sz="1150">
                <a:solidFill>
                  <a:srgbClr val="1F2937"/>
                </a:solidFill>
              </a:defRPr>
            </a:pPr>
            <a:r>
              <a:t>• 【資本現實】精準捕捉時代質地：「以前大學生忙學運，現在大學生忙直銷、股票與考公」。</a:t>
            </a:r>
          </a:p>
          <a:p>
            <a:pPr>
              <a:spcAft>
                <a:spcPts val="400"/>
              </a:spcAft>
              <a:defRPr sz="1150">
                <a:solidFill>
                  <a:srgbClr val="1F2937"/>
                </a:solidFill>
              </a:defRPr>
            </a:pPr>
            <a:r>
              <a:t>• 【切膚之痛】文字熱度極高，看似荒謬幽默的日常對話，背後卻是被現實猛潑冷水般的劇痛。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A100FF"/>
                </a:solidFill>
              </a:defRPr>
            </a:pPr>
            <a:r>
              <a:t>核心發現 2：金愛爛文學三層核心維度  ｜  版型 2：並列論法 (Parallel)  ｜  Accenture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3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111827"/>
                </a:solidFill>
              </a:defRPr>
            </a:pPr>
            <a:r>
              <a:t>① 主張：金愛爛以「切膚日常寫實 × 幽默包裹殘酷 × 存在困境審視」三大支柱，樹立韓國當代文學新美學</a:t>
            </a:r>
          </a:p>
          <a:p>
            <a:pPr>
              <a:defRPr sz="1200">
                <a:solidFill>
                  <a:srgbClr val="64748B"/>
                </a:solidFill>
              </a:defRPr>
            </a:pPr>
            <a:r>
              <a:t>以冷靜客觀卻無比熾熱的筆調，直面現代人不可避免的幻滅與無奈</a:t>
            </a:r>
          </a:p>
        </p:txBody>
      </p:sp>
      <p:sp>
        <p:nvSpPr>
          <p:cNvPr id="5" name="Rectangle 4"/>
          <p:cNvSpPr/>
          <p:nvPr/>
        </p:nvSpPr>
        <p:spPr>
          <a:xfrm>
            <a:off x="731520" y="1572768"/>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金愛爛《你的夏天還好嗎？》作品風格研究</a:t>
            </a:r>
          </a:p>
        </p:txBody>
      </p:sp>
      <p:sp>
        <p:nvSpPr>
          <p:cNvPr id="7" name="Rounded Rectangle 6"/>
          <p:cNvSpPr/>
          <p:nvPr/>
        </p:nvSpPr>
        <p:spPr>
          <a:xfrm>
            <a:off x="731520"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支柱 1：切膚日常寫實</a:t>
            </a:r>
          </a:p>
        </p:txBody>
      </p:sp>
      <p:sp>
        <p:nvSpPr>
          <p:cNvPr id="9" name="TextBox 8"/>
          <p:cNvSpPr txBox="1"/>
          <p:nvPr/>
        </p:nvSpPr>
        <p:spPr>
          <a:xfrm>
            <a:off x="868680" y="2423160"/>
            <a:ext cx="3149498" cy="3657600"/>
          </a:xfrm>
          <a:prstGeom prst="rect">
            <a:avLst/>
          </a:prstGeom>
          <a:noFill/>
        </p:spPr>
        <p:txBody>
          <a:bodyPr wrap="square">
            <a:spAutoFit/>
          </a:bodyPr>
          <a:lstStyle/>
          <a:p>
            <a:pPr>
              <a:spcAft>
                <a:spcPts val="600"/>
              </a:spcAft>
              <a:defRPr sz="1200">
                <a:solidFill>
                  <a:srgbClr val="0F172A"/>
                </a:solidFill>
              </a:defRPr>
            </a:pPr>
            <a:r>
              <a:t>1. 細膩描寫普通人的心理防線與自尊微光</a:t>
            </a:r>
          </a:p>
          <a:p>
            <a:pPr>
              <a:spcAft>
                <a:spcPts val="600"/>
              </a:spcAft>
              <a:defRPr sz="1200">
                <a:solidFill>
                  <a:srgbClr val="0F172A"/>
                </a:solidFill>
              </a:defRPr>
            </a:pPr>
            <a:r>
              <a:t>2. 精準捕捉清潔工、落榜生、基層職員的生活細節</a:t>
            </a:r>
          </a:p>
          <a:p>
            <a:pPr>
              <a:spcAft>
                <a:spcPts val="600"/>
              </a:spcAft>
              <a:defRPr sz="1200">
                <a:solidFill>
                  <a:srgbClr val="0F172A"/>
                </a:solidFill>
              </a:defRPr>
            </a:pPr>
            <a:r>
              <a:t>3. 將日常的瑣碎尷尬轉化為強大的共鳴力量</a:t>
            </a:r>
          </a:p>
        </p:txBody>
      </p:sp>
      <p:sp>
        <p:nvSpPr>
          <p:cNvPr id="10" name="Rounded Rectangle 9"/>
          <p:cNvSpPr/>
          <p:nvPr/>
        </p:nvSpPr>
        <p:spPr>
          <a:xfrm>
            <a:off x="4383938"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828800"/>
            <a:ext cx="3423818" cy="4572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支柱 2：幽默包裹殘酷</a:t>
            </a:r>
          </a:p>
        </p:txBody>
      </p:sp>
      <p:sp>
        <p:nvSpPr>
          <p:cNvPr id="12" name="TextBox 11"/>
          <p:cNvSpPr txBox="1"/>
          <p:nvPr/>
        </p:nvSpPr>
        <p:spPr>
          <a:xfrm>
            <a:off x="4521098" y="2423160"/>
            <a:ext cx="3149498" cy="3657600"/>
          </a:xfrm>
          <a:prstGeom prst="rect">
            <a:avLst/>
          </a:prstGeom>
          <a:noFill/>
        </p:spPr>
        <p:txBody>
          <a:bodyPr wrap="square">
            <a:spAutoFit/>
          </a:bodyPr>
          <a:lstStyle/>
          <a:p>
            <a:pPr>
              <a:spcAft>
                <a:spcPts val="600"/>
              </a:spcAft>
              <a:defRPr sz="1200">
                <a:solidFill>
                  <a:srgbClr val="0F172A"/>
                </a:solidFill>
              </a:defRPr>
            </a:pPr>
            <a:r>
              <a:t>1. 以荒謬自嘲的外殼包覆沉重痛感</a:t>
            </a:r>
          </a:p>
          <a:p>
            <a:pPr>
              <a:spcAft>
                <a:spcPts val="600"/>
              </a:spcAft>
              <a:defRPr sz="1200">
                <a:solidFill>
                  <a:srgbClr val="0F172A"/>
                </a:solidFill>
              </a:defRPr>
            </a:pPr>
            <a:r>
              <a:t>2. 拆解青春期對學長與未來的崇拜濾鏡</a:t>
            </a:r>
          </a:p>
          <a:p>
            <a:pPr>
              <a:spcAft>
                <a:spcPts val="600"/>
              </a:spcAft>
              <a:defRPr sz="1200">
                <a:solidFill>
                  <a:srgbClr val="0F172A"/>
                </a:solidFill>
              </a:defRPr>
            </a:pPr>
            <a:r>
              <a:t>3. 在爆笑的對話轉折處突襲讀者的心靈防線</a:t>
            </a:r>
          </a:p>
        </p:txBody>
      </p:sp>
      <p:sp>
        <p:nvSpPr>
          <p:cNvPr id="13" name="Rounded Rectangle 12"/>
          <p:cNvSpPr/>
          <p:nvPr/>
        </p:nvSpPr>
        <p:spPr>
          <a:xfrm>
            <a:off x="8036356"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6356"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支柱 3：存在困境審視</a:t>
            </a:r>
          </a:p>
        </p:txBody>
      </p:sp>
      <p:sp>
        <p:nvSpPr>
          <p:cNvPr id="15" name="TextBox 14"/>
          <p:cNvSpPr txBox="1"/>
          <p:nvPr/>
        </p:nvSpPr>
        <p:spPr>
          <a:xfrm>
            <a:off x="8173516" y="2423160"/>
            <a:ext cx="3149498" cy="3657600"/>
          </a:xfrm>
          <a:prstGeom prst="rect">
            <a:avLst/>
          </a:prstGeom>
          <a:noFill/>
        </p:spPr>
        <p:txBody>
          <a:bodyPr wrap="square">
            <a:spAutoFit/>
          </a:bodyPr>
          <a:lstStyle/>
          <a:p>
            <a:pPr>
              <a:spcAft>
                <a:spcPts val="600"/>
              </a:spcAft>
              <a:defRPr sz="1200">
                <a:solidFill>
                  <a:srgbClr val="0F172A"/>
                </a:solidFill>
              </a:defRPr>
            </a:pPr>
            <a:r>
              <a:t>1. 深刻剖析資本主義生活模式對人性的異化</a:t>
            </a:r>
          </a:p>
          <a:p>
            <a:pPr>
              <a:spcAft>
                <a:spcPts val="600"/>
              </a:spcAft>
              <a:defRPr sz="1200">
                <a:solidFill>
                  <a:srgbClr val="0F172A"/>
                </a:solidFill>
              </a:defRPr>
            </a:pPr>
            <a:r>
              <a:t>2. 直視無後援青年在求生與夢想間的殘酷拉扯</a:t>
            </a:r>
          </a:p>
          <a:p>
            <a:pPr>
              <a:spcAft>
                <a:spcPts val="600"/>
              </a:spcAft>
              <a:defRPr sz="1200">
                <a:solidFill>
                  <a:srgbClr val="0F172A"/>
                </a:solidFill>
              </a:defRPr>
            </a:pPr>
            <a:r>
              <a:t>3. 呈現面對命運無力反抗時的沉默抵抗姿態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核心發現 3：〈水中的歌利亞〉四重滅頂因果鏈  ｜  版型 4：連鎖論法 (Chain / Flow)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4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主張：〈水中的歌利亞〉建構四重滅頂因果鏈，將青年面對體制巨獸的孤立與無力感推向極致</a:t>
            </a:r>
          </a:p>
          <a:p>
            <a:pPr>
              <a:defRPr sz="1200">
                <a:solidFill>
                  <a:srgbClr val="6B7280"/>
                </a:solidFill>
              </a:defRPr>
            </a:pPr>
            <a:r>
              <a:t>從拆遷孤島到暴雨滅頂，象徵當代個體在冷酷社會體制面前的生存絕境</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金愛爛短篇〈水中的歌利亞〉文本結構與象徵隱喻</a:t>
            </a:r>
          </a:p>
        </p:txBody>
      </p:sp>
      <p:sp>
        <p:nvSpPr>
          <p:cNvPr id="7" name="Right Arrow 6"/>
          <p:cNvSpPr/>
          <p:nvPr/>
        </p:nvSpPr>
        <p:spPr>
          <a:xfrm>
            <a:off x="731520" y="1783080"/>
            <a:ext cx="10728655" cy="347472"/>
          </a:xfrm>
          <a:prstGeom prst="rightArrow">
            <a:avLst/>
          </a:prstGeom>
          <a:solidFill>
            <a:srgbClr val="29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滅頂演進過程：從被遺棄的拆遷孤島 ───► 直抵濁流滅頂的存在深淵</a:t>
            </a:r>
          </a:p>
        </p:txBody>
      </p:sp>
      <p:sp>
        <p:nvSpPr>
          <p:cNvPr id="8" name="Chevron 7"/>
          <p:cNvSpPr/>
          <p:nvPr/>
        </p:nvSpPr>
        <p:spPr>
          <a:xfrm>
            <a:off x="731520" y="2286000"/>
            <a:ext cx="2510713" cy="685800"/>
          </a:xfrm>
          <a:prstGeom prst="chevron">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第一層：都市更新孤島</a:t>
            </a:r>
          </a:p>
        </p:txBody>
      </p:sp>
      <p:sp>
        <p:nvSpPr>
          <p:cNvPr id="9" name="Rounded Rectangle 8"/>
          <p:cNvSpPr/>
          <p:nvPr/>
        </p:nvSpPr>
        <p:spPr>
          <a:xfrm>
            <a:off x="731520"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46120"/>
            <a:ext cx="2236393" cy="2743200"/>
          </a:xfrm>
          <a:prstGeom prst="rect">
            <a:avLst/>
          </a:prstGeom>
          <a:noFill/>
        </p:spPr>
        <p:txBody>
          <a:bodyPr wrap="square">
            <a:spAutoFit/>
          </a:bodyPr>
          <a:lstStyle/>
          <a:p>
            <a:pPr>
              <a:spcAft>
                <a:spcPts val="600"/>
              </a:spcAft>
              <a:defRPr sz="1200">
                <a:solidFill>
                  <a:srgbClr val="1F2937"/>
                </a:solidFill>
              </a:defRPr>
            </a:pPr>
            <a:r>
              <a:t>▪ 面對強制拆遷，母親重病過世且斷水斷電</a:t>
            </a:r>
          </a:p>
          <a:p>
            <a:pPr>
              <a:spcAft>
                <a:spcPts val="600"/>
              </a:spcAft>
              <a:defRPr sz="1200">
                <a:solidFill>
                  <a:srgbClr val="1F2937"/>
                </a:solidFill>
              </a:defRPr>
            </a:pPr>
            <a:r>
              <a:t>▪ 留守在廢墟公寓頂樓，成為被城市遺棄的孤島</a:t>
            </a:r>
          </a:p>
          <a:p>
            <a:pPr>
              <a:spcAft>
                <a:spcPts val="600"/>
              </a:spcAft>
              <a:defRPr sz="1200">
                <a:solidFill>
                  <a:srgbClr val="1F2937"/>
                </a:solidFill>
              </a:defRPr>
            </a:pPr>
            <a:r>
              <a:t>▪ 經濟弱勢者在都市發展中被徹底邊緣化</a:t>
            </a:r>
          </a:p>
        </p:txBody>
      </p:sp>
      <p:sp>
        <p:nvSpPr>
          <p:cNvPr id="11" name="Chevron 10"/>
          <p:cNvSpPr/>
          <p:nvPr/>
        </p:nvSpPr>
        <p:spPr>
          <a:xfrm>
            <a:off x="3470833" y="2286000"/>
            <a:ext cx="2510713" cy="685800"/>
          </a:xfrm>
          <a:prstGeom prst="chevron">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第二層：暴雨水災圍困</a:t>
            </a:r>
          </a:p>
        </p:txBody>
      </p:sp>
      <p:sp>
        <p:nvSpPr>
          <p:cNvPr id="12" name="Rounded Rectangle 11"/>
          <p:cNvSpPr/>
          <p:nvPr/>
        </p:nvSpPr>
        <p:spPr>
          <a:xfrm>
            <a:off x="3470833"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7993" y="3246120"/>
            <a:ext cx="2236393" cy="2743200"/>
          </a:xfrm>
          <a:prstGeom prst="rect">
            <a:avLst/>
          </a:prstGeom>
          <a:noFill/>
        </p:spPr>
        <p:txBody>
          <a:bodyPr wrap="square">
            <a:spAutoFit/>
          </a:bodyPr>
          <a:lstStyle/>
          <a:p>
            <a:pPr>
              <a:spcAft>
                <a:spcPts val="600"/>
              </a:spcAft>
              <a:defRPr sz="1200">
                <a:solidFill>
                  <a:srgbClr val="1F2937"/>
                </a:solidFill>
              </a:defRPr>
            </a:pPr>
            <a:r>
              <a:t>▪ 連日暴雨導致水位不斷暴漲，外界通訊中斷</a:t>
            </a:r>
          </a:p>
          <a:p>
            <a:pPr>
              <a:spcAft>
                <a:spcPts val="600"/>
              </a:spcAft>
              <a:defRPr sz="1200">
                <a:solidFill>
                  <a:srgbClr val="1F2937"/>
                </a:solidFill>
              </a:defRPr>
            </a:pPr>
            <a:r>
              <a:t>▪ 洪水淹沒樓梯，生存空間被急速壓縮至屋頂</a:t>
            </a:r>
          </a:p>
          <a:p>
            <a:pPr>
              <a:spcAft>
                <a:spcPts val="600"/>
              </a:spcAft>
              <a:defRPr sz="1200">
                <a:solidFill>
                  <a:srgbClr val="1F2937"/>
                </a:solidFill>
              </a:defRPr>
            </a:pPr>
            <a:r>
              <a:t>▪ 天災與人禍交織，孤立無援的恐懼達到頂峰</a:t>
            </a:r>
          </a:p>
        </p:txBody>
      </p:sp>
      <p:sp>
        <p:nvSpPr>
          <p:cNvPr id="14" name="Chevron 13"/>
          <p:cNvSpPr/>
          <p:nvPr/>
        </p:nvSpPr>
        <p:spPr>
          <a:xfrm>
            <a:off x="6210147" y="2286000"/>
            <a:ext cx="2510713" cy="685800"/>
          </a:xfrm>
          <a:prstGeom prst="chevron">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第三層：體制巨獸冷漠</a:t>
            </a:r>
          </a:p>
        </p:txBody>
      </p:sp>
      <p:sp>
        <p:nvSpPr>
          <p:cNvPr id="15" name="Rounded Rectangle 14"/>
          <p:cNvSpPr/>
          <p:nvPr/>
        </p:nvSpPr>
        <p:spPr>
          <a:xfrm>
            <a:off x="6210147"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7307" y="3246120"/>
            <a:ext cx="2236393" cy="2743200"/>
          </a:xfrm>
          <a:prstGeom prst="rect">
            <a:avLst/>
          </a:prstGeom>
          <a:noFill/>
        </p:spPr>
        <p:txBody>
          <a:bodyPr wrap="square">
            <a:spAutoFit/>
          </a:bodyPr>
          <a:lstStyle/>
          <a:p>
            <a:pPr>
              <a:spcAft>
                <a:spcPts val="600"/>
              </a:spcAft>
              <a:defRPr sz="1200">
                <a:solidFill>
                  <a:srgbClr val="1F2937"/>
                </a:solidFill>
              </a:defRPr>
            </a:pPr>
            <a:r>
              <a:t>▪ 遠方巨型起重機宛如冷酷矗立的歌利亞巨人</a:t>
            </a:r>
          </a:p>
          <a:p>
            <a:pPr>
              <a:spcAft>
                <a:spcPts val="600"/>
              </a:spcAft>
              <a:defRPr sz="1200">
                <a:solidFill>
                  <a:srgbClr val="1F2937"/>
                </a:solidFill>
              </a:defRPr>
            </a:pPr>
            <a:r>
              <a:t>▪ 資本體制運轉不息，對底層個體的生死冷漠無視</a:t>
            </a:r>
          </a:p>
          <a:p>
            <a:pPr>
              <a:spcAft>
                <a:spcPts val="600"/>
              </a:spcAft>
              <a:defRPr sz="1200">
                <a:solidFill>
                  <a:srgbClr val="1F2937"/>
                </a:solidFill>
              </a:defRPr>
            </a:pPr>
            <a:r>
              <a:t>▪ 大衛與歌利亞的神話在此化為殘酷的無力對峙</a:t>
            </a:r>
          </a:p>
        </p:txBody>
      </p:sp>
      <p:sp>
        <p:nvSpPr>
          <p:cNvPr id="17" name="Chevron 16"/>
          <p:cNvSpPr/>
          <p:nvPr/>
        </p:nvSpPr>
        <p:spPr>
          <a:xfrm>
            <a:off x="8949461" y="2286000"/>
            <a:ext cx="2510713" cy="685800"/>
          </a:xfrm>
          <a:prstGeom prst="chevron">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第四層：濁流漂流深淵</a:t>
            </a:r>
          </a:p>
        </p:txBody>
      </p:sp>
      <p:sp>
        <p:nvSpPr>
          <p:cNvPr id="18" name="Rounded Rectangle 17"/>
          <p:cNvSpPr/>
          <p:nvPr/>
        </p:nvSpPr>
        <p:spPr>
          <a:xfrm>
            <a:off x="8949461" y="3108960"/>
            <a:ext cx="2510713" cy="3017520"/>
          </a:xfrm>
          <a:prstGeom prst="roundRect">
            <a:avLst/>
          </a:prstGeom>
          <a:solidFill>
            <a:srgbClr val="F3F4F6"/>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86621" y="3246120"/>
            <a:ext cx="2236393" cy="2743200"/>
          </a:xfrm>
          <a:prstGeom prst="rect">
            <a:avLst/>
          </a:prstGeom>
          <a:noFill/>
        </p:spPr>
        <p:txBody>
          <a:bodyPr wrap="square">
            <a:spAutoFit/>
          </a:bodyPr>
          <a:lstStyle/>
          <a:p>
            <a:pPr>
              <a:spcAft>
                <a:spcPts val="600"/>
              </a:spcAft>
              <a:defRPr sz="1200">
                <a:solidFill>
                  <a:srgbClr val="1F2937"/>
                </a:solidFill>
              </a:defRPr>
            </a:pPr>
            <a:r>
              <a:t>▪ 少年抱著浮胎在浩瀚濁流中隨波逐流求生</a:t>
            </a:r>
          </a:p>
          <a:p>
            <a:pPr>
              <a:spcAft>
                <a:spcPts val="600"/>
              </a:spcAft>
              <a:defRPr sz="1200">
                <a:solidFill>
                  <a:srgbClr val="1F2937"/>
                </a:solidFill>
              </a:defRPr>
            </a:pPr>
            <a:r>
              <a:t>▪ 不知漂向何方，直面宇宙級的孤獨與滅頂存在</a:t>
            </a:r>
          </a:p>
          <a:p>
            <a:pPr>
              <a:spcAft>
                <a:spcPts val="600"/>
              </a:spcAft>
              <a:defRPr sz="1200">
                <a:solidFill>
                  <a:srgbClr val="1F2937"/>
                </a:solidFill>
              </a:defRPr>
            </a:pPr>
            <a:r>
              <a:t>▪ 完成對現代青年生存狀態最深層的悲劇隱喻</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D97706"/>
                </a:solidFill>
              </a:defRPr>
            </a:pPr>
            <a:r>
              <a:t>核心發現 4：金愛爛創作演進光譜  ｜  版型 5：麥肯錫矩陣論法 (McKinsey Flow)  ｜  McKinsey &amp; Company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5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51C2C"/>
                </a:solidFill>
              </a:defRPr>
            </a:pPr>
            <a:r>
              <a:t>① 主張：金愛爛創作從早期的家庭父權解構，成熟演進至直視資本主義社會創傷與集體記憶的冷冽深沉</a:t>
            </a:r>
          </a:p>
          <a:p>
            <a:pPr>
              <a:defRPr sz="1200">
                <a:solidFill>
                  <a:srgbClr val="64748B"/>
                </a:solidFill>
              </a:defRPr>
            </a:pPr>
            <a:r>
              <a:t>持續拓寬小說的社會景深，在微觀日常中注入深邃的時代省思與人文關懷</a:t>
            </a:r>
          </a:p>
        </p:txBody>
      </p:sp>
      <p:sp>
        <p:nvSpPr>
          <p:cNvPr id="5" name="Rectangle 4"/>
          <p:cNvSpPr/>
          <p:nvPr/>
        </p:nvSpPr>
        <p:spPr>
          <a:xfrm>
            <a:off x="731520" y="15727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韓國文學評審團李箱文學獎與申東曄文學獎授獎辭</a:t>
            </a:r>
          </a:p>
        </p:txBody>
      </p:sp>
      <p:sp>
        <p:nvSpPr>
          <p:cNvPr id="7" name="Chevron 6"/>
          <p:cNvSpPr/>
          <p:nvPr/>
        </p:nvSpPr>
        <p:spPr>
          <a:xfrm>
            <a:off x="2880360" y="1783080"/>
            <a:ext cx="2042083"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起步：家庭與父權解構</a:t>
            </a:r>
          </a:p>
        </p:txBody>
      </p:sp>
      <p:sp>
        <p:nvSpPr>
          <p:cNvPr id="8" name="Chevron 7"/>
          <p:cNvSpPr/>
          <p:nvPr/>
        </p:nvSpPr>
        <p:spPr>
          <a:xfrm>
            <a:off x="5059603" y="1783080"/>
            <a:ext cx="2042083"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摸索：城市蝸居青年</a:t>
            </a:r>
          </a:p>
        </p:txBody>
      </p:sp>
      <p:sp>
        <p:nvSpPr>
          <p:cNvPr id="9" name="Chevron 8"/>
          <p:cNvSpPr/>
          <p:nvPr/>
        </p:nvSpPr>
        <p:spPr>
          <a:xfrm>
            <a:off x="7238847" y="1783080"/>
            <a:ext cx="2042083"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成熟：社會殘酷考驗</a:t>
            </a:r>
          </a:p>
        </p:txBody>
      </p:sp>
      <p:sp>
        <p:nvSpPr>
          <p:cNvPr id="10" name="Chevron 9"/>
          <p:cNvSpPr/>
          <p:nvPr/>
        </p:nvSpPr>
        <p:spPr>
          <a:xfrm>
            <a:off x="9418091" y="1783080"/>
            <a:ext cx="2042083" cy="548640"/>
          </a:xfrm>
          <a:prstGeom prst="chevron">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巔峰：創傷與集體記憶</a:t>
            </a:r>
          </a:p>
        </p:txBody>
      </p:sp>
      <p:sp>
        <p:nvSpPr>
          <p:cNvPr id="11" name="Rectangle 10"/>
          <p:cNvSpPr/>
          <p:nvPr/>
        </p:nvSpPr>
        <p:spPr>
          <a:xfrm>
            <a:off x="731520" y="2514600"/>
            <a:ext cx="2011680" cy="1249679"/>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代表作品</a:t>
            </a:r>
          </a:p>
        </p:txBody>
      </p:sp>
      <p:sp>
        <p:nvSpPr>
          <p:cNvPr id="12" name="Rounded Rectangle 11"/>
          <p:cNvSpPr/>
          <p:nvPr/>
        </p:nvSpPr>
        <p:spPr>
          <a:xfrm>
            <a:off x="2880360" y="251460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71800" y="2606040"/>
            <a:ext cx="1859203" cy="1066799"/>
          </a:xfrm>
          <a:prstGeom prst="rect">
            <a:avLst/>
          </a:prstGeom>
          <a:noFill/>
        </p:spPr>
        <p:txBody>
          <a:bodyPr wrap="square">
            <a:spAutoFit/>
          </a:bodyPr>
          <a:lstStyle/>
          <a:p>
            <a:pPr>
              <a:defRPr sz="1150">
                <a:solidFill>
                  <a:srgbClr val="1F2937"/>
                </a:solidFill>
              </a:defRPr>
            </a:pPr>
            <a:r>
              <a:t>《奔跑吧，爸爸》 (2005)</a:t>
            </a:r>
          </a:p>
        </p:txBody>
      </p:sp>
      <p:sp>
        <p:nvSpPr>
          <p:cNvPr id="14" name="Rounded Rectangle 13"/>
          <p:cNvSpPr/>
          <p:nvPr/>
        </p:nvSpPr>
        <p:spPr>
          <a:xfrm>
            <a:off x="5059603" y="251460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51043" y="2606040"/>
            <a:ext cx="1859203" cy="1066799"/>
          </a:xfrm>
          <a:prstGeom prst="rect">
            <a:avLst/>
          </a:prstGeom>
          <a:noFill/>
        </p:spPr>
        <p:txBody>
          <a:bodyPr wrap="square">
            <a:spAutoFit/>
          </a:bodyPr>
          <a:lstStyle/>
          <a:p>
            <a:pPr>
              <a:defRPr sz="1150">
                <a:solidFill>
                  <a:srgbClr val="1F2937"/>
                </a:solidFill>
              </a:defRPr>
            </a:pPr>
            <a:r>
              <a:t>《滔滔生活》 (2007)</a:t>
            </a:r>
          </a:p>
        </p:txBody>
      </p:sp>
      <p:sp>
        <p:nvSpPr>
          <p:cNvPr id="16" name="Rounded Rectangle 15"/>
          <p:cNvSpPr/>
          <p:nvPr/>
        </p:nvSpPr>
        <p:spPr>
          <a:xfrm>
            <a:off x="7238847" y="251460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30287" y="2606040"/>
            <a:ext cx="1859203" cy="1066799"/>
          </a:xfrm>
          <a:prstGeom prst="rect">
            <a:avLst/>
          </a:prstGeom>
          <a:noFill/>
        </p:spPr>
        <p:txBody>
          <a:bodyPr wrap="square">
            <a:spAutoFit/>
          </a:bodyPr>
          <a:lstStyle/>
          <a:p>
            <a:pPr>
              <a:defRPr sz="1150">
                <a:solidFill>
                  <a:srgbClr val="1F2937"/>
                </a:solidFill>
              </a:defRPr>
            </a:pPr>
            <a:r>
              <a:t>《你的夏天還好嗎？》 (2012)</a:t>
            </a:r>
          </a:p>
        </p:txBody>
      </p:sp>
      <p:sp>
        <p:nvSpPr>
          <p:cNvPr id="18" name="Rounded Rectangle 17"/>
          <p:cNvSpPr/>
          <p:nvPr/>
        </p:nvSpPr>
        <p:spPr>
          <a:xfrm>
            <a:off x="9418091" y="251460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531" y="2606040"/>
            <a:ext cx="1859203" cy="1066799"/>
          </a:xfrm>
          <a:prstGeom prst="rect">
            <a:avLst/>
          </a:prstGeom>
          <a:noFill/>
        </p:spPr>
        <p:txBody>
          <a:bodyPr wrap="square">
            <a:spAutoFit/>
          </a:bodyPr>
          <a:lstStyle/>
          <a:p>
            <a:pPr>
              <a:defRPr sz="1150">
                <a:solidFill>
                  <a:srgbClr val="1F2937"/>
                </a:solidFill>
              </a:defRPr>
            </a:pPr>
            <a:r>
              <a:t>《外面是夏天》 (2017)</a:t>
            </a:r>
          </a:p>
        </p:txBody>
      </p:sp>
      <p:sp>
        <p:nvSpPr>
          <p:cNvPr id="20" name="Rectangle 19"/>
          <p:cNvSpPr/>
          <p:nvPr/>
        </p:nvSpPr>
        <p:spPr>
          <a:xfrm>
            <a:off x="731520" y="3901440"/>
            <a:ext cx="2011680" cy="1249679"/>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核心議題</a:t>
            </a:r>
          </a:p>
        </p:txBody>
      </p:sp>
      <p:sp>
        <p:nvSpPr>
          <p:cNvPr id="21" name="Rounded Rectangle 20"/>
          <p:cNvSpPr/>
          <p:nvPr/>
        </p:nvSpPr>
        <p:spPr>
          <a:xfrm>
            <a:off x="2880360" y="390144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71800" y="3992879"/>
            <a:ext cx="1859203" cy="1066799"/>
          </a:xfrm>
          <a:prstGeom prst="rect">
            <a:avLst/>
          </a:prstGeom>
          <a:noFill/>
        </p:spPr>
        <p:txBody>
          <a:bodyPr wrap="square">
            <a:spAutoFit/>
          </a:bodyPr>
          <a:lstStyle/>
          <a:p>
            <a:pPr>
              <a:defRPr sz="1150">
                <a:solidFill>
                  <a:srgbClr val="1F2937"/>
                </a:solidFill>
              </a:defRPr>
            </a:pPr>
            <a:r>
              <a:t>缺席的父親與貧困少女成長</a:t>
            </a:r>
          </a:p>
        </p:txBody>
      </p:sp>
      <p:sp>
        <p:nvSpPr>
          <p:cNvPr id="23" name="Rounded Rectangle 22"/>
          <p:cNvSpPr/>
          <p:nvPr/>
        </p:nvSpPr>
        <p:spPr>
          <a:xfrm>
            <a:off x="5059603" y="390144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51043" y="3992879"/>
            <a:ext cx="1859203" cy="1066799"/>
          </a:xfrm>
          <a:prstGeom prst="rect">
            <a:avLst/>
          </a:prstGeom>
          <a:noFill/>
        </p:spPr>
        <p:txBody>
          <a:bodyPr wrap="square">
            <a:spAutoFit/>
          </a:bodyPr>
          <a:lstStyle/>
          <a:p>
            <a:pPr>
              <a:defRPr sz="1150">
                <a:solidFill>
                  <a:srgbClr val="1F2937"/>
                </a:solidFill>
              </a:defRPr>
            </a:pPr>
            <a:r>
              <a:t>半地下室與考試院蝸居青年</a:t>
            </a:r>
          </a:p>
        </p:txBody>
      </p:sp>
      <p:sp>
        <p:nvSpPr>
          <p:cNvPr id="25" name="Rounded Rectangle 24"/>
          <p:cNvSpPr/>
          <p:nvPr/>
        </p:nvSpPr>
        <p:spPr>
          <a:xfrm>
            <a:off x="7238847" y="390144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30287" y="3992879"/>
            <a:ext cx="1859203" cy="1066799"/>
          </a:xfrm>
          <a:prstGeom prst="rect">
            <a:avLst/>
          </a:prstGeom>
          <a:noFill/>
        </p:spPr>
        <p:txBody>
          <a:bodyPr wrap="square">
            <a:spAutoFit/>
          </a:bodyPr>
          <a:lstStyle/>
          <a:p>
            <a:pPr>
              <a:defRPr sz="1150">
                <a:solidFill>
                  <a:srgbClr val="1F2937"/>
                </a:solidFill>
              </a:defRPr>
            </a:pPr>
            <a:r>
              <a:t>暴雨孤島與「非幸運」日常困局</a:t>
            </a:r>
          </a:p>
        </p:txBody>
      </p:sp>
      <p:sp>
        <p:nvSpPr>
          <p:cNvPr id="27" name="Rounded Rectangle 26"/>
          <p:cNvSpPr/>
          <p:nvPr/>
        </p:nvSpPr>
        <p:spPr>
          <a:xfrm>
            <a:off x="9418091" y="3901440"/>
            <a:ext cx="2042083" cy="1249679"/>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09531" y="3992879"/>
            <a:ext cx="1859203" cy="1066799"/>
          </a:xfrm>
          <a:prstGeom prst="rect">
            <a:avLst/>
          </a:prstGeom>
          <a:noFill/>
        </p:spPr>
        <p:txBody>
          <a:bodyPr wrap="square">
            <a:spAutoFit/>
          </a:bodyPr>
          <a:lstStyle/>
          <a:p>
            <a:pPr>
              <a:defRPr sz="1150">
                <a:solidFill>
                  <a:srgbClr val="1F2937"/>
                </a:solidFill>
              </a:defRPr>
            </a:pPr>
            <a:r>
              <a:t>喪子之痛、社會災難與集體哀悼</a:t>
            </a:r>
          </a:p>
        </p:txBody>
      </p:sp>
      <p:sp>
        <p:nvSpPr>
          <p:cNvPr id="29" name="Rectangle 28"/>
          <p:cNvSpPr/>
          <p:nvPr/>
        </p:nvSpPr>
        <p:spPr>
          <a:xfrm>
            <a:off x="731520" y="5288280"/>
            <a:ext cx="2011680" cy="124967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美學突破</a:t>
            </a:r>
          </a:p>
        </p:txBody>
      </p:sp>
      <p:sp>
        <p:nvSpPr>
          <p:cNvPr id="30" name="Rounded Rectangle 29"/>
          <p:cNvSpPr/>
          <p:nvPr/>
        </p:nvSpPr>
        <p:spPr>
          <a:xfrm>
            <a:off x="2880360" y="5288280"/>
            <a:ext cx="2042083"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71800" y="5379720"/>
            <a:ext cx="1859203" cy="1066799"/>
          </a:xfrm>
          <a:prstGeom prst="rect">
            <a:avLst/>
          </a:prstGeom>
          <a:noFill/>
        </p:spPr>
        <p:txBody>
          <a:bodyPr wrap="square">
            <a:spAutoFit/>
          </a:bodyPr>
          <a:lstStyle/>
          <a:p>
            <a:pPr>
              <a:defRPr sz="1150">
                <a:solidFill>
                  <a:srgbClr val="1F2937"/>
                </a:solidFill>
              </a:defRPr>
            </a:pPr>
            <a:r>
              <a:t>輕盈俏皮的現代韓語節奏</a:t>
            </a:r>
          </a:p>
        </p:txBody>
      </p:sp>
      <p:sp>
        <p:nvSpPr>
          <p:cNvPr id="32" name="Rounded Rectangle 31"/>
          <p:cNvSpPr/>
          <p:nvPr/>
        </p:nvSpPr>
        <p:spPr>
          <a:xfrm>
            <a:off x="5059603" y="5288280"/>
            <a:ext cx="2042083"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51043" y="5379720"/>
            <a:ext cx="1859203" cy="1066799"/>
          </a:xfrm>
          <a:prstGeom prst="rect">
            <a:avLst/>
          </a:prstGeom>
          <a:noFill/>
        </p:spPr>
        <p:txBody>
          <a:bodyPr wrap="square">
            <a:spAutoFit/>
          </a:bodyPr>
          <a:lstStyle/>
          <a:p>
            <a:pPr>
              <a:defRPr sz="1150">
                <a:solidFill>
                  <a:srgbClr val="1F2937"/>
                </a:solidFill>
              </a:defRPr>
            </a:pPr>
            <a:r>
              <a:t>捕捉 88 萬圓世代生存焦慮</a:t>
            </a:r>
          </a:p>
        </p:txBody>
      </p:sp>
      <p:sp>
        <p:nvSpPr>
          <p:cNvPr id="34" name="Rounded Rectangle 33"/>
          <p:cNvSpPr/>
          <p:nvPr/>
        </p:nvSpPr>
        <p:spPr>
          <a:xfrm>
            <a:off x="7238847" y="5288280"/>
            <a:ext cx="2042083"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30287" y="5379720"/>
            <a:ext cx="1859203" cy="1066799"/>
          </a:xfrm>
          <a:prstGeom prst="rect">
            <a:avLst/>
          </a:prstGeom>
          <a:noFill/>
        </p:spPr>
        <p:txBody>
          <a:bodyPr wrap="square">
            <a:spAutoFit/>
          </a:bodyPr>
          <a:lstStyle/>
          <a:p>
            <a:pPr>
              <a:defRPr sz="1150">
                <a:solidFill>
                  <a:srgbClr val="1F2937"/>
                </a:solidFill>
              </a:defRPr>
            </a:pPr>
            <a:r>
              <a:t>雙關隱喻奠定最年輕李箱獎地位</a:t>
            </a:r>
          </a:p>
        </p:txBody>
      </p:sp>
      <p:sp>
        <p:nvSpPr>
          <p:cNvPr id="36" name="Rounded Rectangle 35"/>
          <p:cNvSpPr/>
          <p:nvPr/>
        </p:nvSpPr>
        <p:spPr>
          <a:xfrm>
            <a:off x="9418091" y="5288280"/>
            <a:ext cx="2042083" cy="1249679"/>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509531" y="5379720"/>
            <a:ext cx="1859203" cy="1066799"/>
          </a:xfrm>
          <a:prstGeom prst="rect">
            <a:avLst/>
          </a:prstGeom>
          <a:noFill/>
        </p:spPr>
        <p:txBody>
          <a:bodyPr wrap="square">
            <a:spAutoFit/>
          </a:bodyPr>
          <a:lstStyle/>
          <a:p>
            <a:pPr>
              <a:defRPr sz="1150">
                <a:solidFill>
                  <a:srgbClr val="1F2937"/>
                </a:solidFill>
              </a:defRPr>
            </a:pPr>
            <a:r>
              <a:t>溫柔凝視深淵後的撫慰與救贖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D97706"/>
                </a:solidFill>
              </a:defRPr>
            </a:pPr>
            <a:r>
              <a:t>核心發現 5：兩代韓國文學範式對立  ｜  版型 6：對立論法 (Opposition)  ｜  McKinsey &amp; Company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6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51C2C"/>
                </a:solidFill>
              </a:defRPr>
            </a:pPr>
            <a:r>
              <a:t>① 主張：上一代「民主化政治宏大敘事」vs. 新世代「資本主義微觀生存困局」之時代範式轉移</a:t>
            </a:r>
          </a:p>
          <a:p>
            <a:pPr>
              <a:defRPr sz="1200">
                <a:solidFill>
                  <a:srgbClr val="64748B"/>
                </a:solidFill>
              </a:defRPr>
            </a:pPr>
            <a:r>
              <a:t>文學戰場從廣場街頭轉移至捷運與考試院，從對抗威權體制轉向抵禦資本異化</a:t>
            </a:r>
          </a:p>
        </p:txBody>
      </p:sp>
      <p:sp>
        <p:nvSpPr>
          <p:cNvPr id="5" name="Rectangle 4"/>
          <p:cNvSpPr/>
          <p:nvPr/>
        </p:nvSpPr>
        <p:spPr>
          <a:xfrm>
            <a:off x="731520" y="15727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韓國戰後文學至 88 萬圓世代文學轉型比較研究</a:t>
            </a:r>
          </a:p>
        </p:txBody>
      </p:sp>
      <p:sp>
        <p:nvSpPr>
          <p:cNvPr id="7" name="Rectangle 6"/>
          <p:cNvSpPr/>
          <p:nvPr/>
        </p:nvSpPr>
        <p:spPr>
          <a:xfrm>
            <a:off x="2880360" y="1783080"/>
            <a:ext cx="4206240" cy="4572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上一代韓國文學：歷史與政治宏大敘事</a:t>
            </a:r>
          </a:p>
        </p:txBody>
      </p:sp>
      <p:sp>
        <p:nvSpPr>
          <p:cNvPr id="8" name="Rectangle 7"/>
          <p:cNvSpPr/>
          <p:nvPr/>
        </p:nvSpPr>
        <p:spPr>
          <a:xfrm>
            <a:off x="7223760" y="1783080"/>
            <a:ext cx="4206240" cy="457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金愛爛新世代：微觀日常與資本主義困境</a:t>
            </a:r>
          </a:p>
        </p:txBody>
      </p:sp>
      <p:sp>
        <p:nvSpPr>
          <p:cNvPr id="9" name="Rounded Rectangle 8"/>
          <p:cNvSpPr/>
          <p:nvPr/>
        </p:nvSpPr>
        <p:spPr>
          <a:xfrm>
            <a:off x="731520" y="237744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戰鬥場域</a:t>
            </a:r>
          </a:p>
        </p:txBody>
      </p:sp>
      <p:sp>
        <p:nvSpPr>
          <p:cNvPr id="10" name="Rounded Rectangle 9"/>
          <p:cNvSpPr/>
          <p:nvPr/>
        </p:nvSpPr>
        <p:spPr>
          <a:xfrm>
            <a:off x="2880360" y="237744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1800" y="2423160"/>
            <a:ext cx="4023359" cy="777240"/>
          </a:xfrm>
          <a:prstGeom prst="rect">
            <a:avLst/>
          </a:prstGeom>
          <a:noFill/>
        </p:spPr>
        <p:txBody>
          <a:bodyPr wrap="square">
            <a:spAutoFit/>
          </a:bodyPr>
          <a:lstStyle/>
          <a:p>
            <a:pPr>
              <a:defRPr sz="1100">
                <a:solidFill>
                  <a:srgbClr val="1F2937"/>
                </a:solidFill>
              </a:defRPr>
            </a:pPr>
            <a:r>
              <a:t>光州事件、街頭學運抗爭、南北韓分裂冷戰對峙</a:t>
            </a:r>
          </a:p>
        </p:txBody>
      </p:sp>
      <p:sp>
        <p:nvSpPr>
          <p:cNvPr id="12" name="Rounded Rectangle 11"/>
          <p:cNvSpPr/>
          <p:nvPr/>
        </p:nvSpPr>
        <p:spPr>
          <a:xfrm>
            <a:off x="7223760" y="237744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2423160"/>
            <a:ext cx="4023359" cy="777240"/>
          </a:xfrm>
          <a:prstGeom prst="rect">
            <a:avLst/>
          </a:prstGeom>
          <a:noFill/>
        </p:spPr>
        <p:txBody>
          <a:bodyPr wrap="square">
            <a:spAutoFit/>
          </a:bodyPr>
          <a:lstStyle/>
          <a:p>
            <a:pPr>
              <a:defRPr sz="1100">
                <a:solidFill>
                  <a:srgbClr val="1F2937"/>
                </a:solidFill>
              </a:defRPr>
            </a:pPr>
            <a:r>
              <a:t>鷺梁津考公補習街、半地下出租房、直銷公司與期權</a:t>
            </a:r>
          </a:p>
        </p:txBody>
      </p:sp>
      <p:sp>
        <p:nvSpPr>
          <p:cNvPr id="14" name="Rounded Rectangle 13"/>
          <p:cNvSpPr/>
          <p:nvPr/>
        </p:nvSpPr>
        <p:spPr>
          <a:xfrm>
            <a:off x="731520" y="333756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敵人面貌</a:t>
            </a:r>
          </a:p>
        </p:txBody>
      </p:sp>
      <p:sp>
        <p:nvSpPr>
          <p:cNvPr id="15" name="Rounded Rectangle 14"/>
          <p:cNvSpPr/>
          <p:nvPr/>
        </p:nvSpPr>
        <p:spPr>
          <a:xfrm>
            <a:off x="2880360" y="333756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3383280"/>
            <a:ext cx="4023359" cy="777240"/>
          </a:xfrm>
          <a:prstGeom prst="rect">
            <a:avLst/>
          </a:prstGeom>
          <a:noFill/>
        </p:spPr>
        <p:txBody>
          <a:bodyPr wrap="square">
            <a:spAutoFit/>
          </a:bodyPr>
          <a:lstStyle/>
          <a:p>
            <a:pPr>
              <a:defRPr sz="1100">
                <a:solidFill>
                  <a:srgbClr val="1F2937"/>
                </a:solidFill>
              </a:defRPr>
            </a:pPr>
            <a:r>
              <a:t>明確的軍事獨裁政權、政治強權與外部帝國主義</a:t>
            </a:r>
          </a:p>
        </p:txBody>
      </p:sp>
      <p:sp>
        <p:nvSpPr>
          <p:cNvPr id="17" name="Rounded Rectangle 16"/>
          <p:cNvSpPr/>
          <p:nvPr/>
        </p:nvSpPr>
        <p:spPr>
          <a:xfrm>
            <a:off x="7223760" y="333756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3383280"/>
            <a:ext cx="4023359" cy="777240"/>
          </a:xfrm>
          <a:prstGeom prst="rect">
            <a:avLst/>
          </a:prstGeom>
          <a:noFill/>
        </p:spPr>
        <p:txBody>
          <a:bodyPr wrap="square">
            <a:spAutoFit/>
          </a:bodyPr>
          <a:lstStyle/>
          <a:p>
            <a:pPr>
              <a:defRPr sz="1100">
                <a:solidFill>
                  <a:srgbClr val="1F2937"/>
                </a:solidFill>
              </a:defRPr>
            </a:pPr>
            <a:r>
              <a:t>無處不在的房租物價、階級複製與冷酷的資本主義法則</a:t>
            </a:r>
          </a:p>
        </p:txBody>
      </p:sp>
      <p:sp>
        <p:nvSpPr>
          <p:cNvPr id="19" name="Rounded Rectangle 18"/>
          <p:cNvSpPr/>
          <p:nvPr/>
        </p:nvSpPr>
        <p:spPr>
          <a:xfrm>
            <a:off x="731520" y="429768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角色處境</a:t>
            </a:r>
          </a:p>
        </p:txBody>
      </p:sp>
      <p:sp>
        <p:nvSpPr>
          <p:cNvPr id="20" name="Rounded Rectangle 19"/>
          <p:cNvSpPr/>
          <p:nvPr/>
        </p:nvSpPr>
        <p:spPr>
          <a:xfrm>
            <a:off x="2880360" y="429768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4343400"/>
            <a:ext cx="4023359" cy="777240"/>
          </a:xfrm>
          <a:prstGeom prst="rect">
            <a:avLst/>
          </a:prstGeom>
          <a:noFill/>
        </p:spPr>
        <p:txBody>
          <a:bodyPr wrap="square">
            <a:spAutoFit/>
          </a:bodyPr>
          <a:lstStyle/>
          <a:p>
            <a:pPr>
              <a:defRPr sz="1100">
                <a:solidFill>
                  <a:srgbClr val="1F2937"/>
                </a:solidFill>
              </a:defRPr>
            </a:pPr>
            <a:r>
              <a:t>英雄主義抗爭者、壯烈殉道者或歷史受難群體</a:t>
            </a:r>
          </a:p>
        </p:txBody>
      </p:sp>
      <p:sp>
        <p:nvSpPr>
          <p:cNvPr id="22" name="Rounded Rectangle 21"/>
          <p:cNvSpPr/>
          <p:nvPr/>
        </p:nvSpPr>
        <p:spPr>
          <a:xfrm>
            <a:off x="7223760" y="429768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0" y="4343400"/>
            <a:ext cx="4023359" cy="777240"/>
          </a:xfrm>
          <a:prstGeom prst="rect">
            <a:avLst/>
          </a:prstGeom>
          <a:noFill/>
        </p:spPr>
        <p:txBody>
          <a:bodyPr wrap="square">
            <a:spAutoFit/>
          </a:bodyPr>
          <a:lstStyle/>
          <a:p>
            <a:pPr>
              <a:defRPr sz="1100">
                <a:solidFill>
                  <a:srgbClr val="1F2937"/>
                </a:solidFill>
              </a:defRPr>
            </a:pPr>
            <a:r>
              <a:t>坐捷運戴耳機的普通青年、無後援的「非幸運」漂流者</a:t>
            </a:r>
          </a:p>
        </p:txBody>
      </p:sp>
      <p:sp>
        <p:nvSpPr>
          <p:cNvPr id="24" name="Rounded Rectangle 23"/>
          <p:cNvSpPr/>
          <p:nvPr/>
        </p:nvSpPr>
        <p:spPr>
          <a:xfrm>
            <a:off x="731520" y="5257800"/>
            <a:ext cx="2011680" cy="8686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51C2C"/>
                </a:solidFill>
              </a:defRPr>
            </a:pPr>
            <a:r>
              <a:t>情感基調</a:t>
            </a:r>
          </a:p>
        </p:txBody>
      </p:sp>
      <p:sp>
        <p:nvSpPr>
          <p:cNvPr id="25" name="Rounded Rectangle 24"/>
          <p:cNvSpPr/>
          <p:nvPr/>
        </p:nvSpPr>
        <p:spPr>
          <a:xfrm>
            <a:off x="2880360" y="525780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5303520"/>
            <a:ext cx="4023359" cy="777240"/>
          </a:xfrm>
          <a:prstGeom prst="rect">
            <a:avLst/>
          </a:prstGeom>
          <a:noFill/>
        </p:spPr>
        <p:txBody>
          <a:bodyPr wrap="square">
            <a:spAutoFit/>
          </a:bodyPr>
          <a:lstStyle/>
          <a:p>
            <a:pPr>
              <a:defRPr sz="1100">
                <a:solidFill>
                  <a:srgbClr val="1F2937"/>
                </a:solidFill>
              </a:defRPr>
            </a:pPr>
            <a:r>
              <a:t>崇高、激昂、悲壯抵抗與深沉的民族歷史哀痛</a:t>
            </a:r>
          </a:p>
        </p:txBody>
      </p:sp>
      <p:sp>
        <p:nvSpPr>
          <p:cNvPr id="27" name="Rounded Rectangle 26"/>
          <p:cNvSpPr/>
          <p:nvPr/>
        </p:nvSpPr>
        <p:spPr>
          <a:xfrm>
            <a:off x="7223760" y="5257800"/>
            <a:ext cx="4206240" cy="868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5303520"/>
            <a:ext cx="4023359" cy="777240"/>
          </a:xfrm>
          <a:prstGeom prst="rect">
            <a:avLst/>
          </a:prstGeom>
          <a:noFill/>
        </p:spPr>
        <p:txBody>
          <a:bodyPr wrap="square">
            <a:spAutoFit/>
          </a:bodyPr>
          <a:lstStyle/>
          <a:p>
            <a:pPr>
              <a:defRPr sz="1100">
                <a:solidFill>
                  <a:srgbClr val="1F2937"/>
                </a:solidFill>
              </a:defRPr>
            </a:pPr>
            <a:r>
              <a:t>無奈、刺痛、冷面幽默、自嘲自解與切膚的生活體感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核心發現 6：莊培園評論：雙關悲劇與東亞共鳴  ｜  版型 2：並列論法 (Parallel)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7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主張：莊培園評論解析：「飛行雲」與「非幸運」的諧音雙關，精準揭示當代東亞青年的集體焦慮</a:t>
            </a:r>
          </a:p>
          <a:p>
            <a:pPr>
              <a:defRPr sz="1200">
                <a:solidFill>
                  <a:srgbClr val="6B7280"/>
                </a:solidFill>
              </a:defRPr>
            </a:pPr>
            <a:r>
              <a:t>打破浪漫濾鏡，以文學視角跨越國界，撫慰台灣與韓國青年共通的心靈痛點</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莊培園（大田出版總編輯）《你的夏天還好嗎？》引介導讀</a:t>
            </a:r>
          </a:p>
        </p:txBody>
      </p:sp>
      <p:sp>
        <p:nvSpPr>
          <p:cNvPr id="7" name="Rounded Rectangle 6"/>
          <p:cNvSpPr/>
          <p:nvPr/>
        </p:nvSpPr>
        <p:spPr>
          <a:xfrm>
            <a:off x="731520" y="1828800"/>
            <a:ext cx="3423818" cy="438912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423818" cy="457200"/>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觀察 1：飛行雲與非幸運之諧音雙關</a:t>
            </a:r>
          </a:p>
        </p:txBody>
      </p:sp>
      <p:sp>
        <p:nvSpPr>
          <p:cNvPr id="9" name="TextBox 8"/>
          <p:cNvSpPr txBox="1"/>
          <p:nvPr/>
        </p:nvSpPr>
        <p:spPr>
          <a:xfrm>
            <a:off x="868680" y="2423160"/>
            <a:ext cx="3149498" cy="3657600"/>
          </a:xfrm>
          <a:prstGeom prst="rect">
            <a:avLst/>
          </a:prstGeom>
          <a:noFill/>
        </p:spPr>
        <p:txBody>
          <a:bodyPr wrap="square">
            <a:spAutoFit/>
          </a:bodyPr>
          <a:lstStyle/>
          <a:p>
            <a:pPr>
              <a:spcAft>
                <a:spcPts val="600"/>
              </a:spcAft>
              <a:defRPr sz="1200">
                <a:solidFill>
                  <a:srgbClr val="1F2937"/>
                </a:solidFill>
              </a:defRPr>
            </a:pPr>
            <a:r>
              <a:t>1. 韓文「飛行雲」與「非幸運」發音高度相似</a:t>
            </a:r>
          </a:p>
          <a:p>
            <a:pPr>
              <a:spcAft>
                <a:spcPts val="600"/>
              </a:spcAft>
              <a:defRPr sz="1200">
                <a:solidFill>
                  <a:srgbClr val="1F2937"/>
                </a:solidFill>
              </a:defRPr>
            </a:pPr>
            <a:r>
              <a:t>2. 象徵故事主角皆非天之驕子，而是無後援的普通人</a:t>
            </a:r>
          </a:p>
          <a:p>
            <a:pPr>
              <a:spcAft>
                <a:spcPts val="600"/>
              </a:spcAft>
              <a:defRPr sz="1200">
                <a:solidFill>
                  <a:srgbClr val="1F2937"/>
                </a:solidFill>
              </a:defRPr>
            </a:pPr>
            <a:r>
              <a:t>3. 天空畫過的飛機雲轉瞬即逝，映射人生的短暫與無常</a:t>
            </a:r>
          </a:p>
        </p:txBody>
      </p:sp>
      <p:sp>
        <p:nvSpPr>
          <p:cNvPr id="10" name="Rounded Rectangle 9"/>
          <p:cNvSpPr/>
          <p:nvPr/>
        </p:nvSpPr>
        <p:spPr>
          <a:xfrm>
            <a:off x="4383938" y="1828800"/>
            <a:ext cx="3423818" cy="438912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828800"/>
            <a:ext cx="3423818" cy="457200"/>
          </a:xfrm>
          <a:prstGeom prst="rect">
            <a:avLst/>
          </a:prstGeom>
          <a:solidFill>
            <a:srgbClr val="004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觀察 2：濾鏡粉碎與日常荒謬性</a:t>
            </a:r>
          </a:p>
        </p:txBody>
      </p:sp>
      <p:sp>
        <p:nvSpPr>
          <p:cNvPr id="12" name="TextBox 11"/>
          <p:cNvSpPr txBox="1"/>
          <p:nvPr/>
        </p:nvSpPr>
        <p:spPr>
          <a:xfrm>
            <a:off x="4521098" y="2423160"/>
            <a:ext cx="3149498" cy="3657600"/>
          </a:xfrm>
          <a:prstGeom prst="rect">
            <a:avLst/>
          </a:prstGeom>
          <a:noFill/>
        </p:spPr>
        <p:txBody>
          <a:bodyPr wrap="square">
            <a:spAutoFit/>
          </a:bodyPr>
          <a:lstStyle/>
          <a:p>
            <a:pPr>
              <a:spcAft>
                <a:spcPts val="600"/>
              </a:spcAft>
              <a:defRPr sz="1200">
                <a:solidFill>
                  <a:srgbClr val="1F2937"/>
                </a:solidFill>
              </a:defRPr>
            </a:pPr>
            <a:r>
              <a:t>1. 年輕時看世界常戴上美化濾鏡，最終必然走向幻滅</a:t>
            </a:r>
          </a:p>
          <a:p>
            <a:pPr>
              <a:spcAft>
                <a:spcPts val="600"/>
              </a:spcAft>
              <a:defRPr sz="1200">
                <a:solidFill>
                  <a:srgbClr val="1F2937"/>
                </a:solidFill>
              </a:defRPr>
            </a:pPr>
            <a:r>
              <a:t>2. 揭露日常生活在光鮮表面下的荒謬、尷尬與殘酷</a:t>
            </a:r>
          </a:p>
          <a:p>
            <a:pPr>
              <a:spcAft>
                <a:spcPts val="600"/>
              </a:spcAft>
              <a:defRPr sz="1200">
                <a:solidFill>
                  <a:srgbClr val="1F2937"/>
                </a:solidFill>
              </a:defRPr>
            </a:pPr>
            <a:r>
              <a:t>3. 以刺痛的閱讀體驗逼使讀者擺脫自欺，正視現實真相</a:t>
            </a:r>
          </a:p>
        </p:txBody>
      </p:sp>
      <p:sp>
        <p:nvSpPr>
          <p:cNvPr id="13" name="Rounded Rectangle 12"/>
          <p:cNvSpPr/>
          <p:nvPr/>
        </p:nvSpPr>
        <p:spPr>
          <a:xfrm>
            <a:off x="8036356" y="1828800"/>
            <a:ext cx="3423818" cy="4389120"/>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6356" y="1828800"/>
            <a:ext cx="3423818" cy="457200"/>
          </a:xfrm>
          <a:prstGeom prst="rect">
            <a:avLst/>
          </a:prstGeom>
          <a:solidFill>
            <a:srgbClr val="17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觀察 3：東亞跨國共通的青年無力感</a:t>
            </a:r>
          </a:p>
        </p:txBody>
      </p:sp>
      <p:sp>
        <p:nvSpPr>
          <p:cNvPr id="15" name="TextBox 14"/>
          <p:cNvSpPr txBox="1"/>
          <p:nvPr/>
        </p:nvSpPr>
        <p:spPr>
          <a:xfrm>
            <a:off x="8173516" y="2423160"/>
            <a:ext cx="3149498" cy="3657600"/>
          </a:xfrm>
          <a:prstGeom prst="rect">
            <a:avLst/>
          </a:prstGeom>
          <a:noFill/>
        </p:spPr>
        <p:txBody>
          <a:bodyPr wrap="square">
            <a:spAutoFit/>
          </a:bodyPr>
          <a:lstStyle/>
          <a:p>
            <a:pPr>
              <a:spcAft>
                <a:spcPts val="600"/>
              </a:spcAft>
              <a:defRPr sz="1200">
                <a:solidFill>
                  <a:srgbClr val="1F2937"/>
                </a:solidFill>
              </a:defRPr>
            </a:pPr>
            <a:r>
              <a:t>1. 韓國的 N 拋世代困局與台灣青年低薪高房價高度共振</a:t>
            </a:r>
          </a:p>
          <a:p>
            <a:pPr>
              <a:spcAft>
                <a:spcPts val="600"/>
              </a:spcAft>
              <a:defRPr sz="1200">
                <a:solidFill>
                  <a:srgbClr val="1F2937"/>
                </a:solidFill>
              </a:defRPr>
            </a:pPr>
            <a:r>
              <a:t>2. 即使社會文化有別，普通人在資本巨輪下的孤立完全相同</a:t>
            </a:r>
          </a:p>
          <a:p>
            <a:pPr>
              <a:spcAft>
                <a:spcPts val="600"/>
              </a:spcAft>
              <a:defRPr sz="1200">
                <a:solidFill>
                  <a:srgbClr val="1F2937"/>
                </a:solidFill>
              </a:defRPr>
            </a:pPr>
            <a:r>
              <a:t>3. 文學作品成為東亞年輕人彼此確認、相認的情感橋樑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29BA74"/>
                </a:solidFill>
              </a:defRPr>
            </a:pPr>
            <a:r>
              <a:t>策略定位矩陣  ｜  版型 8：BCG 2x2 矩陣 (BCG Matrix)  ｜  BCG (Boston Consulting Group)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B7280"/>
                </a:solidFill>
              </a:defRPr>
            </a:pPr>
            <a:r>
              <a:t>8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04F32"/>
                </a:solidFill>
              </a:defRPr>
            </a:pPr>
            <a:r>
              <a:t>① 主張：金愛爛在「微觀日常切膚感」與「資本主義結構批判」雙維度佔據東亞文壇最領先象限</a:t>
            </a:r>
          </a:p>
          <a:p>
            <a:pPr>
              <a:defRPr sz="1200">
                <a:solidFill>
                  <a:srgbClr val="6B7280"/>
                </a:solidFill>
              </a:defRPr>
            </a:pPr>
            <a:r>
              <a:t>成功跨越抽象政治宣教與通俗感傷的二元對立，樹立不可撼動的當代文學典範</a:t>
            </a:r>
          </a:p>
        </p:txBody>
      </p:sp>
      <p:sp>
        <p:nvSpPr>
          <p:cNvPr id="5" name="Rectangle 4"/>
          <p:cNvSpPr/>
          <p:nvPr/>
        </p:nvSpPr>
        <p:spPr>
          <a:xfrm>
            <a:off x="731520" y="1572768"/>
            <a:ext cx="10728655" cy="228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B7280"/>
                </a:solidFill>
              </a:defRPr>
            </a:pPr>
            <a:r>
              <a:t>Source: BCG 矩陣模型分析東亞當代寫實文學競爭版圖</a:t>
            </a:r>
          </a:p>
        </p:txBody>
      </p:sp>
      <p:sp>
        <p:nvSpPr>
          <p:cNvPr id="7" name="Rectangle 6"/>
          <p:cNvSpPr/>
          <p:nvPr/>
        </p:nvSpPr>
        <p:spPr>
          <a:xfrm>
            <a:off x="731520" y="1783080"/>
            <a:ext cx="1097280" cy="3931920"/>
          </a:xfrm>
          <a:prstGeom prst="rect">
            <a:avLst/>
          </a:prstGeom>
          <a:solidFill>
            <a:srgbClr val="004F32"/>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a:t>
            </a:r>
            <a:br/>
            <a:r>
              <a:t>社</a:t>
            </a:r>
            <a:br/>
            <a:r>
              <a:t>會</a:t>
            </a:r>
            <a:br/>
            <a:r>
              <a:t>結</a:t>
            </a:r>
            <a:br/>
            <a:r>
              <a:t>構</a:t>
            </a:r>
            <a:br/>
            <a:r>
              <a:t>深</a:t>
            </a:r>
            <a:br/>
            <a:r>
              <a:t>度</a:t>
            </a:r>
            <a:br/>
            <a:r>
              <a:t>│</a:t>
            </a:r>
            <a:br/>
            <a:r>
              <a:t>Y</a:t>
            </a:r>
            <a:br/>
            <a:r>
              <a:t>軸</a:t>
            </a:r>
            <a:br/>
            <a:r>
              <a:t>│</a:t>
            </a:r>
            <a:br/>
            <a:r>
              <a:t>個</a:t>
            </a:r>
            <a:br/>
            <a:r>
              <a:t>人</a:t>
            </a:r>
            <a:br/>
            <a:r>
              <a:t>情</a:t>
            </a:r>
            <a:br/>
            <a:r>
              <a:t>緒</a:t>
            </a:r>
            <a:br/>
            <a:r>
              <a:t>抒</a:t>
            </a:r>
            <a:br/>
            <a:r>
              <a:t>發</a:t>
            </a:r>
            <a:br/>
            <a:r>
              <a:t>▼</a:t>
            </a:r>
          </a:p>
        </p:txBody>
      </p:sp>
      <p:sp>
        <p:nvSpPr>
          <p:cNvPr id="8" name="Rectangle 7"/>
          <p:cNvSpPr/>
          <p:nvPr/>
        </p:nvSpPr>
        <p:spPr>
          <a:xfrm>
            <a:off x="1965960" y="5806440"/>
            <a:ext cx="6583680" cy="384048"/>
          </a:xfrm>
          <a:prstGeom prst="rect">
            <a:avLst/>
          </a:prstGeom>
          <a:solidFill>
            <a:srgbClr val="004F32"/>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defRPr>
            </a:pPr>
            <a:r>
              <a:t>◄ 抽象觀念說理               X 軸：文學敘事質地               微觀生活日常切膚感 ►</a:t>
            </a:r>
          </a:p>
        </p:txBody>
      </p:sp>
      <p:sp>
        <p:nvSpPr>
          <p:cNvPr id="9" name="Rounded Rectangle 8"/>
          <p:cNvSpPr/>
          <p:nvPr/>
        </p:nvSpPr>
        <p:spPr>
          <a:xfrm>
            <a:off x="1965960" y="1783080"/>
            <a:ext cx="3246120" cy="1874519"/>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03120" y="1874519"/>
            <a:ext cx="2971800" cy="1691639"/>
          </a:xfrm>
          <a:prstGeom prst="rect">
            <a:avLst/>
          </a:prstGeom>
          <a:noFill/>
        </p:spPr>
        <p:txBody>
          <a:bodyPr wrap="square">
            <a:spAutoFit/>
          </a:bodyPr>
          <a:lstStyle/>
          <a:p>
            <a:pPr>
              <a:spcAft>
                <a:spcPts val="400"/>
              </a:spcAft>
              <a:defRPr sz="1300" b="1">
                <a:solidFill>
                  <a:srgbClr val="177B57"/>
                </a:solidFill>
              </a:defRPr>
            </a:pPr>
            <a:r>
              <a:t>象限 1：硬派社會批判小說 (左上)</a:t>
            </a:r>
          </a:p>
          <a:p>
            <a:pPr>
              <a:defRPr sz="1100">
                <a:solidFill>
                  <a:srgbClr val="1F2937"/>
                </a:solidFill>
              </a:defRPr>
            </a:pPr>
            <a:r>
              <a:t>具備強烈批判意識，但人物常淪為觀念符號，缺少生活呼吸感</a:t>
            </a:r>
          </a:p>
        </p:txBody>
      </p:sp>
      <p:sp>
        <p:nvSpPr>
          <p:cNvPr id="11" name="Rounded Rectangle 10"/>
          <p:cNvSpPr/>
          <p:nvPr/>
        </p:nvSpPr>
        <p:spPr>
          <a:xfrm>
            <a:off x="5303520" y="1783080"/>
            <a:ext cx="3246120" cy="1874519"/>
          </a:xfrm>
          <a:prstGeom prst="roundRect">
            <a:avLst/>
          </a:prstGeom>
          <a:solidFill>
            <a:srgbClr val="DCFCE7"/>
          </a:solidFill>
          <a:ln w="25400">
            <a:solidFill>
              <a:srgbClr val="29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40680" y="1874519"/>
            <a:ext cx="2971800" cy="1691639"/>
          </a:xfrm>
          <a:prstGeom prst="rect">
            <a:avLst/>
          </a:prstGeom>
          <a:noFill/>
        </p:spPr>
        <p:txBody>
          <a:bodyPr wrap="square">
            <a:spAutoFit/>
          </a:bodyPr>
          <a:lstStyle/>
          <a:p>
            <a:pPr>
              <a:spcAft>
                <a:spcPts val="400"/>
              </a:spcAft>
              <a:defRPr sz="1300" b="1">
                <a:solidFill>
                  <a:srgbClr val="004F32"/>
                </a:solidFill>
              </a:defRPr>
            </a:pPr>
            <a:r>
              <a:t>象限 2：金愛爛寫實象限 (右上 - 目標焦點)</a:t>
            </a:r>
          </a:p>
          <a:p>
            <a:pPr>
              <a:defRPr sz="1100">
                <a:solidFill>
                  <a:srgbClr val="1F2937"/>
                </a:solidFill>
              </a:defRPr>
            </a:pPr>
            <a:r>
              <a:t>《你的夏天還好嗎？》戰略落點：微觀日常切膚 × 資本結構批判 × 普世共鳴</a:t>
            </a:r>
          </a:p>
        </p:txBody>
      </p:sp>
      <p:sp>
        <p:nvSpPr>
          <p:cNvPr id="13" name="Rounded Rectangle 12"/>
          <p:cNvSpPr/>
          <p:nvPr/>
        </p:nvSpPr>
        <p:spPr>
          <a:xfrm>
            <a:off x="1965960" y="3794760"/>
            <a:ext cx="3246120" cy="1874519"/>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3886200"/>
            <a:ext cx="2971800" cy="1691639"/>
          </a:xfrm>
          <a:prstGeom prst="rect">
            <a:avLst/>
          </a:prstGeom>
          <a:noFill/>
        </p:spPr>
        <p:txBody>
          <a:bodyPr wrap="square">
            <a:spAutoFit/>
          </a:bodyPr>
          <a:lstStyle/>
          <a:p>
            <a:pPr>
              <a:spcAft>
                <a:spcPts val="400"/>
              </a:spcAft>
              <a:defRPr sz="1300" b="1">
                <a:solidFill>
                  <a:srgbClr val="177B57"/>
                </a:solidFill>
              </a:defRPr>
            </a:pPr>
            <a:r>
              <a:t>象限 3：純私人療癒小品 (左下)</a:t>
            </a:r>
          </a:p>
          <a:p>
            <a:pPr>
              <a:defRPr sz="1100">
                <a:solidFill>
                  <a:srgbClr val="1F2937"/>
                </a:solidFill>
              </a:defRPr>
            </a:pPr>
            <a:r>
              <a:t>側重個人微小情緒抒發，逃避社會現實矛盾，缺少批判力量</a:t>
            </a:r>
          </a:p>
        </p:txBody>
      </p:sp>
      <p:sp>
        <p:nvSpPr>
          <p:cNvPr id="15" name="Rounded Rectangle 14"/>
          <p:cNvSpPr/>
          <p:nvPr/>
        </p:nvSpPr>
        <p:spPr>
          <a:xfrm>
            <a:off x="5303520" y="3794760"/>
            <a:ext cx="3246120" cy="1874519"/>
          </a:xfrm>
          <a:prstGeom prst="roundRect">
            <a:avLst/>
          </a:prstGeom>
          <a:solidFill>
            <a:srgbClr val="F3F4F6"/>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80" y="3886200"/>
            <a:ext cx="2971800" cy="1691639"/>
          </a:xfrm>
          <a:prstGeom prst="rect">
            <a:avLst/>
          </a:prstGeom>
          <a:noFill/>
        </p:spPr>
        <p:txBody>
          <a:bodyPr wrap="square">
            <a:spAutoFit/>
          </a:bodyPr>
          <a:lstStyle/>
          <a:p>
            <a:pPr>
              <a:spcAft>
                <a:spcPts val="400"/>
              </a:spcAft>
              <a:defRPr sz="1300" b="1">
                <a:solidFill>
                  <a:srgbClr val="177B57"/>
                </a:solidFill>
              </a:defRPr>
            </a:pPr>
            <a:r>
              <a:t>象限 4：通俗肥皂日常 (右下)</a:t>
            </a:r>
          </a:p>
          <a:p>
            <a:pPr>
              <a:defRPr sz="1100">
                <a:solidFill>
                  <a:srgbClr val="1F2937"/>
                </a:solidFill>
              </a:defRPr>
            </a:pPr>
            <a:r>
              <a:t>生活細節豐富生動，但止步於家長裡短或情愛糾葛，無深層思想價值</a:t>
            </a:r>
          </a:p>
        </p:txBody>
      </p:sp>
      <p:sp>
        <p:nvSpPr>
          <p:cNvPr id="17" name="Rounded Rectangle 16"/>
          <p:cNvSpPr/>
          <p:nvPr/>
        </p:nvSpPr>
        <p:spPr>
          <a:xfrm>
            <a:off x="8778240" y="1783080"/>
            <a:ext cx="2651760" cy="4389120"/>
          </a:xfrm>
          <a:prstGeom prst="roundRect">
            <a:avLst/>
          </a:prstGeom>
          <a:solidFill>
            <a:srgbClr val="F3F4F6"/>
          </a:solidFill>
          <a:ln w="19050">
            <a:solidFill>
              <a:srgbClr val="177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15400" y="1920240"/>
            <a:ext cx="2377440" cy="4114800"/>
          </a:xfrm>
          <a:prstGeom prst="rect">
            <a:avLst/>
          </a:prstGeom>
          <a:noFill/>
        </p:spPr>
        <p:txBody>
          <a:bodyPr wrap="square">
            <a:spAutoFit/>
          </a:bodyPr>
          <a:lstStyle/>
          <a:p>
            <a:pPr>
              <a:spcAft>
                <a:spcPts val="800"/>
              </a:spcAft>
              <a:defRPr sz="1400" b="1">
                <a:solidFill>
                  <a:srgbClr val="177B57"/>
                </a:solidFill>
              </a:defRPr>
            </a:pPr>
            <a:r>
              <a:t>🎯 BCG 策略啟示</a:t>
            </a:r>
          </a:p>
          <a:p>
            <a:pPr>
              <a:spcAft>
                <a:spcPts val="800"/>
              </a:spcAft>
              <a:defRPr sz="1100">
                <a:solidFill>
                  <a:srgbClr val="1F2937"/>
                </a:solidFill>
              </a:defRPr>
            </a:pPr>
            <a:r>
              <a:t>• 【雙重平衡】不走極端學術晦澀，亦不流於快餐膚淺。</a:t>
            </a:r>
          </a:p>
          <a:p>
            <a:pPr>
              <a:spcAft>
                <a:spcPts val="800"/>
              </a:spcAft>
              <a:defRPr sz="1100">
                <a:solidFill>
                  <a:srgbClr val="1F2937"/>
                </a:solidFill>
              </a:defRPr>
            </a:pPr>
            <a:r>
              <a:t>• 【國際破圈】以大眾百合小說為載體，包覆深刻後殖民反思。</a:t>
            </a:r>
          </a:p>
          <a:p>
            <a:pPr>
              <a:spcAft>
                <a:spcPts val="800"/>
              </a:spcAft>
              <a:defRPr sz="1100">
                <a:solidFill>
                  <a:srgbClr val="1F2937"/>
                </a:solidFill>
              </a:defRPr>
            </a:pPr>
            <a:r>
              <a:t>• 【出海範式】為臺灣在地經驗走向全球提供可複製的經典路徑。</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A100FF"/>
                </a:solidFill>
              </a:defRPr>
            </a:pPr>
            <a:r>
              <a:t>落地實踐行動建議  ｜  行動建議：三大落地護欄實踐  ｜  Accenture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9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111827"/>
                </a:solidFill>
              </a:defRPr>
            </a:pPr>
            <a:r>
              <a:t>① 主張：建立短中長期落地護欄，轉化金愛爛文學洞察為東亞青年世代關懷與文藝對話動能</a:t>
            </a:r>
          </a:p>
          <a:p>
            <a:pPr>
              <a:defRPr sz="1200">
                <a:solidFill>
                  <a:srgbClr val="64748B"/>
                </a:solidFill>
              </a:defRPr>
            </a:pPr>
            <a:r>
              <a:t>針對青年讀者心靈共鳴、社會住宅安全網反思與東亞跨國對話之三大實踐路徑</a:t>
            </a:r>
          </a:p>
        </p:txBody>
      </p:sp>
      <p:sp>
        <p:nvSpPr>
          <p:cNvPr id="5" name="Rectangle 4"/>
          <p:cNvSpPr/>
          <p:nvPr/>
        </p:nvSpPr>
        <p:spPr>
          <a:xfrm>
            <a:off x="731520" y="1572768"/>
            <a:ext cx="1072865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東亞青年政策與跨國文化交流實踐藍圖</a:t>
            </a:r>
          </a:p>
        </p:txBody>
      </p:sp>
      <p:sp>
        <p:nvSpPr>
          <p:cNvPr id="7" name="Rounded Rectangle 6"/>
          <p:cNvSpPr/>
          <p:nvPr/>
        </p:nvSpPr>
        <p:spPr>
          <a:xfrm>
            <a:off x="731520"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短期實踐 (0-30 天)：青年讀者心靈共鳴</a:t>
            </a:r>
          </a:p>
        </p:txBody>
      </p:sp>
      <p:sp>
        <p:nvSpPr>
          <p:cNvPr id="9" name="TextBox 8"/>
          <p:cNvSpPr txBox="1"/>
          <p:nvPr/>
        </p:nvSpPr>
        <p:spPr>
          <a:xfrm>
            <a:off x="868680" y="2423160"/>
            <a:ext cx="3149498" cy="3657600"/>
          </a:xfrm>
          <a:prstGeom prst="rect">
            <a:avLst/>
          </a:prstGeom>
          <a:noFill/>
        </p:spPr>
        <p:txBody>
          <a:bodyPr wrap="square">
            <a:spAutoFit/>
          </a:bodyPr>
          <a:lstStyle/>
          <a:p>
            <a:pPr>
              <a:spcAft>
                <a:spcPts val="600"/>
              </a:spcAft>
              <a:defRPr sz="1200">
                <a:solidFill>
                  <a:srgbClr val="0F172A"/>
                </a:solidFill>
              </a:defRPr>
            </a:pPr>
            <a:r>
              <a:t>1. 策劃《你的夏天還好嗎？》專題讀書會，拆解生活濾鏡</a:t>
            </a:r>
          </a:p>
          <a:p>
            <a:pPr>
              <a:spcAft>
                <a:spcPts val="600"/>
              </a:spcAft>
              <a:defRPr sz="1200">
                <a:solidFill>
                  <a:srgbClr val="0F172A"/>
                </a:solidFill>
              </a:defRPr>
            </a:pPr>
            <a:r>
              <a:t>2. 建立「普通人互助閱讀社群」，抒發都市職場與生存壓力</a:t>
            </a:r>
          </a:p>
          <a:p>
            <a:pPr>
              <a:spcAft>
                <a:spcPts val="600"/>
              </a:spcAft>
              <a:defRPr sz="1200">
                <a:solidFill>
                  <a:srgbClr val="0F172A"/>
                </a:solidFill>
              </a:defRPr>
            </a:pPr>
            <a:r>
              <a:t>3. 引導讀者正視自身無奈，化解因社會比較產生的自卑焦慮</a:t>
            </a:r>
          </a:p>
        </p:txBody>
      </p:sp>
      <p:sp>
        <p:nvSpPr>
          <p:cNvPr id="10" name="Rounded Rectangle 9"/>
          <p:cNvSpPr/>
          <p:nvPr/>
        </p:nvSpPr>
        <p:spPr>
          <a:xfrm>
            <a:off x="4383938"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3938" y="1828800"/>
            <a:ext cx="3423818" cy="4572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中期推進 (1-3 個月)：透視青年貧窮與居住政策</a:t>
            </a:r>
          </a:p>
        </p:txBody>
      </p:sp>
      <p:sp>
        <p:nvSpPr>
          <p:cNvPr id="12" name="TextBox 11"/>
          <p:cNvSpPr txBox="1"/>
          <p:nvPr/>
        </p:nvSpPr>
        <p:spPr>
          <a:xfrm>
            <a:off x="4521098" y="2423160"/>
            <a:ext cx="3149498" cy="3657600"/>
          </a:xfrm>
          <a:prstGeom prst="rect">
            <a:avLst/>
          </a:prstGeom>
          <a:noFill/>
        </p:spPr>
        <p:txBody>
          <a:bodyPr wrap="square">
            <a:spAutoFit/>
          </a:bodyPr>
          <a:lstStyle/>
          <a:p>
            <a:pPr>
              <a:spcAft>
                <a:spcPts val="600"/>
              </a:spcAft>
              <a:defRPr sz="1200">
                <a:solidFill>
                  <a:srgbClr val="0F172A"/>
                </a:solidFill>
              </a:defRPr>
            </a:pPr>
            <a:r>
              <a:t>1. 舉辦跨界座談，探討半地下室與蝸居背後的居住正義問題</a:t>
            </a:r>
          </a:p>
          <a:p>
            <a:pPr>
              <a:spcAft>
                <a:spcPts val="600"/>
              </a:spcAft>
              <a:defRPr sz="1200">
                <a:solidFill>
                  <a:srgbClr val="0F172A"/>
                </a:solidFill>
              </a:defRPr>
            </a:pPr>
            <a:r>
              <a:t>2. 推動社會福利體系對孤立青年心理與經濟處境之關注</a:t>
            </a:r>
          </a:p>
          <a:p>
            <a:pPr>
              <a:spcAft>
                <a:spcPts val="600"/>
              </a:spcAft>
              <a:defRPr sz="1200">
                <a:solidFill>
                  <a:srgbClr val="0F172A"/>
                </a:solidFill>
              </a:defRPr>
            </a:pPr>
            <a:r>
              <a:t>3. 借鑒韓國青年政策成敗，為台灣青年扶助方案提供鏡鑑</a:t>
            </a:r>
          </a:p>
        </p:txBody>
      </p:sp>
      <p:sp>
        <p:nvSpPr>
          <p:cNvPr id="13" name="Rounded Rectangle 12"/>
          <p:cNvSpPr/>
          <p:nvPr/>
        </p:nvSpPr>
        <p:spPr>
          <a:xfrm>
            <a:off x="8036356" y="1828800"/>
            <a:ext cx="3423818" cy="4389120"/>
          </a:xfrm>
          <a:prstGeom prst="roundRect">
            <a:avLst/>
          </a:prstGeom>
          <a:solidFill>
            <a:srgbClr val="F9FAF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6356" y="1828800"/>
            <a:ext cx="3423818" cy="45720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長期制度 (3-6 個月)：深化東亞跨國文學對話</a:t>
            </a:r>
          </a:p>
        </p:txBody>
      </p:sp>
      <p:sp>
        <p:nvSpPr>
          <p:cNvPr id="15" name="TextBox 14"/>
          <p:cNvSpPr txBox="1"/>
          <p:nvPr/>
        </p:nvSpPr>
        <p:spPr>
          <a:xfrm>
            <a:off x="8173516" y="2423160"/>
            <a:ext cx="3149498" cy="3657600"/>
          </a:xfrm>
          <a:prstGeom prst="rect">
            <a:avLst/>
          </a:prstGeom>
          <a:noFill/>
        </p:spPr>
        <p:txBody>
          <a:bodyPr wrap="square">
            <a:spAutoFit/>
          </a:bodyPr>
          <a:lstStyle/>
          <a:p>
            <a:pPr>
              <a:spcAft>
                <a:spcPts val="600"/>
              </a:spcAft>
              <a:defRPr sz="1200">
                <a:solidFill>
                  <a:srgbClr val="0F172A"/>
                </a:solidFill>
              </a:defRPr>
            </a:pPr>
            <a:r>
              <a:t>1. 建立台韓當代青年作家交流機制，深化在地議題對談</a:t>
            </a:r>
          </a:p>
          <a:p>
            <a:pPr>
              <a:spcAft>
                <a:spcPts val="600"/>
              </a:spcAft>
              <a:defRPr sz="1200">
                <a:solidFill>
                  <a:srgbClr val="0F172A"/>
                </a:solidFill>
              </a:defRPr>
            </a:pPr>
            <a:r>
              <a:t>2. 支持更多東亞社會派與寫實純文學的外譯獎助計畫</a:t>
            </a:r>
          </a:p>
          <a:p>
            <a:pPr>
              <a:spcAft>
                <a:spcPts val="600"/>
              </a:spcAft>
              <a:defRPr sz="1200">
                <a:solidFill>
                  <a:srgbClr val="0F172A"/>
                </a:solidFill>
              </a:defRPr>
            </a:pPr>
            <a:r>
              <a:t>3. 促進跨媒介改編（影視與舞台劇），擴大文學作品之社會影響力</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9601200" cy="292608"/>
          </a:xfrm>
          <a:prstGeom prst="rect">
            <a:avLst/>
          </a:prstGeom>
          <a:noFill/>
        </p:spPr>
        <p:txBody>
          <a:bodyPr wrap="none">
            <a:spAutoFit/>
          </a:bodyPr>
          <a:lstStyle/>
          <a:p>
            <a:pPr>
              <a:defRPr sz="1000" b="1">
                <a:solidFill>
                  <a:srgbClr val="D97706"/>
                </a:solidFill>
              </a:defRPr>
            </a:pPr>
            <a:r>
              <a:t>終局結論：廢墟中的文學微光  ｜  版型 1：一對一論法 (One-to-One)  ｜  McKinsey &amp; Company Style</a:t>
            </a:r>
          </a:p>
        </p:txBody>
      </p:sp>
      <p:sp>
        <p:nvSpPr>
          <p:cNvPr id="3" name="TextBox 2"/>
          <p:cNvSpPr txBox="1"/>
          <p:nvPr/>
        </p:nvSpPr>
        <p:spPr>
          <a:xfrm>
            <a:off x="10332720" y="320040"/>
            <a:ext cx="1097280" cy="292608"/>
          </a:xfrm>
          <a:prstGeom prst="rect">
            <a:avLst/>
          </a:prstGeom>
          <a:noFill/>
        </p:spPr>
        <p:txBody>
          <a:bodyPr wrap="none">
            <a:spAutoFit/>
          </a:bodyPr>
          <a:lstStyle/>
          <a:p>
            <a:pPr algn="r">
              <a:defRPr sz="1000">
                <a:solidFill>
                  <a:srgbClr val="64748B"/>
                </a:solidFill>
              </a:defRPr>
            </a:pPr>
            <a:r>
              <a:t>10 / 10</a:t>
            </a:r>
          </a:p>
        </p:txBody>
      </p:sp>
      <p:sp>
        <p:nvSpPr>
          <p:cNvPr id="4" name="TextBox 3"/>
          <p:cNvSpPr txBox="1"/>
          <p:nvPr/>
        </p:nvSpPr>
        <p:spPr>
          <a:xfrm>
            <a:off x="731520" y="621792"/>
            <a:ext cx="10728655" cy="868680"/>
          </a:xfrm>
          <a:prstGeom prst="rect">
            <a:avLst/>
          </a:prstGeom>
          <a:noFill/>
        </p:spPr>
        <p:txBody>
          <a:bodyPr wrap="square">
            <a:spAutoFit/>
          </a:bodyPr>
          <a:lstStyle/>
          <a:p>
            <a:pPr>
              <a:defRPr sz="2000" b="1">
                <a:solidFill>
                  <a:srgbClr val="051C2C"/>
                </a:solidFill>
              </a:defRPr>
            </a:pPr>
            <a:r>
              <a:t>① 主張：即便現實如同漫長酷暑般殘酷，文學仍在普通人彼此凝視的疼痛中照亮微光</a:t>
            </a:r>
          </a:p>
          <a:p>
            <a:pPr>
              <a:defRPr sz="1200">
                <a:solidFill>
                  <a:srgbClr val="64748B"/>
                </a:solidFill>
              </a:defRPr>
            </a:pPr>
            <a:r>
              <a:t>直面非幸運的生存真相，在破碎與幻滅中確認彼此存在，賦予繼續生活下去的勇氣</a:t>
            </a:r>
          </a:p>
        </p:txBody>
      </p:sp>
      <p:sp>
        <p:nvSpPr>
          <p:cNvPr id="5" name="Rectangle 4"/>
          <p:cNvSpPr/>
          <p:nvPr/>
        </p:nvSpPr>
        <p:spPr>
          <a:xfrm>
            <a:off x="731520" y="1572768"/>
            <a:ext cx="10728655"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10698480" cy="292608"/>
          </a:xfrm>
          <a:prstGeom prst="rect">
            <a:avLst/>
          </a:prstGeom>
          <a:noFill/>
        </p:spPr>
        <p:txBody>
          <a:bodyPr wrap="none">
            <a:spAutoFit/>
          </a:bodyPr>
          <a:lstStyle/>
          <a:p>
            <a:pPr>
              <a:defRPr sz="900">
                <a:solidFill>
                  <a:srgbClr val="64748B"/>
                </a:solidFill>
              </a:defRPr>
            </a:pPr>
            <a:r>
              <a:t>Source: 《經典也青春》節目核心結論 ｜ 領讀人：莊培園 ｜ 主持人：陳蕙慧</a:t>
            </a:r>
          </a:p>
        </p:txBody>
      </p:sp>
      <p:sp>
        <p:nvSpPr>
          <p:cNvPr id="7" name="Rectangle 6"/>
          <p:cNvSpPr/>
          <p:nvPr/>
        </p:nvSpPr>
        <p:spPr>
          <a:xfrm>
            <a:off x="1965960" y="2743200"/>
            <a:ext cx="731520" cy="2926079"/>
          </a:xfrm>
          <a:prstGeom prst="rect">
            <a:avLst/>
          </a:prstGeom>
          <a:solidFill>
            <a:srgbClr val="BAC4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2423160"/>
            <a:ext cx="1005840" cy="292608"/>
          </a:xfrm>
          <a:prstGeom prst="rect">
            <a:avLst/>
          </a:prstGeom>
          <a:noFill/>
        </p:spPr>
        <p:txBody>
          <a:bodyPr wrap="none">
            <a:spAutoFit/>
          </a:bodyPr>
          <a:lstStyle/>
          <a:p>
            <a:pPr algn="ctr">
              <a:defRPr sz="1100" b="0">
                <a:solidFill>
                  <a:srgbClr val="64748B"/>
                </a:solidFill>
              </a:defRPr>
            </a:pPr>
            <a:r>
              <a:t>非幸運日常</a:t>
            </a:r>
          </a:p>
        </p:txBody>
      </p:sp>
      <p:sp>
        <p:nvSpPr>
          <p:cNvPr id="9" name="TextBox 8"/>
          <p:cNvSpPr txBox="1"/>
          <p:nvPr/>
        </p:nvSpPr>
        <p:spPr>
          <a:xfrm>
            <a:off x="1783080" y="5742432"/>
            <a:ext cx="1097280" cy="365760"/>
          </a:xfrm>
          <a:prstGeom prst="rect">
            <a:avLst/>
          </a:prstGeom>
          <a:noFill/>
        </p:spPr>
        <p:txBody>
          <a:bodyPr wrap="none">
            <a:spAutoFit/>
          </a:bodyPr>
          <a:lstStyle/>
          <a:p>
            <a:pPr algn="ctr">
              <a:defRPr sz="1150" b="0">
                <a:solidFill>
                  <a:srgbClr val="1F2937"/>
                </a:solidFill>
              </a:defRPr>
            </a:pPr>
            <a:r>
              <a:t>現實殘酷重壓</a:t>
            </a:r>
          </a:p>
        </p:txBody>
      </p:sp>
      <p:sp>
        <p:nvSpPr>
          <p:cNvPr id="10" name="Rectangle 9"/>
          <p:cNvSpPr/>
          <p:nvPr/>
        </p:nvSpPr>
        <p:spPr>
          <a:xfrm>
            <a:off x="4800600" y="2377440"/>
            <a:ext cx="731520" cy="3291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057400"/>
            <a:ext cx="1005840" cy="292608"/>
          </a:xfrm>
          <a:prstGeom prst="rect">
            <a:avLst/>
          </a:prstGeom>
          <a:noFill/>
        </p:spPr>
        <p:txBody>
          <a:bodyPr wrap="none">
            <a:spAutoFit/>
          </a:bodyPr>
          <a:lstStyle/>
          <a:p>
            <a:pPr algn="ctr">
              <a:defRPr sz="1200" b="1">
                <a:solidFill>
                  <a:srgbClr val="051C2C"/>
                </a:solidFill>
              </a:defRPr>
            </a:pPr>
            <a:r>
              <a:t>陪伴與救贖</a:t>
            </a:r>
          </a:p>
        </p:txBody>
      </p:sp>
      <p:sp>
        <p:nvSpPr>
          <p:cNvPr id="12" name="TextBox 11"/>
          <p:cNvSpPr txBox="1"/>
          <p:nvPr/>
        </p:nvSpPr>
        <p:spPr>
          <a:xfrm>
            <a:off x="4617720" y="5742432"/>
            <a:ext cx="1097280" cy="365760"/>
          </a:xfrm>
          <a:prstGeom prst="rect">
            <a:avLst/>
          </a:prstGeom>
          <a:noFill/>
        </p:spPr>
        <p:txBody>
          <a:bodyPr wrap="none">
            <a:spAutoFit/>
          </a:bodyPr>
          <a:lstStyle/>
          <a:p>
            <a:pPr algn="ctr">
              <a:defRPr sz="1150" b="1">
                <a:solidFill>
                  <a:srgbClr val="051C2C"/>
                </a:solidFill>
              </a:defRPr>
            </a:pPr>
            <a:r>
              <a:t>文學共鳴微光</a:t>
            </a:r>
          </a:p>
        </p:txBody>
      </p:sp>
      <p:sp>
        <p:nvSpPr>
          <p:cNvPr id="13" name="Rounded Rectangle 12"/>
          <p:cNvSpPr/>
          <p:nvPr/>
        </p:nvSpPr>
        <p:spPr>
          <a:xfrm>
            <a:off x="6949440" y="1828800"/>
            <a:ext cx="4480560" cy="4297680"/>
          </a:xfrm>
          <a:prstGeom prst="roundRect">
            <a:avLst/>
          </a:prstGeom>
          <a:solidFill>
            <a:srgbClr val="F8FAFC"/>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2011680"/>
            <a:ext cx="4023360" cy="3931920"/>
          </a:xfrm>
          <a:prstGeom prst="rect">
            <a:avLst/>
          </a:prstGeom>
          <a:noFill/>
        </p:spPr>
        <p:txBody>
          <a:bodyPr wrap="square">
            <a:spAutoFit/>
          </a:bodyPr>
          <a:lstStyle/>
          <a:p>
            <a:pPr>
              <a:spcAft>
                <a:spcPts val="600"/>
              </a:spcAft>
              <a:defRPr sz="1400" b="1">
                <a:solidFill>
                  <a:srgbClr val="1E3A8A"/>
                </a:solidFill>
              </a:defRPr>
            </a:pPr>
            <a:r>
              <a:t>全集終極核心啟示</a:t>
            </a:r>
          </a:p>
          <a:p>
            <a:pPr>
              <a:spcAft>
                <a:spcPts val="400"/>
              </a:spcAft>
              <a:defRPr sz="1150">
                <a:solidFill>
                  <a:srgbClr val="1F2937"/>
                </a:solidFill>
              </a:defRPr>
            </a:pPr>
            <a:r>
              <a:t>• 【直面真實】承認自己不是幸運的「繼承者」，是擺脫虛幻自欺與濾鏡迷思的第一步。</a:t>
            </a:r>
          </a:p>
          <a:p>
            <a:pPr>
              <a:spcAft>
                <a:spcPts val="400"/>
              </a:spcAft>
              <a:defRPr sz="1150">
                <a:solidFill>
                  <a:srgbClr val="1F2937"/>
                </a:solidFill>
              </a:defRPr>
            </a:pPr>
            <a:r>
              <a:t>• 【彼此相認】在金愛爛的字裡行間確認「原來不是只有我這麼痛」，化深層孤立為集體陪伴。</a:t>
            </a:r>
          </a:p>
          <a:p>
            <a:pPr>
              <a:spcAft>
                <a:spcPts val="400"/>
              </a:spcAft>
              <a:defRPr sz="1150">
                <a:solidFill>
                  <a:srgbClr val="1F2937"/>
                </a:solidFill>
              </a:defRPr>
            </a:pPr>
            <a:r>
              <a:t>• 【溫柔堅韌】用最熱燙的筆觸包覆廢墟中的青年，即便夏天很難熬，依然要堅定前行。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