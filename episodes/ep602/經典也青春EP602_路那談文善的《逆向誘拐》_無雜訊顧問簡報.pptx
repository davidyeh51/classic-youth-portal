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【採用版型與風格】cover ｜ McKinsey &amp; Company</a:t>
            </a:r>
          </a:p>
          <a:p>
            <a:r>
              <a:t>① 本頁結論：本頁確立文善《逆向誘拐》榮獲第3屆島田莊司推理小說獎首獎之重要里程碑。</a:t>
            </a:r>
          </a:p>
          <a:p>
            <a:r>
              <a:t>② 補充說明：資深推理評論家路那深度解析這部香港商業高科技推理代表作，剖析其如何打破血腥凶殺的傳統模式，將推理舞台移至投資銀行與雲端惡意勒索軟體。</a:t>
            </a:r>
          </a:p>
          <a:p>
            <a:r>
              <a:t>③ 下一頁轉場：首先，我們檢視《逆向誘拐》如何在島田莊司獎中開創華文商業本格推理的範式轉移。</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BCG (Boston Consulting Group)</a:t>
            </a:r>
          </a:p>
          <a:p>
            <a:r>
              <a:t>① 本頁結論：《逆向誘拐》作為第三屆島田莊司推理小說獎的首獎，其核心貢獻在於將推理小說的焦點從傳統的凶殺案轉移到現代金融科技犯罪，開創了新的敘事模式。</a:t>
            </a:r>
          </a:p>
          <a:p>
            <a:r>
              <a:t>② 補充說明：主持人提及台灣推理作家協會開始舉辦長篇推理小說真選，而《逆向誘拐》正是此次選拔的首獎作品 (0:27-0:37)。路那評論道，傳統推理小說常以血腥、屍體數量來吸引讀者，甚至她個人也曾認為「50頁還沒有屍體就有點難過」(17:16-17:21)。然而，《逆向誘拐》卻顛覆了這種觀念，證明了推理小說不一定要有謀殺才能構成一個引人入勝的故事 (17:23-17:28)。這部作品將主題擴展到金融犯罪，強調謎團、偵查與邏輯推演的重要性，而非單純的暴力呈現 (17:28-17:38)。</a:t>
            </a:r>
          </a:p>
          <a:p>
            <a:r>
              <a:t>③ 下一頁轉場：那麼，這部突破傳統的作品是如何構建其獨特情節的？它運用了哪些商業與高科技的支柱來支撐其複雜的犯罪故事呢？</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本頁結論：《逆向誘拐》成功地將香港作為金融中心的特性，與新興科技及社會世代變遷相結合，打造出一個高度真實且具前瞻性的犯罪故事。</a:t>
            </a:r>
          </a:p>
          <a:p>
            <a:r>
              <a:t>② 補充說明：路那指出文善具有金融專業背景 (1:12:56-1:13:08)，這使得小說中對金融產品和操作的描寫非常細緻且深入淺出。小說的核心是商業機密文件被盜 (0:38-0:43)，這與金融機構的避險操作息息相關。此外，路那也強調了小說對社群媒體、AI（雖然在2013年寫作時AI尚未普及，但已隱約預見）以及虛擬貨幣的應用 (1:21:00-1:23:00)，展現了作者對科技趨勢的敏銳洞察。作品更觸及了年輕世代參與這些「好玩」的社群活動，甚至付出生命的可能，反映了跨世代價值觀的衝突 (1:49:00-1:53:00)。</a:t>
            </a:r>
          </a:p>
          <a:p>
            <a:r>
              <a:t>③ 下一頁轉場：這部作品如何巧妙地顛覆了我們對綁架案的既有認知？讓我們深入剖析其獨特的「逆向誘拐」四重因果鏈。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4：連鎖論法 (Chain / Flow) ｜ BCG (Boston Consulting Group)</a:t>
            </a:r>
          </a:p>
          <a:p>
            <a:r>
              <a:t>① 本頁結論：「逆向誘拐」的核心創新在於將綁架對象從人質轉移至數位資產，並將勒索方式從直接金錢轉向間接的社會與金融操縱，最終達成對現有階級權力的挑戰。</a:t>
            </a:r>
          </a:p>
          <a:p>
            <a:r>
              <a:t>② 補充說明：路那強調，《逆向誘拐》最吸引人的地方就是它顛覆了綁架案的核心元素。綁架的不再是人質，而是「機密文件」(0:38-0:43)。這種勒索也不是傳統地要求金錢，而是威脅「公開」這些機密 (0:53-0:55)，讓被綁架方在乎的不是金錢流失，而是機密洩漏導致的巨大社會與經濟衝擊 (1:04-1:07)。這種設計讓「贖金」以一種反向的形式流動，即維護機密不被公開的代價。這種手法不僅是對個人或企業的打擊，更是對整個社會經濟結構，尤其是既得利益階層的衝擊 (1:45-1:46)，隱含了某種財富重分配或權力轉移的企圖 (1:49-1:53)。</a:t>
            </a:r>
          </a:p>
          <a:p>
            <a:r>
              <a:t>③ 下一頁轉場：這複雜的逆向誘拐機制，如何在金融界核心地帶引發震盪？讓我們透過麥肯錫流程圖，剖析其在投資銀行併購危機中的演進歷程。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5：麥肯錫矩陣論法 (McKinsey Flow) ｜ McKinsey &amp; Company</a:t>
            </a:r>
          </a:p>
          <a:p>
            <a:r>
              <a:t>① 本頁結論：在《逆向誘拐》的複雜情節中，從商業機密的失竊到最終的市場震盪，整個過程揭示了金融、科技與社會動員如何交織，形塑出一種新型態的犯罪與權力博弈。</a:t>
            </a:r>
          </a:p>
          <a:p>
            <a:r>
              <a:t>② 補充說明：主持人指出，儘管贖金僅僅是十萬美金，但這筆交易引發的卻是整個社會的恐慌，甚至可能導致股價大跌，影響的可能是整個社會的股民 (1:04-1:07)。這個過程從一間公司機密文件被盜開始 (0:40-0:42)，綁匪威脅要公開這些文件，而這種公開的威脅遠比直接的金錢損失更具破壞力 (0:53-0:55)。接著，社群媒體的動員被用來擴大影響力 (1:21:00-1:23:00)，導致市場恐慌，最終股市崩盤，給企業乃至整個社會帶來災難性的後果 (1:04-1:07)。這背後，隱藏著一個不僅僅是追求金錢，還有更深層社會目的的幕後操盤者。</a:t>
            </a:r>
          </a:p>
          <a:p>
            <a:r>
              <a:t>③ 下一頁轉場：這部作品不僅情節創新，更引領我們思考犯罪範式的轉變。究竟古典暴力綁架與現代數位逆向誘拐在哪些關鍵維度上存在根本性差異？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McKinsey &amp; Company</a:t>
            </a:r>
          </a:p>
          <a:p>
            <a:r>
              <a:t>① 本頁結論：《逆向誘拐》不僅僅是情節的創新，它更是對犯罪本質、社會權力關係以及科技與倫理邊界的一次深刻探索，徹底重塑了我們對『綁架』的認知。</a:t>
            </a:r>
          </a:p>
          <a:p>
            <a:r>
              <a:t>② 補充說明：路那在訪談中明確指出，《逆向誘拐》的核心顛覆在於其綁架對象不是人質，而是「機密文件」(0:38-0:43)，這直接改變了犯罪標的。在權力結構上，它不再是綁匪對受害者單向的物理控制，而是透過社群媒體動員，讓大量網民在不知情中成為共犯，甚至自願參與，形成複雜的互動關係 (1:21-1:23)。技術門檻也從實體綁架轉向網路駭客與社群操縱。最深刻的是，這種犯罪行為的動機和社會影響，可能不再是簡單的「惡」，而帶有某種反抗既有體制，實現另類「正義」的意圖 (1:45-1:46)，使得道德正義的邊界變得模糊。</a:t>
            </a:r>
          </a:p>
          <a:p>
            <a:r>
              <a:t>③ 下一頁轉場：這種新形態的犯罪模式，實際上是對當代社會深層問題的一種映射。路那如何評價《逆向誘拐》在批判香港金融資本主義與千禧世代無力感方面的深刻洞察？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BCG (Boston Consulting Group)</a:t>
            </a:r>
          </a:p>
          <a:p>
            <a:r>
              <a:t>① 本頁結論：《逆向誘拐》不僅是一部出色的推理小說，更是一面鏡子，映照出香港作為金融都會的脆弱性，以及當代年輕世代面對複雜社會時的矛盾心態與行動。</a:t>
            </a:r>
          </a:p>
          <a:p>
            <a:r>
              <a:t>② 補充說明：路那認為，文善的金融背景使得他能精準描寫香港作為金融中心的複雜性，以及金融資本主義可能帶來的潛在問題 (1:13:08-1:13:17)。小說透過「逆向誘拐」的手段，不僅揭示了企業在數位時代對資訊安全的極度依賴，也批判了金融體系中隱藏的脆弱性。更深層的是，她也觀察到小說對年輕世代行為的洞察。許多人可能只是為了「好玩」或在網路社群中尋求認同而參與這類挑戰，甚至不惜付出生命代價，這反映了他們在主流社會中的無力感，以及對既有秩序的反叛 (1:29:58-1:30:14)。這種對社會深層矛盾的描寫，讓作品超越了單純的娛樂性。</a:t>
            </a:r>
          </a:p>
          <a:p>
            <a:r>
              <a:t>③ 下一頁轉場：這部作品的深度和廣度，使我們不禁思考華文商業推理小說在當今競爭格局中的定位。讓我們透過一個策略矩陣，來評估這類作品在金融科技硬核度與社會世代批判深度上的表現。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8：BCG 2x2 矩陣 (BCG Matrix) ｜ BCG (Boston Consulting Group)</a:t>
            </a:r>
          </a:p>
          <a:p>
            <a:r>
              <a:t>① 本頁結論：《逆向誘拐》不僅在金融科技的專業度上表現出色，更深層次地批判了當代社會的結構與世代矛盾，使其在華文推理小說市場中佔據了獨特且具引領性的位置。</a:t>
            </a:r>
          </a:p>
          <a:p>
            <a:r>
              <a:t>② 補充說明：這部作品在金融科技的硬核度上表現出色，作者的金融背景使得其對金融產品、市場操作以及數位勒索的描寫既專業又真實 (1:57-1:58)。同時，它也具備深刻的社會世代批判深度，探討了年輕一代在社群媒體時代下，如何透過非傳統方式挑戰既有權威，甚至不惜冒險，其動機也遠非金錢可解釋 (1:49-1:53)。這種結合讓作品不僅提供了智力上的挑戰，更引發了對社會現狀的反思，超越了單純的娛樂性 (1:45-1:46)。</a:t>
            </a:r>
          </a:p>
          <a:p>
            <a:r>
              <a:t>③ 下一頁轉場：鑑於《逆向誘拐》所展現的卓越潛力，我們應當思考如何將其核心洞察轉化為具體的行動，以推動華文推理文學的持續發展與跨界影響力。</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本頁結論：透過讀者教育、內容創新和跨媒介轉化，我們可以充分釋放《逆向誘拐》所代表的商業本格推理的潛力，共同開創華文推理的新紀元。</a:t>
            </a:r>
          </a:p>
          <a:p>
            <a:r>
              <a:t>② 補充說明：基於《逆向誘拐》的成功，我們應該思考如何讓更多讀者接觸並理解這類作品。短期內，可以透過專題導讀，幫助讀者理解金融科技犯罪的內涵 (1:45-1:46)。中期而言，文善的金融背景提示我們，可以鼓勵更多具備專業知識的創作者，將其領域知識融入推理小說中，豐富題材深度 (1:10:00-1:12:00)。長期來看，由於《逆向誘拐》的故事高度概念化且具備視覺衝擊力，非常適合影視改編，這將是推動華文推理走向國際的重要途徑 (1:21:00-1:23:00)。</a:t>
            </a:r>
          </a:p>
          <a:p>
            <a:r>
              <a:t>③ 下一頁轉場：隨著數位浪潮的推進，真相與正義的界線日益模糊。我們究竟應如何重構對兩者的理解，以應對不斷變化的犯罪形態與社會結構？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McKinsey &amp; Company</a:t>
            </a:r>
          </a:p>
          <a:p>
            <a:r>
              <a:t>① 本頁結論：《逆向誘拐》不僅是推理小說，更是對數位時代真相與正義深層重構的寓言，警示我們需不斷更新認知，以應對新型態的社會挑戰。</a:t>
            </a:r>
          </a:p>
          <a:p>
            <a:r>
              <a:t>② 補充說明：路那強調，在數位時代，真相不再是單一的，而是由多個資訊碎片與社群建構而成。而正義也超越了單純懲罰惡行，包含了對系統性不公的揭露。這種重構，使得《逆向誘拐》這類非物理性犯罪對傳統偵查和法律體系提出了新的挑戰 (1:45-1:46)。路那指出，這部作品的核心在於其「逆向誘拐」的概念，以及它如何顛覆了我們對綁架案的傳統理解 (0:38-0:43)。它警示我們，在科技發展和社群動員下，每個人都有可能在不知不覺中成為共犯或被利用的工具 (1:57-1:58)。這個觀點對於理解數位時代的社會互動與倫理責任至關重要 (2:00-2:03)。</a:t>
            </a:r>
          </a:p>
          <a:p>
            <a:r>
              <a:t>③ 下一頁轉場：感謝各位與我們一同探索《逆向誘拐》所揭示的數位時代新現實與未來趨勢。期待下次再會！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6459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6858000" cy="457200"/>
          </a:xfrm>
          <a:prstGeom prst="rect">
            <a:avLst/>
          </a:prstGeom>
          <a:noFill/>
        </p:spPr>
        <p:txBody>
          <a:bodyPr wrap="none">
            <a:spAutoFit/>
          </a:bodyPr>
          <a:lstStyle/>
          <a:p>
            <a:pPr>
              <a:defRPr sz="1200" b="1">
                <a:solidFill>
                  <a:srgbClr val="D97706"/>
                </a:solidFill>
              </a:defRPr>
            </a:pPr>
            <a:r>
              <a:t>EXECUTIVE PODCAST BRIEFING  |  ZERO-NOISE CONSULTING DECK</a:t>
            </a:r>
          </a:p>
        </p:txBody>
      </p:sp>
      <p:sp>
        <p:nvSpPr>
          <p:cNvPr id="5" name="TextBox 4"/>
          <p:cNvSpPr txBox="1"/>
          <p:nvPr/>
        </p:nvSpPr>
        <p:spPr>
          <a:xfrm>
            <a:off x="914400" y="2011680"/>
            <a:ext cx="6858000" cy="1645920"/>
          </a:xfrm>
          <a:prstGeom prst="rect">
            <a:avLst/>
          </a:prstGeom>
          <a:noFill/>
        </p:spPr>
        <p:txBody>
          <a:bodyPr wrap="square">
            <a:spAutoFit/>
          </a:bodyPr>
          <a:lstStyle/>
          <a:p>
            <a:pPr>
              <a:defRPr sz="3200" b="1">
                <a:solidFill>
                  <a:srgbClr val="FFFFFF"/>
                </a:solidFill>
              </a:defRPr>
            </a:pPr>
            <a:r>
              <a:t>《經典也青春》EP602：路那談文善的《逆向誘拐》</a:t>
            </a:r>
          </a:p>
        </p:txBody>
      </p:sp>
      <p:sp>
        <p:nvSpPr>
          <p:cNvPr id="6" name="TextBox 5"/>
          <p:cNvSpPr txBox="1"/>
          <p:nvPr/>
        </p:nvSpPr>
        <p:spPr>
          <a:xfrm>
            <a:off x="914400" y="3749039"/>
            <a:ext cx="6858000" cy="1280160"/>
          </a:xfrm>
          <a:prstGeom prst="rect">
            <a:avLst/>
          </a:prstGeom>
          <a:noFill/>
        </p:spPr>
        <p:txBody>
          <a:bodyPr wrap="square">
            <a:spAutoFit/>
          </a:bodyPr>
          <a:lstStyle/>
          <a:p>
            <a:pPr>
              <a:defRPr sz="1600">
                <a:solidFill>
                  <a:srgbClr val="E2E8F0"/>
                </a:solidFill>
              </a:defRPr>
            </a:pPr>
            <a:r>
              <a:t>核心主張：文善《逆向誘拐》顛覆傳統肉體綁架模式，將戰場移至投資銀行與雲端惡意程式，以金融科技與世代衝突開創華文商業本格推理新紀元</a:t>
            </a:r>
          </a:p>
        </p:txBody>
      </p:sp>
      <p:sp>
        <p:nvSpPr>
          <p:cNvPr id="7" name="TextBox 6"/>
          <p:cNvSpPr txBox="1"/>
          <p:nvPr/>
        </p:nvSpPr>
        <p:spPr>
          <a:xfrm>
            <a:off x="914400" y="5303520"/>
            <a:ext cx="6858000" cy="548640"/>
          </a:xfrm>
          <a:prstGeom prst="rect">
            <a:avLst/>
          </a:prstGeom>
          <a:noFill/>
        </p:spPr>
        <p:txBody>
          <a:bodyPr wrap="none">
            <a:spAutoFit/>
          </a:bodyPr>
          <a:lstStyle/>
          <a:p>
            <a:pPr>
              <a:defRPr sz="1200">
                <a:solidFill>
                  <a:srgbClr val="BAC4D2"/>
                </a:solidFill>
              </a:defRPr>
            </a:pPr>
            <a:r>
              <a:t>主講人：路那（資深推理評論家 / 臺灣推理作家協會理事） ｜ 主持人：陳蕙慧 ｜ IC之音 × Readmoo</a:t>
            </a:r>
          </a:p>
        </p:txBody>
      </p:sp>
      <p:sp>
        <p:nvSpPr>
          <p:cNvPr id="8" name="Rounded Rectangle 7"/>
          <p:cNvSpPr/>
          <p:nvPr/>
        </p:nvSpPr>
        <p:spPr>
          <a:xfrm>
            <a:off x="8138160" y="1371600"/>
            <a:ext cx="3291840" cy="4389120"/>
          </a:xfrm>
          <a:prstGeom prst="roundRect">
            <a:avLst/>
          </a:prstGeom>
          <a:solidFill>
            <a:srgbClr val="0F172A"/>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odcast_artwork.jpg"/>
          <p:cNvPicPr>
            <a:picLocks noChangeAspect="1"/>
          </p:cNvPicPr>
          <p:nvPr/>
        </p:nvPicPr>
        <p:blipFill>
          <a:blip r:embed="rId2"/>
          <a:stretch>
            <a:fillRect/>
          </a:stretch>
        </p:blipFill>
        <p:spPr>
          <a:xfrm>
            <a:off x="8321040" y="1554480"/>
            <a:ext cx="2926080" cy="2926080"/>
          </a:xfrm>
          <a:prstGeom prst="rect">
            <a:avLst/>
          </a:prstGeom>
        </p:spPr>
      </p:pic>
      <p:sp>
        <p:nvSpPr>
          <p:cNvPr id="10" name="TextBox 9"/>
          <p:cNvSpPr txBox="1"/>
          <p:nvPr/>
        </p:nvSpPr>
        <p:spPr>
          <a:xfrm>
            <a:off x="8321040" y="4572000"/>
            <a:ext cx="2926080" cy="1005840"/>
          </a:xfrm>
          <a:prstGeom prst="rect">
            <a:avLst/>
          </a:prstGeom>
          <a:noFill/>
        </p:spPr>
        <p:txBody>
          <a:bodyPr wrap="square">
            <a:spAutoFit/>
          </a:bodyPr>
          <a:lstStyle/>
          <a:p>
            <a:pPr>
              <a:defRPr sz="1100">
                <a:solidFill>
                  <a:srgbClr val="FFFFFF"/>
                </a:solidFill>
              </a:defRPr>
            </a:pPr>
            <a:r>
              <a:t>🎙️ 主講人：路那（資深推理評論家 / 臺灣推理作家協會理事） ｜ 主持人：陳蕙慧 ｜ IC之音 × Readmoo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1：島田莊司獎首獎突破  ｜  版型 1：一對一論法 (One-to-One)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2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主張：文善《逆向誘拐》榮獲第3屆島田莊司推理小說獎首獎，標誌著華文推理從傳統凶殺本格敘事轉向金融科技商業犯罪的新範式。</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第3屆島田莊司推理小說獎評析 ｜ 《經典也青春》對談精華</a:t>
            </a:r>
          </a:p>
        </p:txBody>
      </p:sp>
      <p:sp>
        <p:nvSpPr>
          <p:cNvPr id="7" name="Rectangle 6"/>
          <p:cNvSpPr/>
          <p:nvPr/>
        </p:nvSpPr>
        <p:spPr>
          <a:xfrm>
            <a:off x="1965960" y="4258491"/>
            <a:ext cx="731520" cy="1410788"/>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938451"/>
            <a:ext cx="1005840" cy="292608"/>
          </a:xfrm>
          <a:prstGeom prst="rect">
            <a:avLst/>
          </a:prstGeom>
          <a:noFill/>
        </p:spPr>
        <p:txBody>
          <a:bodyPr wrap="none">
            <a:spAutoFit/>
          </a:bodyPr>
          <a:lstStyle/>
          <a:p>
            <a:pPr algn="ctr">
              <a:defRPr sz="1100" b="0">
                <a:solidFill>
                  <a:srgbClr val="6B7280"/>
                </a:solidFill>
              </a:defRPr>
            </a:pPr>
            <a:r>
              <a:t>30%</a:t>
            </a:r>
          </a:p>
        </p:txBody>
      </p:sp>
      <p:sp>
        <p:nvSpPr>
          <p:cNvPr id="9" name="TextBox 8"/>
          <p:cNvSpPr txBox="1"/>
          <p:nvPr/>
        </p:nvSpPr>
        <p:spPr>
          <a:xfrm>
            <a:off x="1783080" y="5742432"/>
            <a:ext cx="1097280" cy="365760"/>
          </a:xfrm>
          <a:prstGeom prst="rect">
            <a:avLst/>
          </a:prstGeom>
          <a:noFill/>
        </p:spPr>
        <p:txBody>
          <a:bodyPr wrap="none">
            <a:spAutoFit/>
          </a:bodyPr>
          <a:lstStyle/>
          <a:p>
            <a:pPr algn="ctr">
              <a:defRPr sz="1150" b="0">
                <a:solidFill>
                  <a:srgbClr val="1F2937"/>
                </a:solidFill>
              </a:defRPr>
            </a:pPr>
            <a:r>
              <a:t>傳統凶殺本格</a:t>
            </a:r>
          </a:p>
        </p:txBody>
      </p:sp>
      <p:sp>
        <p:nvSpPr>
          <p:cNvPr id="10" name="Rectangle 9"/>
          <p:cNvSpPr/>
          <p:nvPr/>
        </p:nvSpPr>
        <p:spPr>
          <a:xfrm>
            <a:off x="4800600" y="2377440"/>
            <a:ext cx="731520" cy="3291840"/>
          </a:xfrm>
          <a:prstGeom prst="rect">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57400"/>
            <a:ext cx="1005840" cy="292608"/>
          </a:xfrm>
          <a:prstGeom prst="rect">
            <a:avLst/>
          </a:prstGeom>
          <a:noFill/>
        </p:spPr>
        <p:txBody>
          <a:bodyPr wrap="none">
            <a:spAutoFit/>
          </a:bodyPr>
          <a:lstStyle/>
          <a:p>
            <a:pPr algn="ctr">
              <a:defRPr sz="1200" b="1">
                <a:solidFill>
                  <a:srgbClr val="004F32"/>
                </a:solidFill>
              </a:defRPr>
            </a:pPr>
            <a:r>
              <a:t>70%</a:t>
            </a:r>
          </a:p>
        </p:txBody>
      </p:sp>
      <p:sp>
        <p:nvSpPr>
          <p:cNvPr id="12" name="TextBox 11"/>
          <p:cNvSpPr txBox="1"/>
          <p:nvPr/>
        </p:nvSpPr>
        <p:spPr>
          <a:xfrm>
            <a:off x="4617720" y="5742432"/>
            <a:ext cx="1097280" cy="365760"/>
          </a:xfrm>
          <a:prstGeom prst="rect">
            <a:avLst/>
          </a:prstGeom>
          <a:noFill/>
        </p:spPr>
        <p:txBody>
          <a:bodyPr wrap="none">
            <a:spAutoFit/>
          </a:bodyPr>
          <a:lstStyle/>
          <a:p>
            <a:pPr algn="ctr">
              <a:defRPr sz="1150" b="1">
                <a:solidFill>
                  <a:srgbClr val="004F32"/>
                </a:solidFill>
              </a:defRPr>
            </a:pPr>
            <a:r>
              <a:t>金融科技商業推理</a:t>
            </a:r>
          </a:p>
        </p:txBody>
      </p:sp>
      <p:sp>
        <p:nvSpPr>
          <p:cNvPr id="13" name="Rounded Rectangle 12"/>
          <p:cNvSpPr/>
          <p:nvPr/>
        </p:nvSpPr>
        <p:spPr>
          <a:xfrm>
            <a:off x="6949440" y="1828800"/>
            <a:ext cx="4480560" cy="4297680"/>
          </a:xfrm>
          <a:prstGeom prst="roundRect">
            <a:avLst/>
          </a:prstGeom>
          <a:solidFill>
            <a:srgbClr val="F3F4F6"/>
          </a:solidFill>
          <a:ln w="1905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011680"/>
            <a:ext cx="4023360" cy="3931920"/>
          </a:xfrm>
          <a:prstGeom prst="rect">
            <a:avLst/>
          </a:prstGeom>
          <a:noFill/>
        </p:spPr>
        <p:txBody>
          <a:bodyPr wrap="square">
            <a:spAutoFit/>
          </a:bodyPr>
          <a:lstStyle/>
          <a:p>
            <a:pPr>
              <a:spcAft>
                <a:spcPts val="600"/>
              </a:spcAft>
              <a:defRPr sz="1400" b="1">
                <a:solidFill>
                  <a:srgbClr val="177B57"/>
                </a:solidFill>
              </a:defRPr>
            </a:pPr>
            <a:r>
              <a:t>核心突破：島田莊司獎首獎的範式轉移</a:t>
            </a:r>
          </a:p>
          <a:p>
            <a:pPr>
              <a:spcAft>
                <a:spcPts val="400"/>
              </a:spcAft>
              <a:defRPr sz="1150">
                <a:solidFill>
                  <a:srgbClr val="1F2937"/>
                </a:solidFill>
              </a:defRPr>
            </a:pPr>
            <a:r>
              <a:t>• 《逆向誘拐》打破傳統「屍體越多越好」的推理小說慣例，將犯罪核心從肉體轉向數字資產。</a:t>
            </a:r>
          </a:p>
          <a:p>
            <a:pPr>
              <a:spcAft>
                <a:spcPts val="400"/>
              </a:spcAft>
              <a:defRPr sz="1150">
                <a:solidFill>
                  <a:srgbClr val="1F2937"/>
                </a:solidFill>
              </a:defRPr>
            </a:pPr>
            <a:r>
              <a:t>• 小說探討金融市場與科技犯罪的結合，反映當代社會的複雜性與潛在危機。</a:t>
            </a:r>
          </a:p>
          <a:p>
            <a:pPr>
              <a:spcAft>
                <a:spcPts val="400"/>
              </a:spcAft>
              <a:defRPr sz="1150">
                <a:solidFill>
                  <a:srgbClr val="1F2937"/>
                </a:solidFill>
              </a:defRPr>
            </a:pPr>
            <a:r>
              <a:t>• 此類作品開創了華文推理小說的新類型，吸引了更廣泛的讀者群與社會關注。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A100FF"/>
                </a:solidFill>
              </a:defRPr>
            </a:pPr>
            <a:r>
              <a:t>核心發現 2：商業與高科技三大支柱  ｜  版型 2：並列論法 (Parallel)  ｜  Accenture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3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111827"/>
                </a:solidFill>
              </a:defRPr>
            </a:pPr>
            <a:r>
              <a:t>① 主張：文善《逆向誘拐》精準構築於投資銀行避險操作、數位雲端綁架與跨世代價值觀衝突三大支柱，深刻反映香港金融都市的時代切片。</a:t>
            </a:r>
          </a:p>
        </p:txBody>
      </p:sp>
      <p:sp>
        <p:nvSpPr>
          <p:cNvPr id="5" name="Rectangle 4"/>
          <p:cNvSpPr/>
          <p:nvPr/>
        </p:nvSpPr>
        <p:spPr>
          <a:xfrm>
            <a:off x="731520" y="1572768"/>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《經典也青春》EP602 文本深層解構分析</a:t>
            </a:r>
          </a:p>
        </p:txBody>
      </p:sp>
      <p:sp>
        <p:nvSpPr>
          <p:cNvPr id="7" name="Rounded Rectangle 6"/>
          <p:cNvSpPr/>
          <p:nvPr/>
        </p:nvSpPr>
        <p:spPr>
          <a:xfrm>
            <a:off x="731520"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投資銀行避險操作</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0F172A"/>
                </a:solidFill>
              </a:defRPr>
            </a:pPr>
            <a:r>
              <a:t>1. 作者文善具備金融專業背景，使小說中的金融操作描寫真實細緻，具高專業度。</a:t>
            </a:r>
          </a:p>
          <a:p>
            <a:pPr>
              <a:spcAft>
                <a:spcPts val="600"/>
              </a:spcAft>
              <a:defRPr sz="1200">
                <a:solidFill>
                  <a:srgbClr val="0F172A"/>
                </a:solidFill>
              </a:defRPr>
            </a:pPr>
            <a:r>
              <a:t>2. 故事圍繞商業機密文件被盜，凸顯金融界對資訊安全的高度敏感與潛在風險。</a:t>
            </a:r>
          </a:p>
          <a:p>
            <a:pPr>
              <a:spcAft>
                <a:spcPts val="600"/>
              </a:spcAft>
              <a:defRPr sz="1200">
                <a:solidFill>
                  <a:srgbClr val="0F172A"/>
                </a:solidFill>
              </a:defRPr>
            </a:pPr>
            <a:r>
              <a:t>3. 作品探索金融產品與科技結合的潛在模式，預示新型態的金融投資策略。</a:t>
            </a:r>
          </a:p>
          <a:p>
            <a:pPr>
              <a:spcAft>
                <a:spcPts val="600"/>
              </a:spcAft>
              <a:defRPr sz="1200">
                <a:solidFill>
                  <a:srgbClr val="0F172A"/>
                </a:solidFill>
              </a:defRPr>
            </a:pPr>
            <a:r>
              <a:t>4. 揭示在雷曼兄弟破產後，金融界對新興證券化產品的警惕與追求。</a:t>
            </a:r>
          </a:p>
        </p:txBody>
      </p:sp>
      <p:sp>
        <p:nvSpPr>
          <p:cNvPr id="10" name="Rounded Rectangle 9"/>
          <p:cNvSpPr/>
          <p:nvPr/>
        </p:nvSpPr>
        <p:spPr>
          <a:xfrm>
            <a:off x="4383938"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數位雲端綁架</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0F172A"/>
                </a:solidFill>
              </a:defRPr>
            </a:pPr>
            <a:r>
              <a:t>1. 勒索目標是商業機密文件，而非人質，顛覆傳統綁架的定義與手法。</a:t>
            </a:r>
          </a:p>
          <a:p>
            <a:pPr>
              <a:spcAft>
                <a:spcPts val="600"/>
              </a:spcAft>
              <a:defRPr sz="1200">
                <a:solidFill>
                  <a:srgbClr val="0F172A"/>
                </a:solidFill>
              </a:defRPr>
            </a:pPr>
            <a:r>
              <a:t>2. 贖金要求並非傳統支付，而是威脅公開機密，導致企業信譽與股價崩盤。</a:t>
            </a:r>
          </a:p>
          <a:p>
            <a:pPr>
              <a:spcAft>
                <a:spcPts val="600"/>
              </a:spcAft>
              <a:defRPr sz="1200">
                <a:solidFill>
                  <a:srgbClr val="0F172A"/>
                </a:solidFill>
              </a:defRPr>
            </a:pPr>
            <a:r>
              <a:t>3. 利用社群媒體和人工智慧進行操縱與動員，大幅提升犯罪的影響力與難度。</a:t>
            </a:r>
          </a:p>
        </p:txBody>
      </p:sp>
      <p:sp>
        <p:nvSpPr>
          <p:cNvPr id="13" name="Rounded Rectangle 12"/>
          <p:cNvSpPr/>
          <p:nvPr/>
        </p:nvSpPr>
        <p:spPr>
          <a:xfrm>
            <a:off x="8036356"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跨世代價值觀衝突</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0F172A"/>
                </a:solidFill>
              </a:defRPr>
            </a:pPr>
            <a:r>
              <a:t>1. 故事揭露了年輕世代參與網路犯罪的獨特動機，可能出於「好玩」或追求另類認同，而非僅為金錢。</a:t>
            </a:r>
          </a:p>
          <a:p>
            <a:pPr>
              <a:spcAft>
                <a:spcPts val="600"/>
              </a:spcAft>
              <a:defRPr sz="1200">
                <a:solidFill>
                  <a:srgbClr val="0F172A"/>
                </a:solidFill>
              </a:defRPr>
            </a:pPr>
            <a:r>
              <a:t>2. 探討代際間對財富、成功與道德標準的認知差異，以及科技如何放大這些分歧。</a:t>
            </a:r>
          </a:p>
          <a:p>
            <a:pPr>
              <a:spcAft>
                <a:spcPts val="600"/>
              </a:spcAft>
              <a:defRPr sz="1200">
                <a:solidFill>
                  <a:srgbClr val="0F172A"/>
                </a:solidFill>
              </a:defRPr>
            </a:pPr>
            <a:r>
              <a:t>3. 小說預示了在網路匿名性下，群體行為被煽動和操縱的社會風險與後果。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3：逆向誘拐四重推演鏈  ｜  版型 4：連鎖論法 (Chain / Flow)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4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主張：《逆向誘拐》透過「非綁架人質 → 綁架數位資產 → 勒索贖金反向流動 → 跨階級財富重分配」的四重因果鏈，徹底打破傳統綁架勒索公式。</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文善《逆向誘拐》敘事結構與金融科技犯罪模型對照</a:t>
            </a:r>
          </a:p>
        </p:txBody>
      </p:sp>
      <p:sp>
        <p:nvSpPr>
          <p:cNvPr id="7" name="Right Arrow 6"/>
          <p:cNvSpPr/>
          <p:nvPr/>
        </p:nvSpPr>
        <p:spPr>
          <a:xfrm>
            <a:off x="731520" y="1783080"/>
            <a:ext cx="10728655" cy="347472"/>
          </a:xfrm>
          <a:prstGeom prst="rightArrow">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顛覆綁架公式：從實體肉體人質 ───► 穿透至數位資產逆向贖金流動</a:t>
            </a:r>
          </a:p>
        </p:txBody>
      </p:sp>
      <p:sp>
        <p:nvSpPr>
          <p:cNvPr id="8" name="Chevron 7"/>
          <p:cNvSpPr/>
          <p:nvPr/>
        </p:nvSpPr>
        <p:spPr>
          <a:xfrm>
            <a:off x="731520"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非綁架人質</a:t>
            </a:r>
          </a:p>
        </p:txBody>
      </p:sp>
      <p:sp>
        <p:nvSpPr>
          <p:cNvPr id="9" name="Rounded Rectangle 8"/>
          <p:cNvSpPr/>
          <p:nvPr/>
        </p:nvSpPr>
        <p:spPr>
          <a:xfrm>
            <a:off x="731520"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46120"/>
            <a:ext cx="2236393" cy="2743200"/>
          </a:xfrm>
          <a:prstGeom prst="rect">
            <a:avLst/>
          </a:prstGeom>
          <a:noFill/>
        </p:spPr>
        <p:txBody>
          <a:bodyPr wrap="square">
            <a:spAutoFit/>
          </a:bodyPr>
          <a:lstStyle/>
          <a:p>
            <a:pPr>
              <a:spcAft>
                <a:spcPts val="600"/>
              </a:spcAft>
              <a:defRPr sz="1200">
                <a:solidFill>
                  <a:srgbClr val="1F2937"/>
                </a:solidFill>
              </a:defRPr>
            </a:pPr>
            <a:r>
              <a:t>▪ 脫離傳統綁架模式，目標不再是活生生的人。</a:t>
            </a:r>
          </a:p>
          <a:p>
            <a:pPr>
              <a:spcAft>
                <a:spcPts val="600"/>
              </a:spcAft>
              <a:defRPr sz="1200">
                <a:solidFill>
                  <a:srgbClr val="1F2937"/>
                </a:solidFill>
              </a:defRPr>
            </a:pPr>
            <a:r>
              <a:t>▪ 避免了人質傷亡的道德困境，轉向非實體目標。</a:t>
            </a:r>
          </a:p>
          <a:p>
            <a:pPr>
              <a:spcAft>
                <a:spcPts val="600"/>
              </a:spcAft>
              <a:defRPr sz="1200">
                <a:solidFill>
                  <a:srgbClr val="1F2937"/>
                </a:solidFill>
              </a:defRPr>
            </a:pPr>
            <a:r>
              <a:t>▪ 使犯罪行為在法律和道德層面產生新的模糊區。</a:t>
            </a:r>
          </a:p>
        </p:txBody>
      </p:sp>
      <p:sp>
        <p:nvSpPr>
          <p:cNvPr id="11" name="Chevron 10"/>
          <p:cNvSpPr/>
          <p:nvPr/>
        </p:nvSpPr>
        <p:spPr>
          <a:xfrm>
            <a:off x="3470833"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綁架數位資產</a:t>
            </a:r>
          </a:p>
        </p:txBody>
      </p:sp>
      <p:sp>
        <p:nvSpPr>
          <p:cNvPr id="12" name="Rounded Rectangle 11"/>
          <p:cNvSpPr/>
          <p:nvPr/>
        </p:nvSpPr>
        <p:spPr>
          <a:xfrm>
            <a:off x="3470833"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7993" y="3246120"/>
            <a:ext cx="2236393" cy="2743200"/>
          </a:xfrm>
          <a:prstGeom prst="rect">
            <a:avLst/>
          </a:prstGeom>
          <a:noFill/>
        </p:spPr>
        <p:txBody>
          <a:bodyPr wrap="square">
            <a:spAutoFit/>
          </a:bodyPr>
          <a:lstStyle/>
          <a:p>
            <a:pPr>
              <a:spcAft>
                <a:spcPts val="600"/>
              </a:spcAft>
              <a:defRPr sz="1200">
                <a:solidFill>
                  <a:srgbClr val="1F2937"/>
                </a:solidFill>
              </a:defRPr>
            </a:pPr>
            <a:r>
              <a:t>▪ 目標轉向高價值的商業機密文件。</a:t>
            </a:r>
          </a:p>
          <a:p>
            <a:pPr>
              <a:spcAft>
                <a:spcPts val="600"/>
              </a:spcAft>
              <a:defRPr sz="1200">
                <a:solidFill>
                  <a:srgbClr val="1F2937"/>
                </a:solidFill>
              </a:defRPr>
            </a:pPr>
            <a:r>
              <a:t>▪ 利用數位化特性，可快速複製、散佈與銷毀。</a:t>
            </a:r>
          </a:p>
          <a:p>
            <a:pPr>
              <a:spcAft>
                <a:spcPts val="600"/>
              </a:spcAft>
              <a:defRPr sz="1200">
                <a:solidFill>
                  <a:srgbClr val="1F2937"/>
                </a:solidFill>
              </a:defRPr>
            </a:pPr>
            <a:r>
              <a:t>▪ 突顯了數位時代下數據資產的重要性及脆弱性。</a:t>
            </a:r>
          </a:p>
        </p:txBody>
      </p:sp>
      <p:sp>
        <p:nvSpPr>
          <p:cNvPr id="14" name="Chevron 13"/>
          <p:cNvSpPr/>
          <p:nvPr/>
        </p:nvSpPr>
        <p:spPr>
          <a:xfrm>
            <a:off x="6210147"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勒索贖金反向流動</a:t>
            </a:r>
          </a:p>
        </p:txBody>
      </p:sp>
      <p:sp>
        <p:nvSpPr>
          <p:cNvPr id="15" name="Rounded Rectangle 14"/>
          <p:cNvSpPr/>
          <p:nvPr/>
        </p:nvSpPr>
        <p:spPr>
          <a:xfrm>
            <a:off x="6210147"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7307" y="3246120"/>
            <a:ext cx="2236393" cy="2743200"/>
          </a:xfrm>
          <a:prstGeom prst="rect">
            <a:avLst/>
          </a:prstGeom>
          <a:noFill/>
        </p:spPr>
        <p:txBody>
          <a:bodyPr wrap="square">
            <a:spAutoFit/>
          </a:bodyPr>
          <a:lstStyle/>
          <a:p>
            <a:pPr>
              <a:spcAft>
                <a:spcPts val="600"/>
              </a:spcAft>
              <a:defRPr sz="1200">
                <a:solidFill>
                  <a:srgbClr val="1F2937"/>
                </a:solidFill>
              </a:defRPr>
            </a:pPr>
            <a:r>
              <a:t>▪ 贖金不是直接金錢，而是要求「不公開機密」。</a:t>
            </a:r>
          </a:p>
          <a:p>
            <a:pPr>
              <a:spcAft>
                <a:spcPts val="600"/>
              </a:spcAft>
              <a:defRPr sz="1200">
                <a:solidFill>
                  <a:srgbClr val="1F2937"/>
                </a:solidFill>
              </a:defRPr>
            </a:pPr>
            <a:r>
              <a:t>▪ 其價值體現在機密的保持，而非金錢的轉移。</a:t>
            </a:r>
          </a:p>
          <a:p>
            <a:pPr>
              <a:spcAft>
                <a:spcPts val="600"/>
              </a:spcAft>
              <a:defRPr sz="1200">
                <a:solidFill>
                  <a:srgbClr val="1F2937"/>
                </a:solidFill>
              </a:defRPr>
            </a:pPr>
            <a:r>
              <a:t>▪ 綁匪透過市場恐慌間接獲利或達到其他目的。</a:t>
            </a:r>
          </a:p>
        </p:txBody>
      </p:sp>
      <p:sp>
        <p:nvSpPr>
          <p:cNvPr id="17" name="Chevron 16"/>
          <p:cNvSpPr/>
          <p:nvPr/>
        </p:nvSpPr>
        <p:spPr>
          <a:xfrm>
            <a:off x="8949461" y="2286000"/>
            <a:ext cx="2510713" cy="685800"/>
          </a:xfrm>
          <a:prstGeom prst="chevron">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跨階級財富重分配</a:t>
            </a:r>
          </a:p>
        </p:txBody>
      </p:sp>
      <p:sp>
        <p:nvSpPr>
          <p:cNvPr id="18" name="Rounded Rectangle 17"/>
          <p:cNvSpPr/>
          <p:nvPr/>
        </p:nvSpPr>
        <p:spPr>
          <a:xfrm>
            <a:off x="8949461"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6621" y="3246120"/>
            <a:ext cx="2236393" cy="2743200"/>
          </a:xfrm>
          <a:prstGeom prst="rect">
            <a:avLst/>
          </a:prstGeom>
          <a:noFill/>
        </p:spPr>
        <p:txBody>
          <a:bodyPr wrap="square">
            <a:spAutoFit/>
          </a:bodyPr>
          <a:lstStyle/>
          <a:p>
            <a:pPr>
              <a:spcAft>
                <a:spcPts val="600"/>
              </a:spcAft>
              <a:defRPr sz="1200">
                <a:solidFill>
                  <a:srgbClr val="1F2937"/>
                </a:solidFill>
              </a:defRPr>
            </a:pPr>
            <a:r>
              <a:t>▪ 操作股價與企業聲譽，對既得利益階層造成打擊。</a:t>
            </a:r>
          </a:p>
          <a:p>
            <a:pPr>
              <a:spcAft>
                <a:spcPts val="600"/>
              </a:spcAft>
              <a:defRPr sz="1200">
                <a:solidFill>
                  <a:srgbClr val="1F2937"/>
                </a:solidFill>
              </a:defRPr>
            </a:pPr>
            <a:r>
              <a:t>▪ 動員網絡社群，實現去中心化的社會運動。</a:t>
            </a:r>
          </a:p>
          <a:p>
            <a:pPr>
              <a:spcAft>
                <a:spcPts val="600"/>
              </a:spcAft>
              <a:defRPr sz="1200">
                <a:solidFill>
                  <a:srgbClr val="1F2937"/>
                </a:solidFill>
              </a:defRPr>
            </a:pPr>
            <a:r>
              <a:t>▪ 在不直接動用武力的情況下，實現財富與權力結構的再平衡。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核心發現 4：投資銀行併購危機演進  ｜  版型 5：麥肯錫矩陣論法 (McKinsey Flow)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5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主張：逆向誘拐機制於投資銀行併購危機中演進，從「機密外洩恐慌」逐步升級至「金融市場失序」，並揭示了「幕後操盤者」深層的社會目的。</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投資銀行跨國併購與資訊安全防護流程分析</a:t>
            </a:r>
          </a:p>
        </p:txBody>
      </p:sp>
      <p:sp>
        <p:nvSpPr>
          <p:cNvPr id="7" name="Chevron 6"/>
          <p:cNvSpPr/>
          <p:nvPr/>
        </p:nvSpPr>
        <p:spPr>
          <a:xfrm>
            <a:off x="2880360" y="1783080"/>
            <a:ext cx="1606235"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商業機密文件遺失</a:t>
            </a:r>
          </a:p>
        </p:txBody>
      </p:sp>
      <p:sp>
        <p:nvSpPr>
          <p:cNvPr id="8" name="Chevron 7"/>
          <p:cNvSpPr/>
          <p:nvPr/>
        </p:nvSpPr>
        <p:spPr>
          <a:xfrm>
            <a:off x="4623755" y="1783080"/>
            <a:ext cx="1606235"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贖金要求：公開機密</a:t>
            </a:r>
          </a:p>
        </p:txBody>
      </p:sp>
      <p:sp>
        <p:nvSpPr>
          <p:cNvPr id="9" name="Chevron 8"/>
          <p:cNvSpPr/>
          <p:nvPr/>
        </p:nvSpPr>
        <p:spPr>
          <a:xfrm>
            <a:off x="6367150" y="1783080"/>
            <a:ext cx="1606235"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社群媒體動員</a:t>
            </a:r>
          </a:p>
        </p:txBody>
      </p:sp>
      <p:sp>
        <p:nvSpPr>
          <p:cNvPr id="10" name="Chevron 9"/>
          <p:cNvSpPr/>
          <p:nvPr/>
        </p:nvSpPr>
        <p:spPr>
          <a:xfrm>
            <a:off x="8110545" y="1783080"/>
            <a:ext cx="1606235"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市場恐慌與股價暴跌</a:t>
            </a:r>
          </a:p>
        </p:txBody>
      </p:sp>
      <p:sp>
        <p:nvSpPr>
          <p:cNvPr id="11" name="Chevron 10"/>
          <p:cNvSpPr/>
          <p:nvPr/>
        </p:nvSpPr>
        <p:spPr>
          <a:xfrm>
            <a:off x="9853940" y="1783080"/>
            <a:ext cx="1606235"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隱藏動機與幕後操控</a:t>
            </a:r>
          </a:p>
        </p:txBody>
      </p:sp>
      <p:sp>
        <p:nvSpPr>
          <p:cNvPr id="12" name="Rectangle 11"/>
          <p:cNvSpPr/>
          <p:nvPr/>
        </p:nvSpPr>
        <p:spPr>
          <a:xfrm>
            <a:off x="731520" y="2514600"/>
            <a:ext cx="2011680" cy="1249679"/>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主要行為者</a:t>
            </a:r>
          </a:p>
        </p:txBody>
      </p:sp>
      <p:sp>
        <p:nvSpPr>
          <p:cNvPr id="13" name="Rounded Rectangle 12"/>
          <p:cNvSpPr/>
          <p:nvPr/>
        </p:nvSpPr>
        <p:spPr>
          <a:xfrm>
            <a:off x="2880360" y="251460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2606040"/>
            <a:ext cx="1423355" cy="1066799"/>
          </a:xfrm>
          <a:prstGeom prst="rect">
            <a:avLst/>
          </a:prstGeom>
          <a:noFill/>
        </p:spPr>
        <p:txBody>
          <a:bodyPr wrap="square">
            <a:spAutoFit/>
          </a:bodyPr>
          <a:lstStyle/>
          <a:p>
            <a:pPr>
              <a:defRPr sz="1150">
                <a:solidFill>
                  <a:srgbClr val="1F2937"/>
                </a:solidFill>
              </a:defRPr>
            </a:pPr>
            <a:r>
              <a:t>公司高層</a:t>
            </a:r>
          </a:p>
        </p:txBody>
      </p:sp>
      <p:sp>
        <p:nvSpPr>
          <p:cNvPr id="15" name="Rounded Rectangle 14"/>
          <p:cNvSpPr/>
          <p:nvPr/>
        </p:nvSpPr>
        <p:spPr>
          <a:xfrm>
            <a:off x="4623755" y="251460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15195" y="2606040"/>
            <a:ext cx="1423355" cy="1066799"/>
          </a:xfrm>
          <a:prstGeom prst="rect">
            <a:avLst/>
          </a:prstGeom>
          <a:noFill/>
        </p:spPr>
        <p:txBody>
          <a:bodyPr wrap="square">
            <a:spAutoFit/>
          </a:bodyPr>
          <a:lstStyle/>
          <a:p>
            <a:pPr>
              <a:defRPr sz="1150">
                <a:solidFill>
                  <a:srgbClr val="1F2937"/>
                </a:solidFill>
              </a:defRPr>
            </a:pPr>
            <a:r>
              <a:t>綁匪</a:t>
            </a:r>
          </a:p>
        </p:txBody>
      </p:sp>
      <p:sp>
        <p:nvSpPr>
          <p:cNvPr id="17" name="Rounded Rectangle 16"/>
          <p:cNvSpPr/>
          <p:nvPr/>
        </p:nvSpPr>
        <p:spPr>
          <a:xfrm>
            <a:off x="6367150" y="251460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8590" y="2606040"/>
            <a:ext cx="1423355" cy="1066799"/>
          </a:xfrm>
          <a:prstGeom prst="rect">
            <a:avLst/>
          </a:prstGeom>
          <a:noFill/>
        </p:spPr>
        <p:txBody>
          <a:bodyPr wrap="square">
            <a:spAutoFit/>
          </a:bodyPr>
          <a:lstStyle/>
          <a:p>
            <a:pPr>
              <a:defRPr sz="1150">
                <a:solidFill>
                  <a:srgbClr val="1F2937"/>
                </a:solidFill>
              </a:defRPr>
            </a:pPr>
            <a:r>
              <a:t>網路大眾</a:t>
            </a:r>
          </a:p>
        </p:txBody>
      </p:sp>
      <p:sp>
        <p:nvSpPr>
          <p:cNvPr id="19" name="Rounded Rectangle 18"/>
          <p:cNvSpPr/>
          <p:nvPr/>
        </p:nvSpPr>
        <p:spPr>
          <a:xfrm>
            <a:off x="8110545" y="251460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985" y="2606040"/>
            <a:ext cx="1423355" cy="1066799"/>
          </a:xfrm>
          <a:prstGeom prst="rect">
            <a:avLst/>
          </a:prstGeom>
          <a:noFill/>
        </p:spPr>
        <p:txBody>
          <a:bodyPr wrap="square">
            <a:spAutoFit/>
          </a:bodyPr>
          <a:lstStyle/>
          <a:p>
            <a:pPr>
              <a:defRPr sz="1150">
                <a:solidFill>
                  <a:srgbClr val="1F2937"/>
                </a:solidFill>
              </a:defRPr>
            </a:pPr>
            <a:r>
              <a:t>股市投資人</a:t>
            </a:r>
          </a:p>
        </p:txBody>
      </p:sp>
      <p:sp>
        <p:nvSpPr>
          <p:cNvPr id="21" name="Rounded Rectangle 20"/>
          <p:cNvSpPr/>
          <p:nvPr/>
        </p:nvSpPr>
        <p:spPr>
          <a:xfrm>
            <a:off x="9853940" y="251460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45380" y="2606040"/>
            <a:ext cx="1423355" cy="1066799"/>
          </a:xfrm>
          <a:prstGeom prst="rect">
            <a:avLst/>
          </a:prstGeom>
          <a:noFill/>
        </p:spPr>
        <p:txBody>
          <a:bodyPr wrap="square">
            <a:spAutoFit/>
          </a:bodyPr>
          <a:lstStyle/>
          <a:p>
            <a:pPr>
              <a:defRPr sz="1150">
                <a:solidFill>
                  <a:srgbClr val="1F2937"/>
                </a:solidFill>
              </a:defRPr>
            </a:pPr>
            <a:r>
              <a:t>主謀</a:t>
            </a:r>
          </a:p>
        </p:txBody>
      </p:sp>
      <p:sp>
        <p:nvSpPr>
          <p:cNvPr id="23" name="Rectangle 22"/>
          <p:cNvSpPr/>
          <p:nvPr/>
        </p:nvSpPr>
        <p:spPr>
          <a:xfrm>
            <a:off x="731520" y="3901440"/>
            <a:ext cx="2011680" cy="1249679"/>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主要行動</a:t>
            </a:r>
          </a:p>
        </p:txBody>
      </p:sp>
      <p:sp>
        <p:nvSpPr>
          <p:cNvPr id="24" name="Rounded Rectangle 23"/>
          <p:cNvSpPr/>
          <p:nvPr/>
        </p:nvSpPr>
        <p:spPr>
          <a:xfrm>
            <a:off x="2880360" y="390144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71800" y="3992879"/>
            <a:ext cx="1423355" cy="1066799"/>
          </a:xfrm>
          <a:prstGeom prst="rect">
            <a:avLst/>
          </a:prstGeom>
          <a:noFill/>
        </p:spPr>
        <p:txBody>
          <a:bodyPr wrap="square">
            <a:spAutoFit/>
          </a:bodyPr>
          <a:lstStyle/>
          <a:p>
            <a:pPr>
              <a:defRPr sz="1150">
                <a:solidFill>
                  <a:srgbClr val="1F2937"/>
                </a:solidFill>
              </a:defRPr>
            </a:pPr>
            <a:r>
              <a:t>發現文件被盜，評估損失</a:t>
            </a:r>
          </a:p>
        </p:txBody>
      </p:sp>
      <p:sp>
        <p:nvSpPr>
          <p:cNvPr id="26" name="Rounded Rectangle 25"/>
          <p:cNvSpPr/>
          <p:nvPr/>
        </p:nvSpPr>
        <p:spPr>
          <a:xfrm>
            <a:off x="4623755" y="390144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15195" y="3992879"/>
            <a:ext cx="1423355" cy="1066799"/>
          </a:xfrm>
          <a:prstGeom prst="rect">
            <a:avLst/>
          </a:prstGeom>
          <a:noFill/>
        </p:spPr>
        <p:txBody>
          <a:bodyPr wrap="square">
            <a:spAutoFit/>
          </a:bodyPr>
          <a:lstStyle/>
          <a:p>
            <a:pPr>
              <a:defRPr sz="1150">
                <a:solidFill>
                  <a:srgbClr val="1F2937"/>
                </a:solidFill>
              </a:defRPr>
            </a:pPr>
            <a:r>
              <a:t>寄送勒索信件，要求支付</a:t>
            </a:r>
          </a:p>
        </p:txBody>
      </p:sp>
      <p:sp>
        <p:nvSpPr>
          <p:cNvPr id="28" name="Rounded Rectangle 27"/>
          <p:cNvSpPr/>
          <p:nvPr/>
        </p:nvSpPr>
        <p:spPr>
          <a:xfrm>
            <a:off x="6367150" y="390144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8590" y="3992879"/>
            <a:ext cx="1423355" cy="1066799"/>
          </a:xfrm>
          <a:prstGeom prst="rect">
            <a:avLst/>
          </a:prstGeom>
          <a:noFill/>
        </p:spPr>
        <p:txBody>
          <a:bodyPr wrap="square">
            <a:spAutoFit/>
          </a:bodyPr>
          <a:lstStyle/>
          <a:p>
            <a:pPr>
              <a:defRPr sz="1150">
                <a:solidFill>
                  <a:srgbClr val="1F2937"/>
                </a:solidFill>
              </a:defRPr>
            </a:pPr>
            <a:r>
              <a:t>傳播訊息，引導輿論</a:t>
            </a:r>
          </a:p>
        </p:txBody>
      </p:sp>
      <p:sp>
        <p:nvSpPr>
          <p:cNvPr id="30" name="Rounded Rectangle 29"/>
          <p:cNvSpPr/>
          <p:nvPr/>
        </p:nvSpPr>
        <p:spPr>
          <a:xfrm>
            <a:off x="8110545" y="390144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01985" y="3992879"/>
            <a:ext cx="1423355" cy="1066799"/>
          </a:xfrm>
          <a:prstGeom prst="rect">
            <a:avLst/>
          </a:prstGeom>
          <a:noFill/>
        </p:spPr>
        <p:txBody>
          <a:bodyPr wrap="square">
            <a:spAutoFit/>
          </a:bodyPr>
          <a:lstStyle/>
          <a:p>
            <a:pPr>
              <a:defRPr sz="1150">
                <a:solidFill>
                  <a:srgbClr val="1F2937"/>
                </a:solidFill>
              </a:defRPr>
            </a:pPr>
            <a:r>
              <a:t>恐慌性拋售，導致市值蒸發</a:t>
            </a:r>
          </a:p>
        </p:txBody>
      </p:sp>
      <p:sp>
        <p:nvSpPr>
          <p:cNvPr id="32" name="Rounded Rectangle 31"/>
          <p:cNvSpPr/>
          <p:nvPr/>
        </p:nvSpPr>
        <p:spPr>
          <a:xfrm>
            <a:off x="9853940" y="3901440"/>
            <a:ext cx="1606235"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45380" y="3992879"/>
            <a:ext cx="1423355" cy="1066799"/>
          </a:xfrm>
          <a:prstGeom prst="rect">
            <a:avLst/>
          </a:prstGeom>
          <a:noFill/>
        </p:spPr>
        <p:txBody>
          <a:bodyPr wrap="square">
            <a:spAutoFit/>
          </a:bodyPr>
          <a:lstStyle/>
          <a:p>
            <a:pPr>
              <a:defRPr sz="1150">
                <a:solidFill>
                  <a:srgbClr val="1F2937"/>
                </a:solidFill>
              </a:defRPr>
            </a:pPr>
            <a:r>
              <a:t>利用金融與社群機制達成目標</a:t>
            </a:r>
          </a:p>
        </p:txBody>
      </p:sp>
      <p:sp>
        <p:nvSpPr>
          <p:cNvPr id="34" name="Rectangle 33"/>
          <p:cNvSpPr/>
          <p:nvPr/>
        </p:nvSpPr>
        <p:spPr>
          <a:xfrm>
            <a:off x="731520" y="5288280"/>
            <a:ext cx="2011680" cy="124967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關鍵影響</a:t>
            </a:r>
          </a:p>
        </p:txBody>
      </p:sp>
      <p:sp>
        <p:nvSpPr>
          <p:cNvPr id="35" name="Rounded Rectangle 34"/>
          <p:cNvSpPr/>
          <p:nvPr/>
        </p:nvSpPr>
        <p:spPr>
          <a:xfrm>
            <a:off x="2880360" y="5288280"/>
            <a:ext cx="1606235"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1800" y="5379720"/>
            <a:ext cx="1423355" cy="1066799"/>
          </a:xfrm>
          <a:prstGeom prst="rect">
            <a:avLst/>
          </a:prstGeom>
          <a:noFill/>
        </p:spPr>
        <p:txBody>
          <a:bodyPr wrap="square">
            <a:spAutoFit/>
          </a:bodyPr>
          <a:lstStyle/>
          <a:p>
            <a:pPr>
              <a:defRPr sz="1150">
                <a:solidFill>
                  <a:srgbClr val="1F2937"/>
                </a:solidFill>
              </a:defRPr>
            </a:pPr>
            <a:r>
              <a:t>企業面臨信譽與經濟雙重危機</a:t>
            </a:r>
          </a:p>
        </p:txBody>
      </p:sp>
      <p:sp>
        <p:nvSpPr>
          <p:cNvPr id="37" name="Rounded Rectangle 36"/>
          <p:cNvSpPr/>
          <p:nvPr/>
        </p:nvSpPr>
        <p:spPr>
          <a:xfrm>
            <a:off x="4623755" y="5288280"/>
            <a:ext cx="1606235"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15195" y="5379720"/>
            <a:ext cx="1423355" cy="1066799"/>
          </a:xfrm>
          <a:prstGeom prst="rect">
            <a:avLst/>
          </a:prstGeom>
          <a:noFill/>
        </p:spPr>
        <p:txBody>
          <a:bodyPr wrap="square">
            <a:spAutoFit/>
          </a:bodyPr>
          <a:lstStyle/>
          <a:p>
            <a:pPr>
              <a:defRPr sz="1150">
                <a:solidFill>
                  <a:srgbClr val="1F2937"/>
                </a:solidFill>
              </a:defRPr>
            </a:pPr>
            <a:r>
              <a:t>勒索手法顛覆傳統，擴大影響力</a:t>
            </a:r>
          </a:p>
        </p:txBody>
      </p:sp>
      <p:sp>
        <p:nvSpPr>
          <p:cNvPr id="39" name="Rounded Rectangle 38"/>
          <p:cNvSpPr/>
          <p:nvPr/>
        </p:nvSpPr>
        <p:spPr>
          <a:xfrm>
            <a:off x="6367150" y="5288280"/>
            <a:ext cx="1606235"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58590" y="5379720"/>
            <a:ext cx="1423355" cy="1066799"/>
          </a:xfrm>
          <a:prstGeom prst="rect">
            <a:avLst/>
          </a:prstGeom>
          <a:noFill/>
        </p:spPr>
        <p:txBody>
          <a:bodyPr wrap="square">
            <a:spAutoFit/>
          </a:bodyPr>
          <a:lstStyle/>
          <a:p>
            <a:pPr>
              <a:defRPr sz="1150">
                <a:solidFill>
                  <a:srgbClr val="1F2937"/>
                </a:solidFill>
              </a:defRPr>
            </a:pPr>
            <a:r>
              <a:t>形成輿論壓力，加速危機蔓延</a:t>
            </a:r>
          </a:p>
        </p:txBody>
      </p:sp>
      <p:sp>
        <p:nvSpPr>
          <p:cNvPr id="41" name="Rounded Rectangle 40"/>
          <p:cNvSpPr/>
          <p:nvPr/>
        </p:nvSpPr>
        <p:spPr>
          <a:xfrm>
            <a:off x="8110545" y="5288280"/>
            <a:ext cx="1606235"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01985" y="5379720"/>
            <a:ext cx="1423355" cy="1066799"/>
          </a:xfrm>
          <a:prstGeom prst="rect">
            <a:avLst/>
          </a:prstGeom>
          <a:noFill/>
        </p:spPr>
        <p:txBody>
          <a:bodyPr wrap="square">
            <a:spAutoFit/>
          </a:bodyPr>
          <a:lstStyle/>
          <a:p>
            <a:pPr>
              <a:defRPr sz="1150">
                <a:solidFill>
                  <a:srgbClr val="1F2937"/>
                </a:solidFill>
              </a:defRPr>
            </a:pPr>
            <a:r>
              <a:t>加劇金融不穩定，造成社會恐慌</a:t>
            </a:r>
          </a:p>
        </p:txBody>
      </p:sp>
      <p:sp>
        <p:nvSpPr>
          <p:cNvPr id="43" name="Rounded Rectangle 42"/>
          <p:cNvSpPr/>
          <p:nvPr/>
        </p:nvSpPr>
        <p:spPr>
          <a:xfrm>
            <a:off x="9853940" y="5288280"/>
            <a:ext cx="1606235"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45380" y="5379720"/>
            <a:ext cx="1423355" cy="1066799"/>
          </a:xfrm>
          <a:prstGeom prst="rect">
            <a:avLst/>
          </a:prstGeom>
          <a:noFill/>
        </p:spPr>
        <p:txBody>
          <a:bodyPr wrap="square">
            <a:spAutoFit/>
          </a:bodyPr>
          <a:lstStyle/>
          <a:p>
            <a:pPr>
              <a:defRPr sz="1150">
                <a:solidFill>
                  <a:srgbClr val="1F2937"/>
                </a:solidFill>
              </a:defRPr>
            </a:pPr>
            <a:r>
              <a:t>實現財富再分配或社會秩序重構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核心發現 5：古典綁架 vs. 現代數位誘拐  ｜  版型 6：對立論法 (Opposition)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6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主張：文善《逆向誘拐》透過在犯罪標的、權力結構、技術門檻與道德正義四維度上與古典綁架對立，確立了現代數位勒索的新範式。</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犯罪學典範轉移：實體人質劫持 vs. 數據資產勒索</a:t>
            </a:r>
          </a:p>
        </p:txBody>
      </p:sp>
      <p:sp>
        <p:nvSpPr>
          <p:cNvPr id="7" name="Rectangle 6"/>
          <p:cNvSpPr/>
          <p:nvPr/>
        </p:nvSpPr>
        <p:spPr>
          <a:xfrm>
            <a:off x="2880360" y="1783080"/>
            <a:ext cx="4206240" cy="4572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傳統古典肉體綁架 (Physical Kidnapping)</a:t>
            </a:r>
          </a:p>
        </p:txBody>
      </p:sp>
      <p:sp>
        <p:nvSpPr>
          <p:cNvPr id="8" name="Rectangle 7"/>
          <p:cNvSpPr/>
          <p:nvPr/>
        </p:nvSpPr>
        <p:spPr>
          <a:xfrm>
            <a:off x="7223760" y="1783080"/>
            <a:ext cx="420624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現代高科技逆向誘拐 (Cyber Reverse Abduction)</a:t>
            </a:r>
          </a:p>
        </p:txBody>
      </p:sp>
      <p:sp>
        <p:nvSpPr>
          <p:cNvPr id="9" name="Rounded Rectangle 8"/>
          <p:cNvSpPr/>
          <p:nvPr/>
        </p:nvSpPr>
        <p:spPr>
          <a:xfrm>
            <a:off x="731520" y="237744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犯罪標的</a:t>
            </a:r>
          </a:p>
        </p:txBody>
      </p:sp>
      <p:sp>
        <p:nvSpPr>
          <p:cNvPr id="10" name="Rounded Rectangle 9"/>
          <p:cNvSpPr/>
          <p:nvPr/>
        </p:nvSpPr>
        <p:spPr>
          <a:xfrm>
            <a:off x="2880360" y="237744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423160"/>
            <a:ext cx="4023359" cy="777240"/>
          </a:xfrm>
          <a:prstGeom prst="rect">
            <a:avLst/>
          </a:prstGeom>
          <a:noFill/>
        </p:spPr>
        <p:txBody>
          <a:bodyPr wrap="square">
            <a:spAutoFit/>
          </a:bodyPr>
          <a:lstStyle/>
          <a:p>
            <a:pPr>
              <a:defRPr sz="1100">
                <a:solidFill>
                  <a:srgbClr val="1F2937"/>
                </a:solidFill>
              </a:defRPr>
            </a:pPr>
            <a:r>
              <a:t>活生生的人質，直接威脅生命。</a:t>
            </a:r>
          </a:p>
        </p:txBody>
      </p:sp>
      <p:sp>
        <p:nvSpPr>
          <p:cNvPr id="12" name="Rounded Rectangle 11"/>
          <p:cNvSpPr/>
          <p:nvPr/>
        </p:nvSpPr>
        <p:spPr>
          <a:xfrm>
            <a:off x="7223760" y="237744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2423160"/>
            <a:ext cx="4023359" cy="777240"/>
          </a:xfrm>
          <a:prstGeom prst="rect">
            <a:avLst/>
          </a:prstGeom>
          <a:noFill/>
        </p:spPr>
        <p:txBody>
          <a:bodyPr wrap="square">
            <a:spAutoFit/>
          </a:bodyPr>
          <a:lstStyle/>
          <a:p>
            <a:pPr>
              <a:defRPr sz="1100">
                <a:solidFill>
                  <a:srgbClr val="1F2937"/>
                </a:solidFill>
              </a:defRPr>
            </a:pPr>
            <a:r>
              <a:t>商業機密數位文件，影響企業存續與社會經濟。</a:t>
            </a:r>
          </a:p>
        </p:txBody>
      </p:sp>
      <p:sp>
        <p:nvSpPr>
          <p:cNvPr id="14" name="Rounded Rectangle 13"/>
          <p:cNvSpPr/>
          <p:nvPr/>
        </p:nvSpPr>
        <p:spPr>
          <a:xfrm>
            <a:off x="731520" y="333756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權力結構</a:t>
            </a:r>
          </a:p>
        </p:txBody>
      </p:sp>
      <p:sp>
        <p:nvSpPr>
          <p:cNvPr id="15" name="Rounded Rectangle 14"/>
          <p:cNvSpPr/>
          <p:nvPr/>
        </p:nvSpPr>
        <p:spPr>
          <a:xfrm>
            <a:off x="2880360" y="333756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3383280"/>
            <a:ext cx="4023359" cy="777240"/>
          </a:xfrm>
          <a:prstGeom prst="rect">
            <a:avLst/>
          </a:prstGeom>
          <a:noFill/>
        </p:spPr>
        <p:txBody>
          <a:bodyPr wrap="square">
            <a:spAutoFit/>
          </a:bodyPr>
          <a:lstStyle/>
          <a:p>
            <a:pPr>
              <a:defRPr sz="1100">
                <a:solidFill>
                  <a:srgbClr val="1F2937"/>
                </a:solidFill>
              </a:defRPr>
            </a:pPr>
            <a:r>
              <a:t>綁匪對人質和家屬的單向物理控制。</a:t>
            </a:r>
          </a:p>
        </p:txBody>
      </p:sp>
      <p:sp>
        <p:nvSpPr>
          <p:cNvPr id="17" name="Rounded Rectangle 16"/>
          <p:cNvSpPr/>
          <p:nvPr/>
        </p:nvSpPr>
        <p:spPr>
          <a:xfrm>
            <a:off x="7223760" y="333756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3383280"/>
            <a:ext cx="4023359" cy="777240"/>
          </a:xfrm>
          <a:prstGeom prst="rect">
            <a:avLst/>
          </a:prstGeom>
          <a:noFill/>
        </p:spPr>
        <p:txBody>
          <a:bodyPr wrap="square">
            <a:spAutoFit/>
          </a:bodyPr>
          <a:lstStyle/>
          <a:p>
            <a:pPr>
              <a:defRPr sz="1100">
                <a:solidFill>
                  <a:srgbClr val="1F2937"/>
                </a:solidFill>
              </a:defRPr>
            </a:pPr>
            <a:r>
              <a:t>綁匪發佈任務，社群成員自願參與，形成多重互動的權力網絡。</a:t>
            </a:r>
          </a:p>
        </p:txBody>
      </p:sp>
      <p:sp>
        <p:nvSpPr>
          <p:cNvPr id="19" name="Rounded Rectangle 18"/>
          <p:cNvSpPr/>
          <p:nvPr/>
        </p:nvSpPr>
        <p:spPr>
          <a:xfrm>
            <a:off x="731520" y="429768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技術門檻</a:t>
            </a:r>
          </a:p>
        </p:txBody>
      </p:sp>
      <p:sp>
        <p:nvSpPr>
          <p:cNvPr id="20" name="Rounded Rectangle 19"/>
          <p:cNvSpPr/>
          <p:nvPr/>
        </p:nvSpPr>
        <p:spPr>
          <a:xfrm>
            <a:off x="2880360" y="429768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343400"/>
            <a:ext cx="4023359" cy="777240"/>
          </a:xfrm>
          <a:prstGeom prst="rect">
            <a:avLst/>
          </a:prstGeom>
          <a:noFill/>
        </p:spPr>
        <p:txBody>
          <a:bodyPr wrap="square">
            <a:spAutoFit/>
          </a:bodyPr>
          <a:lstStyle/>
          <a:p>
            <a:pPr>
              <a:defRPr sz="1100">
                <a:solidFill>
                  <a:srgbClr val="1F2937"/>
                </a:solidFill>
              </a:defRPr>
            </a:pPr>
            <a:r>
              <a:t>需要實體的綁架、囚禁與藏匿技能。</a:t>
            </a:r>
          </a:p>
        </p:txBody>
      </p:sp>
      <p:sp>
        <p:nvSpPr>
          <p:cNvPr id="22" name="Rounded Rectangle 21"/>
          <p:cNvSpPr/>
          <p:nvPr/>
        </p:nvSpPr>
        <p:spPr>
          <a:xfrm>
            <a:off x="7223760" y="429768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4343400"/>
            <a:ext cx="4023359" cy="777240"/>
          </a:xfrm>
          <a:prstGeom prst="rect">
            <a:avLst/>
          </a:prstGeom>
          <a:noFill/>
        </p:spPr>
        <p:txBody>
          <a:bodyPr wrap="square">
            <a:spAutoFit/>
          </a:bodyPr>
          <a:lstStyle/>
          <a:p>
            <a:pPr>
              <a:defRPr sz="1100">
                <a:solidFill>
                  <a:srgbClr val="1F2937"/>
                </a:solidFill>
              </a:defRPr>
            </a:pPr>
            <a:r>
              <a:t>需要高階的網路入侵、數據分析與社群動員能力。</a:t>
            </a:r>
          </a:p>
        </p:txBody>
      </p:sp>
      <p:sp>
        <p:nvSpPr>
          <p:cNvPr id="24" name="Rounded Rectangle 23"/>
          <p:cNvSpPr/>
          <p:nvPr/>
        </p:nvSpPr>
        <p:spPr>
          <a:xfrm>
            <a:off x="731520" y="525780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道德正義</a:t>
            </a:r>
          </a:p>
        </p:txBody>
      </p:sp>
      <p:sp>
        <p:nvSpPr>
          <p:cNvPr id="25" name="Rounded Rectangle 24"/>
          <p:cNvSpPr/>
          <p:nvPr/>
        </p:nvSpPr>
        <p:spPr>
          <a:xfrm>
            <a:off x="2880360" y="525780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303520"/>
            <a:ext cx="4023359" cy="777240"/>
          </a:xfrm>
          <a:prstGeom prst="rect">
            <a:avLst/>
          </a:prstGeom>
          <a:noFill/>
        </p:spPr>
        <p:txBody>
          <a:bodyPr wrap="square">
            <a:spAutoFit/>
          </a:bodyPr>
          <a:lstStyle/>
          <a:p>
            <a:pPr>
              <a:defRPr sz="1100">
                <a:solidFill>
                  <a:srgbClr val="1F2937"/>
                </a:solidFill>
              </a:defRPr>
            </a:pPr>
            <a:r>
              <a:t>通常被視為單純的惡行，追求懲罰犯罪者。</a:t>
            </a:r>
          </a:p>
        </p:txBody>
      </p:sp>
      <p:sp>
        <p:nvSpPr>
          <p:cNvPr id="27" name="Rounded Rectangle 26"/>
          <p:cNvSpPr/>
          <p:nvPr/>
        </p:nvSpPr>
        <p:spPr>
          <a:xfrm>
            <a:off x="7223760" y="525780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5303520"/>
            <a:ext cx="4023359" cy="777240"/>
          </a:xfrm>
          <a:prstGeom prst="rect">
            <a:avLst/>
          </a:prstGeom>
          <a:noFill/>
        </p:spPr>
        <p:txBody>
          <a:bodyPr wrap="square">
            <a:spAutoFit/>
          </a:bodyPr>
          <a:lstStyle/>
          <a:p>
            <a:pPr>
              <a:defRPr sz="1100">
                <a:solidFill>
                  <a:srgbClr val="1F2937"/>
                </a:solidFill>
              </a:defRPr>
            </a:pPr>
            <a:r>
              <a:t>可能被視為對現有體制的反抗，試圖揭露不公或實現另類『正義』。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6：路那評論：香港金融與世代反叛  ｜  版型 2：並列論法 (Parallel)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7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主張：路那評論文善《逆向誘拐》成功批判了香港金融資本主義的深層弊病，並精準捕捉千禧世代在數位時代下的無力感與反叛行為。</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《經典也青春》EP602 文本深層解構分析</a:t>
            </a:r>
          </a:p>
        </p:txBody>
      </p:sp>
      <p:sp>
        <p:nvSpPr>
          <p:cNvPr id="7" name="Rounded Rectangle 6"/>
          <p:cNvSpPr/>
          <p:nvPr/>
        </p:nvSpPr>
        <p:spPr>
          <a:xfrm>
            <a:off x="731520" y="1828800"/>
            <a:ext cx="5250027"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5250027" cy="45720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香港金融資本主義批判</a:t>
            </a:r>
          </a:p>
        </p:txBody>
      </p:sp>
      <p:sp>
        <p:nvSpPr>
          <p:cNvPr id="9" name="TextBox 8"/>
          <p:cNvSpPr txBox="1"/>
          <p:nvPr/>
        </p:nvSpPr>
        <p:spPr>
          <a:xfrm>
            <a:off x="868680" y="2423160"/>
            <a:ext cx="4975707" cy="3657600"/>
          </a:xfrm>
          <a:prstGeom prst="rect">
            <a:avLst/>
          </a:prstGeom>
          <a:noFill/>
        </p:spPr>
        <p:txBody>
          <a:bodyPr wrap="square">
            <a:spAutoFit/>
          </a:bodyPr>
          <a:lstStyle/>
          <a:p>
            <a:pPr>
              <a:spcAft>
                <a:spcPts val="600"/>
              </a:spcAft>
              <a:defRPr sz="1200">
                <a:solidFill>
                  <a:srgbClr val="1F2937"/>
                </a:solidFill>
              </a:defRPr>
            </a:pPr>
            <a:r>
              <a:t>1. 小說以金融業為核心，揭示資本主義體系下資訊操控的巨大影響力。</a:t>
            </a:r>
          </a:p>
          <a:p>
            <a:pPr>
              <a:spcAft>
                <a:spcPts val="600"/>
              </a:spcAft>
              <a:defRPr sz="1200">
                <a:solidFill>
                  <a:srgbClr val="1F2937"/>
                </a:solidFill>
              </a:defRPr>
            </a:pPr>
            <a:r>
              <a:t>2. 透過勒索檔案的公開威脅，展示了企業聲譽和股價在現代社會中的脆弱性。</a:t>
            </a:r>
          </a:p>
          <a:p>
            <a:pPr>
              <a:spcAft>
                <a:spcPts val="600"/>
              </a:spcAft>
              <a:defRPr sz="1200">
                <a:solidFill>
                  <a:srgbClr val="1F2937"/>
                </a:solidFill>
              </a:defRPr>
            </a:pPr>
            <a:r>
              <a:t>3. 作者深入探討了金融機構在利益驅動下可能面臨的倫理挑戰與系統性風險。</a:t>
            </a:r>
          </a:p>
          <a:p>
            <a:pPr>
              <a:spcAft>
                <a:spcPts val="600"/>
              </a:spcAft>
              <a:defRPr sz="1200">
                <a:solidFill>
                  <a:srgbClr val="1F2937"/>
                </a:solidFill>
              </a:defRPr>
            </a:pPr>
            <a:r>
              <a:t>4. 預見了在金融市場與科技結合下，可能出現的新型態經濟犯罪與社會危機。</a:t>
            </a:r>
          </a:p>
        </p:txBody>
      </p:sp>
      <p:sp>
        <p:nvSpPr>
          <p:cNvPr id="10" name="Rounded Rectangle 9"/>
          <p:cNvSpPr/>
          <p:nvPr/>
        </p:nvSpPr>
        <p:spPr>
          <a:xfrm>
            <a:off x="6210147" y="1828800"/>
            <a:ext cx="5250027"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0147" y="1828800"/>
            <a:ext cx="5250027" cy="457200"/>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千禧世代的無力感與反叛</a:t>
            </a:r>
          </a:p>
        </p:txBody>
      </p:sp>
      <p:sp>
        <p:nvSpPr>
          <p:cNvPr id="12" name="TextBox 11"/>
          <p:cNvSpPr txBox="1"/>
          <p:nvPr/>
        </p:nvSpPr>
        <p:spPr>
          <a:xfrm>
            <a:off x="6347307" y="2423160"/>
            <a:ext cx="4975707" cy="3657600"/>
          </a:xfrm>
          <a:prstGeom prst="rect">
            <a:avLst/>
          </a:prstGeom>
          <a:noFill/>
        </p:spPr>
        <p:txBody>
          <a:bodyPr wrap="square">
            <a:spAutoFit/>
          </a:bodyPr>
          <a:lstStyle/>
          <a:p>
            <a:pPr>
              <a:spcAft>
                <a:spcPts val="600"/>
              </a:spcAft>
              <a:defRPr sz="1200">
                <a:solidFill>
                  <a:srgbClr val="1F2937"/>
                </a:solidFill>
              </a:defRPr>
            </a:pPr>
            <a:r>
              <a:t>1. 作品描繪年輕世代在既存社會結構中感到無力，轉而尋求另類方式發聲。</a:t>
            </a:r>
          </a:p>
          <a:p>
            <a:pPr>
              <a:spcAft>
                <a:spcPts val="600"/>
              </a:spcAft>
              <a:defRPr sz="1200">
                <a:solidFill>
                  <a:srgbClr val="1F2937"/>
                </a:solidFill>
              </a:defRPr>
            </a:pPr>
            <a:r>
              <a:t>2. 參與犯罪的動機多元，可能僅是為了「好玩」或追求認同，而非傳統金錢利益。</a:t>
            </a:r>
          </a:p>
          <a:p>
            <a:pPr>
              <a:spcAft>
                <a:spcPts val="600"/>
              </a:spcAft>
              <a:defRPr sz="1200">
                <a:solidFill>
                  <a:srgbClr val="1F2937"/>
                </a:solidFill>
              </a:defRPr>
            </a:pPr>
            <a:r>
              <a:t>3. 社群媒體成為動員與形塑集體行動的強大工具，賦予個人在匿名下影響力。</a:t>
            </a:r>
          </a:p>
          <a:p>
            <a:pPr>
              <a:spcAft>
                <a:spcPts val="600"/>
              </a:spcAft>
              <a:defRPr sz="1200">
                <a:solidFill>
                  <a:srgbClr val="1F2937"/>
                </a:solidFill>
              </a:defRPr>
            </a:pPr>
            <a:r>
              <a:t>4. 反思科技發展在帶來便利的同時，也可能被用於顛覆社會秩序與價值觀。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策略定位矩陣  ｜  版型 8：BCG 2x2 矩陣 (BCG Matrix)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8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主張：華文商業推理小說的競爭格局顯示，《逆向誘拐》以其高金融科技硬核度與深層社會世代批判，確立了獨特且具前瞻性的市場領導者地位。</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BCG 矩陣模型分析華文現代商業推理小說競爭格局</a:t>
            </a:r>
          </a:p>
        </p:txBody>
      </p:sp>
      <p:sp>
        <p:nvSpPr>
          <p:cNvPr id="7" name="Rectangle 6"/>
          <p:cNvSpPr/>
          <p:nvPr/>
        </p:nvSpPr>
        <p:spPr>
          <a:xfrm>
            <a:off x="731520" y="1783080"/>
            <a:ext cx="1097280" cy="3931920"/>
          </a:xfrm>
          <a:prstGeom prst="rect">
            <a:avLst/>
          </a:prstGeom>
          <a:solidFill>
            <a:srgbClr val="004F3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a:t>
            </a:r>
            <a:br/>
            <a:r>
              <a:t>社</a:t>
            </a:r>
            <a:br/>
            <a:r>
              <a:t>會</a:t>
            </a:r>
            <a:br/>
            <a:r>
              <a:t>世</a:t>
            </a:r>
            <a:br/>
            <a:r>
              <a:t>代</a:t>
            </a:r>
            <a:br/>
            <a:r>
              <a:t>深</a:t>
            </a:r>
            <a:br/>
            <a:r>
              <a:t>度</a:t>
            </a:r>
            <a:br/>
            <a:r>
              <a:t>│</a:t>
            </a:r>
            <a:br/>
            <a:r>
              <a:t>Y</a:t>
            </a:r>
            <a:br/>
            <a:r>
              <a:t>軸</a:t>
            </a:r>
            <a:br/>
            <a:r>
              <a:t>│</a:t>
            </a:r>
            <a:br/>
            <a:r>
              <a:t>單</a:t>
            </a:r>
            <a:br/>
            <a:r>
              <a:t>純</a:t>
            </a:r>
            <a:br/>
            <a:r>
              <a:t>詭</a:t>
            </a:r>
            <a:br/>
            <a:r>
              <a:t>計</a:t>
            </a:r>
            <a:br/>
            <a:r>
              <a:t>解</a:t>
            </a:r>
            <a:br/>
            <a:r>
              <a:t>謎</a:t>
            </a:r>
            <a:br/>
            <a:r>
              <a:t>▼</a:t>
            </a:r>
          </a:p>
        </p:txBody>
      </p:sp>
      <p:sp>
        <p:nvSpPr>
          <p:cNvPr id="8" name="Rectangle 7"/>
          <p:cNvSpPr/>
          <p:nvPr/>
        </p:nvSpPr>
        <p:spPr>
          <a:xfrm>
            <a:off x="1965960" y="5806440"/>
            <a:ext cx="6583680" cy="384048"/>
          </a:xfrm>
          <a:prstGeom prst="rect">
            <a:avLst/>
          </a:prstGeom>
          <a:solidFill>
            <a:srgbClr val="004F3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 傳統凶殺實體犯罪               X 軸：推理小說敘事維度               金融科技／數位資產高科技 ►</a:t>
            </a:r>
          </a:p>
        </p:txBody>
      </p:sp>
      <p:sp>
        <p:nvSpPr>
          <p:cNvPr id="9" name="Rounded Rectangle 8"/>
          <p:cNvSpPr/>
          <p:nvPr/>
        </p:nvSpPr>
        <p:spPr>
          <a:xfrm>
            <a:off x="1965960" y="1783080"/>
            <a:ext cx="3246120" cy="1874519"/>
          </a:xfrm>
          <a:prstGeom prst="roundRect">
            <a:avLst/>
          </a:prstGeom>
          <a:solidFill>
            <a:srgbClr val="DCFCE7"/>
          </a:solidFill>
          <a:ln w="2540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1874519"/>
            <a:ext cx="2971800" cy="1691639"/>
          </a:xfrm>
          <a:prstGeom prst="rect">
            <a:avLst/>
          </a:prstGeom>
          <a:noFill/>
        </p:spPr>
        <p:txBody>
          <a:bodyPr wrap="square">
            <a:spAutoFit/>
          </a:bodyPr>
          <a:lstStyle/>
          <a:p>
            <a:pPr>
              <a:spcAft>
                <a:spcPts val="400"/>
              </a:spcAft>
              <a:defRPr sz="1300" b="1">
                <a:solidFill>
                  <a:srgbClr val="004F32"/>
                </a:solidFill>
              </a:defRPr>
            </a:pPr>
            <a:r>
              <a:t>高金融科技，高社會批判</a:t>
            </a:r>
          </a:p>
          <a:p>
            <a:pPr>
              <a:defRPr sz="1100">
                <a:solidFill>
                  <a:srgbClr val="1F2937"/>
                </a:solidFill>
              </a:defRPr>
            </a:pPr>
            <a:r>
              <a:t>文善《逆向誘拐》精準結合金融科技與深層社會批判，開創商業推理新局，提供前瞻性且具現實意義的洞察。</a:t>
            </a:r>
          </a:p>
        </p:txBody>
      </p:sp>
      <p:sp>
        <p:nvSpPr>
          <p:cNvPr id="11" name="Rounded Rectangle 10"/>
          <p:cNvSpPr/>
          <p:nvPr/>
        </p:nvSpPr>
        <p:spPr>
          <a:xfrm>
            <a:off x="5303520" y="178308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80" y="1874519"/>
            <a:ext cx="2971800" cy="1691639"/>
          </a:xfrm>
          <a:prstGeom prst="rect">
            <a:avLst/>
          </a:prstGeom>
          <a:noFill/>
        </p:spPr>
        <p:txBody>
          <a:bodyPr wrap="square">
            <a:spAutoFit/>
          </a:bodyPr>
          <a:lstStyle/>
          <a:p>
            <a:pPr>
              <a:spcAft>
                <a:spcPts val="400"/>
              </a:spcAft>
              <a:defRPr sz="1300" b="1">
                <a:solidFill>
                  <a:srgbClr val="177B57"/>
                </a:solidFill>
              </a:defRPr>
            </a:pPr>
            <a:r>
              <a:t>高金融科技，低社會批判</a:t>
            </a:r>
          </a:p>
          <a:p>
            <a:pPr>
              <a:defRPr sz="1100">
                <a:solidFill>
                  <a:srgbClr val="1F2937"/>
                </a:solidFill>
              </a:defRPr>
            </a:pPr>
            <a:r>
              <a:t>此類作品重視技術細節與犯罪手法，但缺乏對社會結構與人性的深入反思，可能流於情節刺激而缺乏深度。</a:t>
            </a:r>
          </a:p>
        </p:txBody>
      </p:sp>
      <p:sp>
        <p:nvSpPr>
          <p:cNvPr id="13" name="Rounded Rectangle 12"/>
          <p:cNvSpPr/>
          <p:nvPr/>
        </p:nvSpPr>
        <p:spPr>
          <a:xfrm>
            <a:off x="1965960" y="379476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3886200"/>
            <a:ext cx="2971800" cy="1691639"/>
          </a:xfrm>
          <a:prstGeom prst="rect">
            <a:avLst/>
          </a:prstGeom>
          <a:noFill/>
        </p:spPr>
        <p:txBody>
          <a:bodyPr wrap="square">
            <a:spAutoFit/>
          </a:bodyPr>
          <a:lstStyle/>
          <a:p>
            <a:pPr>
              <a:spcAft>
                <a:spcPts val="400"/>
              </a:spcAft>
              <a:defRPr sz="1300" b="1">
                <a:solidFill>
                  <a:srgbClr val="177B57"/>
                </a:solidFill>
              </a:defRPr>
            </a:pPr>
            <a:r>
              <a:t>低金融科技，高社會批判</a:t>
            </a:r>
          </a:p>
          <a:p>
            <a:pPr>
              <a:defRPr sz="1100">
                <a:solidFill>
                  <a:srgbClr val="1F2937"/>
                </a:solidFill>
              </a:defRPr>
            </a:pPr>
            <a:r>
              <a:t>傳統社會派推理聚焦體制弊病與階級衝突，但未充分納入新科技對社會的影響，可能略顯時代脫節。</a:t>
            </a:r>
          </a:p>
        </p:txBody>
      </p:sp>
      <p:sp>
        <p:nvSpPr>
          <p:cNvPr id="15" name="Rounded Rectangle 14"/>
          <p:cNvSpPr/>
          <p:nvPr/>
        </p:nvSpPr>
        <p:spPr>
          <a:xfrm>
            <a:off x="5303520" y="379476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3886200"/>
            <a:ext cx="2971800" cy="1691639"/>
          </a:xfrm>
          <a:prstGeom prst="rect">
            <a:avLst/>
          </a:prstGeom>
          <a:noFill/>
        </p:spPr>
        <p:txBody>
          <a:bodyPr wrap="square">
            <a:spAutoFit/>
          </a:bodyPr>
          <a:lstStyle/>
          <a:p>
            <a:pPr>
              <a:spcAft>
                <a:spcPts val="400"/>
              </a:spcAft>
              <a:defRPr sz="1300" b="1">
                <a:solidFill>
                  <a:srgbClr val="177B57"/>
                </a:solidFill>
              </a:defRPr>
            </a:pPr>
            <a:r>
              <a:t>低金融科技，低社會批判</a:t>
            </a:r>
          </a:p>
          <a:p>
            <a:pPr>
              <a:defRPr sz="1100">
                <a:solidFill>
                  <a:srgbClr val="1F2937"/>
                </a:solidFill>
              </a:defRPr>
            </a:pPr>
            <a:r>
              <a:t>傳統本格推理注重謎團設計與邏輯解謎，社會議題探討較少，主要服務於純粹的智力挑戰。</a:t>
            </a:r>
          </a:p>
        </p:txBody>
      </p:sp>
      <p:sp>
        <p:nvSpPr>
          <p:cNvPr id="17" name="Rounded Rectangle 16"/>
          <p:cNvSpPr/>
          <p:nvPr/>
        </p:nvSpPr>
        <p:spPr>
          <a:xfrm>
            <a:off x="8778240" y="1783080"/>
            <a:ext cx="2651760" cy="4389120"/>
          </a:xfrm>
          <a:prstGeom prst="roundRect">
            <a:avLst/>
          </a:prstGeom>
          <a:solidFill>
            <a:srgbClr val="F3F4F6"/>
          </a:solidFill>
          <a:ln w="1905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1920240"/>
            <a:ext cx="2377440" cy="4114800"/>
          </a:xfrm>
          <a:prstGeom prst="rect">
            <a:avLst/>
          </a:prstGeom>
          <a:noFill/>
        </p:spPr>
        <p:txBody>
          <a:bodyPr wrap="square">
            <a:spAutoFit/>
          </a:bodyPr>
          <a:lstStyle/>
          <a:p>
            <a:pPr>
              <a:spcAft>
                <a:spcPts val="800"/>
              </a:spcAft>
              <a:defRPr sz="1400" b="1">
                <a:solidFill>
                  <a:srgbClr val="177B57"/>
                </a:solidFill>
              </a:defRPr>
            </a:pPr>
            <a:r>
              <a:t>🎯 BCG 策略啟示</a:t>
            </a:r>
          </a:p>
          <a:p>
            <a:pPr>
              <a:spcAft>
                <a:spcPts val="800"/>
              </a:spcAft>
              <a:defRPr sz="1100">
                <a:solidFill>
                  <a:srgbClr val="1F2937"/>
                </a:solidFill>
              </a:defRPr>
            </a:pPr>
            <a:r>
              <a:t>• 【雙重平衡】不走極端學術晦澀，亦不流於快餐膚淺。</a:t>
            </a:r>
          </a:p>
          <a:p>
            <a:pPr>
              <a:spcAft>
                <a:spcPts val="800"/>
              </a:spcAft>
              <a:defRPr sz="1100">
                <a:solidFill>
                  <a:srgbClr val="1F2937"/>
                </a:solidFill>
              </a:defRPr>
            </a:pPr>
            <a:r>
              <a:t>• 【國際破圈】以大眾百合小說為載體，包覆深刻後殖民反思。</a:t>
            </a:r>
          </a:p>
          <a:p>
            <a:pPr>
              <a:spcAft>
                <a:spcPts val="800"/>
              </a:spcAft>
              <a:defRPr sz="1100">
                <a:solidFill>
                  <a:srgbClr val="1F2937"/>
                </a:solidFill>
              </a:defRPr>
            </a:pPr>
            <a:r>
              <a:t>• 【出海範式】為臺灣在地經驗走向全球提供可複製的經典路徑。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A100FF"/>
                </a:solidFill>
              </a:defRPr>
            </a:pPr>
            <a:r>
              <a:t>落地實踐行動建議  ｜  版型 2：並列論法 (Parallel)  ｜  Accenture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9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111827"/>
                </a:solidFill>
              </a:defRPr>
            </a:pPr>
            <a:r>
              <a:t>① 主張：為深化華文推理文學影響力，應透過「金融推理專題導讀」、「鼓勵專業領域取材」及「強化跨媒介轉譯」三大策略，全面落地《逆向誘拐》的創新模式。</a:t>
            </a:r>
          </a:p>
        </p:txBody>
      </p:sp>
      <p:sp>
        <p:nvSpPr>
          <p:cNvPr id="5" name="Rectangle 4"/>
          <p:cNvSpPr/>
          <p:nvPr/>
        </p:nvSpPr>
        <p:spPr>
          <a:xfrm>
            <a:off x="731520" y="1572768"/>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《經典也青春》EP602 文本深層解構分析</a:t>
            </a:r>
          </a:p>
        </p:txBody>
      </p:sp>
      <p:sp>
        <p:nvSpPr>
          <p:cNvPr id="7" name="Rounded Rectangle 6"/>
          <p:cNvSpPr/>
          <p:nvPr/>
        </p:nvSpPr>
        <p:spPr>
          <a:xfrm>
            <a:off x="731520"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短期實踐：金融推理讀者導讀</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0F172A"/>
                </a:solidFill>
              </a:defRPr>
            </a:pPr>
            <a:r>
              <a:t>1. 策劃《逆向誘拐》等金融科技推理作品的專題導讀會或讀書會。</a:t>
            </a:r>
          </a:p>
          <a:p>
            <a:pPr>
              <a:spcAft>
                <a:spcPts val="600"/>
              </a:spcAft>
              <a:defRPr sz="1200">
                <a:solidFill>
                  <a:srgbClr val="0F172A"/>
                </a:solidFill>
              </a:defRPr>
            </a:pPr>
            <a:r>
              <a:t>2. 引導讀者理解數位時代新型態資產、網路勒索與金融犯罪的本質。</a:t>
            </a:r>
          </a:p>
          <a:p>
            <a:pPr>
              <a:spcAft>
                <a:spcPts val="600"/>
              </a:spcAft>
              <a:defRPr sz="1200">
                <a:solidFill>
                  <a:srgbClr val="0F172A"/>
                </a:solidFill>
              </a:defRPr>
            </a:pPr>
            <a:r>
              <a:t>3. 舉辦線上論壇或講座，邀請金融專業人士與推理評論家共同解析作品內涵。</a:t>
            </a:r>
          </a:p>
        </p:txBody>
      </p:sp>
      <p:sp>
        <p:nvSpPr>
          <p:cNvPr id="10" name="Rounded Rectangle 9"/>
          <p:cNvSpPr/>
          <p:nvPr/>
        </p:nvSpPr>
        <p:spPr>
          <a:xfrm>
            <a:off x="4383938"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中期推進：創作者專業領域取材</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0F172A"/>
                </a:solidFill>
              </a:defRPr>
            </a:pPr>
            <a:r>
              <a:t>1. 鼓勵華文推理創作者深耕自身專業領域（如金融、科技、法律、醫療）。</a:t>
            </a:r>
          </a:p>
          <a:p>
            <a:pPr>
              <a:spcAft>
                <a:spcPts val="600"/>
              </a:spcAft>
              <a:defRPr sz="1200">
                <a:solidFill>
                  <a:srgbClr val="0F172A"/>
                </a:solidFill>
              </a:defRPr>
            </a:pPr>
            <a:r>
              <a:t>2. 透過跨界知識的深度融合，開拓更多元、更具現實關懷的推理題材。</a:t>
            </a:r>
          </a:p>
          <a:p>
            <a:pPr>
              <a:spcAft>
                <a:spcPts val="600"/>
              </a:spcAft>
              <a:defRPr sz="1200">
                <a:solidFill>
                  <a:srgbClr val="0F172A"/>
                </a:solidFill>
              </a:defRPr>
            </a:pPr>
            <a:r>
              <a:t>3. 提供寫作工作坊與 mentorship，支持創作者將專業知識轉化為精彩故事。</a:t>
            </a:r>
          </a:p>
        </p:txBody>
      </p:sp>
      <p:sp>
        <p:nvSpPr>
          <p:cNvPr id="13" name="Rounded Rectangle 12"/>
          <p:cNvSpPr/>
          <p:nvPr/>
        </p:nvSpPr>
        <p:spPr>
          <a:xfrm>
            <a:off x="8036356"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長期制度：華文推理影視跨媒介轉譯</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0F172A"/>
                </a:solidFill>
              </a:defRPr>
            </a:pPr>
            <a:r>
              <a:t>1. 參考《逆向誘拐》的成功經驗，積極推動華文推理小說的影視化改編。</a:t>
            </a:r>
          </a:p>
          <a:p>
            <a:pPr>
              <a:spcAft>
                <a:spcPts val="600"/>
              </a:spcAft>
              <a:defRPr sz="1200">
                <a:solidFill>
                  <a:srgbClr val="0F172A"/>
                </a:solidFill>
              </a:defRPr>
            </a:pPr>
            <a:r>
              <a:t>2. 鼓勵影視產業投資高概念、具社會議題深度的推理IP，拓展市場影響力。</a:t>
            </a:r>
          </a:p>
          <a:p>
            <a:pPr>
              <a:spcAft>
                <a:spcPts val="600"/>
              </a:spcAft>
              <a:defRPr sz="1200">
                <a:solidFill>
                  <a:srgbClr val="0F172A"/>
                </a:solidFill>
              </a:defRPr>
            </a:pPr>
            <a:r>
              <a:t>3. 借鑒國際經驗，建立跨國合作機制，加速華文推理作品的出海與全球傳播。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終局結論：數位時代正義重構  ｜  版型 1：一對一論法 (One-to-One)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10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主張：數位時代下，真相與正義的定義被「多面向現實與非物理性犯罪」所重構，超越傳統實體範疇，亟需社會與法律體系更新應對。</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第3屆島田莊司推理小說獎評析 ｜ 《經典也青春》對談精華</a:t>
            </a:r>
          </a:p>
        </p:txBody>
      </p:sp>
      <p:sp>
        <p:nvSpPr>
          <p:cNvPr id="7" name="Rectangle 6"/>
          <p:cNvSpPr/>
          <p:nvPr/>
        </p:nvSpPr>
        <p:spPr>
          <a:xfrm>
            <a:off x="1965960" y="2377440"/>
            <a:ext cx="731520" cy="3291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2057400"/>
            <a:ext cx="1005840" cy="292608"/>
          </a:xfrm>
          <a:prstGeom prst="rect">
            <a:avLst/>
          </a:prstGeom>
          <a:noFill/>
        </p:spPr>
        <p:txBody>
          <a:bodyPr wrap="none">
            <a:spAutoFit/>
          </a:bodyPr>
          <a:lstStyle/>
          <a:p>
            <a:pPr algn="ctr">
              <a:defRPr sz="1200" b="1">
                <a:solidFill>
                  <a:srgbClr val="051C2C"/>
                </a:solidFill>
              </a:defRPr>
            </a:pPr>
            <a:r>
              <a:t>85%</a:t>
            </a:r>
          </a:p>
        </p:txBody>
      </p:sp>
      <p:sp>
        <p:nvSpPr>
          <p:cNvPr id="9" name="TextBox 8"/>
          <p:cNvSpPr txBox="1"/>
          <p:nvPr/>
        </p:nvSpPr>
        <p:spPr>
          <a:xfrm>
            <a:off x="1783080" y="5742432"/>
            <a:ext cx="1097280" cy="365760"/>
          </a:xfrm>
          <a:prstGeom prst="rect">
            <a:avLst/>
          </a:prstGeom>
          <a:noFill/>
        </p:spPr>
        <p:txBody>
          <a:bodyPr wrap="none">
            <a:spAutoFit/>
          </a:bodyPr>
          <a:lstStyle/>
          <a:p>
            <a:pPr algn="ctr">
              <a:defRPr sz="1150" b="1">
                <a:solidFill>
                  <a:srgbClr val="051C2C"/>
                </a:solidFill>
              </a:defRPr>
            </a:pPr>
            <a:r>
              <a:t>數位時代</a:t>
            </a:r>
          </a:p>
        </p:txBody>
      </p:sp>
      <p:sp>
        <p:nvSpPr>
          <p:cNvPr id="10" name="Rectangle 9"/>
          <p:cNvSpPr/>
          <p:nvPr/>
        </p:nvSpPr>
        <p:spPr>
          <a:xfrm>
            <a:off x="4800600" y="5088367"/>
            <a:ext cx="731520" cy="580912"/>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4768327"/>
            <a:ext cx="1005840" cy="292608"/>
          </a:xfrm>
          <a:prstGeom prst="rect">
            <a:avLst/>
          </a:prstGeom>
          <a:noFill/>
        </p:spPr>
        <p:txBody>
          <a:bodyPr wrap="none">
            <a:spAutoFit/>
          </a:bodyPr>
          <a:lstStyle/>
          <a:p>
            <a:pPr algn="ctr">
              <a:defRPr sz="1100" b="0">
                <a:solidFill>
                  <a:srgbClr val="64748B"/>
                </a:solidFill>
              </a:defRPr>
            </a:pPr>
            <a:r>
              <a:t>15%</a:t>
            </a:r>
          </a:p>
        </p:txBody>
      </p:sp>
      <p:sp>
        <p:nvSpPr>
          <p:cNvPr id="12" name="TextBox 11"/>
          <p:cNvSpPr txBox="1"/>
          <p:nvPr/>
        </p:nvSpPr>
        <p:spPr>
          <a:xfrm>
            <a:off x="4617720" y="5742432"/>
            <a:ext cx="1097280" cy="365760"/>
          </a:xfrm>
          <a:prstGeom prst="rect">
            <a:avLst/>
          </a:prstGeom>
          <a:noFill/>
        </p:spPr>
        <p:txBody>
          <a:bodyPr wrap="none">
            <a:spAutoFit/>
          </a:bodyPr>
          <a:lstStyle/>
          <a:p>
            <a:pPr algn="ctr">
              <a:defRPr sz="1150" b="0">
                <a:solidFill>
                  <a:srgbClr val="1F2937"/>
                </a:solidFill>
              </a:defRPr>
            </a:pPr>
            <a:r>
              <a:t>傳統物理範疇</a:t>
            </a:r>
          </a:p>
        </p:txBody>
      </p:sp>
      <p:sp>
        <p:nvSpPr>
          <p:cNvPr id="13" name="Rounded Rectangle 12"/>
          <p:cNvSpPr/>
          <p:nvPr/>
        </p:nvSpPr>
        <p:spPr>
          <a:xfrm>
            <a:off x="6949440" y="1828800"/>
            <a:ext cx="4480560" cy="429768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011680"/>
            <a:ext cx="4023360" cy="3931920"/>
          </a:xfrm>
          <a:prstGeom prst="rect">
            <a:avLst/>
          </a:prstGeom>
          <a:noFill/>
        </p:spPr>
        <p:txBody>
          <a:bodyPr wrap="square">
            <a:spAutoFit/>
          </a:bodyPr>
          <a:lstStyle/>
          <a:p>
            <a:pPr>
              <a:spcAft>
                <a:spcPts val="600"/>
              </a:spcAft>
              <a:defRPr sz="1400" b="1">
                <a:solidFill>
                  <a:srgbClr val="1E3A8A"/>
                </a:solidFill>
              </a:defRPr>
            </a:pPr>
            <a:r>
              <a:t>數位時代的真相與正義重構</a:t>
            </a:r>
          </a:p>
          <a:p>
            <a:pPr>
              <a:spcAft>
                <a:spcPts val="400"/>
              </a:spcAft>
              <a:defRPr sz="1150">
                <a:solidFill>
                  <a:srgbClr val="1F2937"/>
                </a:solidFill>
              </a:defRPr>
            </a:pPr>
            <a:r>
              <a:t>• 真相不再是單一、客觀的事實，而是多元視角下的資訊碎片與社群建構。</a:t>
            </a:r>
          </a:p>
          <a:p>
            <a:pPr>
              <a:spcAft>
                <a:spcPts val="400"/>
              </a:spcAft>
              <a:defRPr sz="1150">
                <a:solidFill>
                  <a:srgbClr val="1F2937"/>
                </a:solidFill>
              </a:defRPr>
            </a:pPr>
            <a:r>
              <a:t>• 正義不再僅限於懲罰具體的惡行，更包含對系統性不公與結構性壓迫的揭露與反抗。</a:t>
            </a:r>
          </a:p>
          <a:p>
            <a:pPr>
              <a:spcAft>
                <a:spcPts val="400"/>
              </a:spcAft>
              <a:defRPr sz="1150">
                <a:solidFill>
                  <a:srgbClr val="1F2937"/>
                </a:solidFill>
              </a:defRPr>
            </a:pPr>
            <a:r>
              <a:t>• 非物理性犯罪（如數據綁架、網路操縱）挑戰了傳統偵查與法律框架，要求新的解釋與應對機制。</a:t>
            </a:r>
          </a:p>
          <a:p>
            <a:pPr>
              <a:spcAft>
                <a:spcPts val="400"/>
              </a:spcAft>
              <a:defRPr sz="1150">
                <a:solidFill>
                  <a:srgbClr val="1F2937"/>
                </a:solidFill>
              </a:defRPr>
            </a:pPr>
            <a:r>
              <a:t>• 作品警示，在科技高度發展與社群快速動員的時代，每個人都可能在不自覺中成為共犯或受害者。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