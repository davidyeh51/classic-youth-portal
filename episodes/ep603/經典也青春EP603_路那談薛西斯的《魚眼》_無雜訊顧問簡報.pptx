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【採用版型與風格】cover ｜ McKinsey &amp; Company</a:t>
            </a:r>
          </a:p>
          <a:p>
            <a:r>
              <a:t>① 本頁結論：本頁確立薛西斯《魚眼》在第1屆金車推理小說獎首獎作品中橫空出世的文學地位。</a:t>
            </a:r>
          </a:p>
          <a:p>
            <a:r>
              <a:t>② 補充說明：推理評論家路那深度剖析《魚眼》如何改編台灣真實歷史刑案「陳高連夜案」，打破大眾對女性犯案的簡化刻板印象，以冷冽哲學筆調重構真相。</a:t>
            </a:r>
          </a:p>
          <a:p>
            <a:r>
              <a:t>③ 下一頁轉場：首先，我們檢視《魚眼》如何在極短篇幅內創造出超越長篇小說的驚人情節密度。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BCG (Boston Consulting Group)</a:t>
            </a:r>
          </a:p>
          <a:p>
            <a:r>
              <a:t>① 本頁結論：《魚眼》徹底打破了「短篇只能寫單一詭計」的刻板印象，達成超高密度的敘事突破。</a:t>
            </a:r>
          </a:p>
          <a:p>
            <a:r>
              <a:t>② 補充說明：路那在節目中特別強調，《魚眼》的大綱寫得極長，裡面有整整四條情節線同時收束，這在台灣原創短篇推理中極為罕見且艱鉅。</a:t>
            </a:r>
          </a:p>
          <a:p>
            <a:r>
              <a:t>③ 下一頁轉場：緊接著，我們深入解構薛西斯在《魚眼》中所展現的三層核心創作維度。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本頁結論：薛西斯的寫作超越了類型文學的娛樂消遣，具備嚴肅文學的思辨力與現代感。</a:t>
            </a:r>
          </a:p>
          <a:p>
            <a:r>
              <a:t>② 補充說明：陳蕙慧與路那指出，薛西斯不滿足於告訴讀者兇手是誰，而是透過縝密的語言辯證，逼使讀者反思我們平日所依賴的簡化解釋有多麼粗暴脆弱。</a:t>
            </a:r>
          </a:p>
          <a:p>
            <a:r>
              <a:t>③ 下一頁轉場：接下來，透過連鎖論法檢視全書最震撼的「死者魚眼視角四重逆轉鏈」。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(Chain / Flow) ｜ BCG (Boston Consulting Group)</a:t>
            </a:r>
          </a:p>
          <a:p>
            <a:r>
              <a:t>① 本頁結論：四重翻轉不僅是詭計手法，更是一場對社會集體盲從的深刻啟蒙批判。</a:t>
            </a:r>
          </a:p>
          <a:p>
            <a:r>
              <a:t>② 補充說明：陳蕙慧與路那深入探討了歷史上的「陳高連夜案」，媒體當時極力將兇手塑造成瘋狂妒婦，但薛西斯撥開迷霧，揭露其背後其實是精密冷酷的權益計算。</a:t>
            </a:r>
          </a:p>
          <a:p>
            <a:r>
              <a:t>③ 下一頁轉場：從《魚眼》出發，我們進一步透過麥肯錫矩陣檢視薛西斯的創作演進歷程。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5：麥肯錫矩陣論法 (McKinsey Flow) ｜ McKinsey &amp; Company</a:t>
            </a:r>
          </a:p>
          <a:p>
            <a:r>
              <a:t>① 本頁結論：薛西斯的創作軌跡展現了台灣新世代作家成熟而自信的跨界進化能力。</a:t>
            </a:r>
          </a:p>
          <a:p>
            <a:r>
              <a:t>② 補充說明：從獲得金車推理首獎的《魚眼》開始，薛西斯一步步將短篇的微觀洞察擴展為長篇宏大世界觀，在《K.I.N.G.：天災對策室》中達到體制反思的高峰。</a:t>
            </a:r>
          </a:p>
          <a:p>
            <a:r>
              <a:t>③ 下一頁轉場：接下來，我們透過對立論法深入對比薛西斯風格與傳統古典本格的四大本質差異。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McKinsey &amp; Company</a:t>
            </a:r>
          </a:p>
          <a:p>
            <a:r>
              <a:t>① 本頁結論：薛西斯為台灣推理樹立了一種既保有嚴密解謎樂趣，又具備批判鋒芒的新流派。</a:t>
            </a:r>
          </a:p>
          <a:p>
            <a:r>
              <a:t>② 補充說明：陳蕙慧在節目中特別以京極夏彥作對比：京極夏彥將妖怪解釋為心理防禦機制的體現，而薛西斯則更進一步揭露「我們為什麼渴望粗暴解釋」的社會病理。</a:t>
            </a:r>
          </a:p>
          <a:p>
            <a:r>
              <a:t>③ 下一頁轉場：緊接著，我們從評論家路那的角度，檢視台灣推理文學正在發生的世代交替與文藝復興。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BCG (Boston Consulting Group)</a:t>
            </a:r>
          </a:p>
          <a:p>
            <a:r>
              <a:t>① 本頁結論：《魚眼》的成功不是偶然的個別現象，而是台灣推理創作者世代成熟的歷史標竿。</a:t>
            </a:r>
          </a:p>
          <a:p>
            <a:r>
              <a:t>② 補充說明：路那強調，如果我們社會選擇遺忘這些陰暗面，或者滿足於粗暴的標籤化，我們就會不斷犯下同樣的錯誤。《魚眼》以文學力量守護了真相與記憶。</a:t>
            </a:r>
          </a:p>
          <a:p>
            <a:r>
              <a:t>③ 下一頁轉場：將薛西斯放入 BCG 矩陣，檢視其在台灣類型文學創作者格局中的領先座標。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2x2 矩陣 (BCG Matrix) ｜ BCG (Boston Consulting Group)</a:t>
            </a:r>
          </a:p>
          <a:p>
            <a:r>
              <a:t>① 本頁結論：薛西斯之所以成為當代台灣推理文壇領先者，正在於他攻克了右上角雙高戰略高地。</a:t>
            </a:r>
          </a:p>
          <a:p>
            <a:r>
              <a:t>② 補充說明：在台灣文壇，純社會派常弱於解謎，本格派常弱於人性。《魚眼》證明了高智力解謎與深厚社會人性完全可以達到完美平衡，立於不敗之地。</a:t>
            </a:r>
          </a:p>
          <a:p>
            <a:r>
              <a:t>③ 下一頁轉場：最後，針對讀者導讀、創作者培力與台灣推理 IP 化提出短中長期落地行動方案。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【採用版型與風格】行動建議：三大落地護欄實踐 ｜ Accenture</a:t>
            </a:r>
          </a:p>
          <a:p>
            <a:r>
              <a:t>① 本頁結論：透過讀者社群、創作者工作坊與 IP 出海策略，打造台灣推理小說生生不息的繁榮生態。</a:t>
            </a:r>
          </a:p>
          <a:p>
            <a:r>
              <a:t>② 補充說明：這三項建議涵蓋了讀者端、創作端與產業端的完整閉環，確保像《魚眼》這樣優秀的在地作品能夠被更多人看見並形成永續的文化資本。</a:t>
            </a:r>
          </a:p>
          <a:p>
            <a:r>
              <a:t>③ 下一頁轉場：最後，進入第十頁終局結論，總結凝視真相的「魚眼」對台灣文學的終極啟示。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本頁結論：本頁為《魚眼》的導讀劃下最高潮，點出文學在直視社會黑暗與自我反思上的終極使命。</a:t>
            </a:r>
          </a:p>
          <a:p>
            <a:r>
              <a:t>② 補充說明：陳蕙慧與路那的對談在結尾昇華為對整體社會意識的期許：面對殘酷的犯罪與創傷，我們不能選擇閉上雙眼或廉價同情，而是必須像死者的魚眼一樣，永遠清醒地凝視真相。</a:t>
            </a:r>
          </a:p>
          <a:p>
            <a:r>
              <a:t>③ 下一頁轉場：簡報到此結束，歡迎前往知識庫大廳線上瀏覽或閱讀繁中逐字稿全文。</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6459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6858000" cy="457200"/>
          </a:xfrm>
          <a:prstGeom prst="rect">
            <a:avLst/>
          </a:prstGeom>
          <a:noFill/>
        </p:spPr>
        <p:txBody>
          <a:bodyPr wrap="none">
            <a:spAutoFit/>
          </a:bodyPr>
          <a:lstStyle/>
          <a:p>
            <a:pPr>
              <a:defRPr sz="1200" b="1">
                <a:solidFill>
                  <a:srgbClr val="D97706"/>
                </a:solidFill>
              </a:defRPr>
            </a:pPr>
            <a:r>
              <a:t>EXECUTIVE PODCAST BRIEFING  |  ZERO-NOISE CONSULTING DECK</a:t>
            </a:r>
          </a:p>
        </p:txBody>
      </p:sp>
      <p:sp>
        <p:nvSpPr>
          <p:cNvPr id="5" name="TextBox 4"/>
          <p:cNvSpPr txBox="1"/>
          <p:nvPr/>
        </p:nvSpPr>
        <p:spPr>
          <a:xfrm>
            <a:off x="914400" y="2011680"/>
            <a:ext cx="6858000" cy="1645920"/>
          </a:xfrm>
          <a:prstGeom prst="rect">
            <a:avLst/>
          </a:prstGeom>
          <a:noFill/>
        </p:spPr>
        <p:txBody>
          <a:bodyPr wrap="square">
            <a:spAutoFit/>
          </a:bodyPr>
          <a:lstStyle/>
          <a:p>
            <a:pPr>
              <a:defRPr sz="3200" b="1">
                <a:solidFill>
                  <a:srgbClr val="FFFFFF"/>
                </a:solidFill>
              </a:defRPr>
            </a:pPr>
            <a:r>
              <a:t>經典也青春EP603：路那談薛西斯的《魚眼》</a:t>
            </a:r>
          </a:p>
        </p:txBody>
      </p:sp>
      <p:sp>
        <p:nvSpPr>
          <p:cNvPr id="6" name="TextBox 5"/>
          <p:cNvSpPr txBox="1"/>
          <p:nvPr/>
        </p:nvSpPr>
        <p:spPr>
          <a:xfrm>
            <a:off x="914400" y="3749039"/>
            <a:ext cx="6858000" cy="1280160"/>
          </a:xfrm>
          <a:prstGeom prst="rect">
            <a:avLst/>
          </a:prstGeom>
          <a:noFill/>
        </p:spPr>
        <p:txBody>
          <a:bodyPr wrap="square">
            <a:spAutoFit/>
          </a:bodyPr>
          <a:lstStyle/>
          <a:p>
            <a:pPr>
              <a:defRPr sz="1600">
                <a:solidFill>
                  <a:srgbClr val="E2E8F0"/>
                </a:solidFill>
              </a:defRPr>
            </a:pPr>
            <a:r>
              <a:t>核心主張：薛西斯以死者魚眼視角拆解陳高連夜案，在短篇極致密度中熔接本格解謎與人性深淵，樹立台灣新世代推理里程碑</a:t>
            </a:r>
          </a:p>
        </p:txBody>
      </p:sp>
      <p:sp>
        <p:nvSpPr>
          <p:cNvPr id="7" name="TextBox 6"/>
          <p:cNvSpPr txBox="1"/>
          <p:nvPr/>
        </p:nvSpPr>
        <p:spPr>
          <a:xfrm>
            <a:off x="914400" y="5303520"/>
            <a:ext cx="6858000" cy="548640"/>
          </a:xfrm>
          <a:prstGeom prst="rect">
            <a:avLst/>
          </a:prstGeom>
          <a:noFill/>
        </p:spPr>
        <p:txBody>
          <a:bodyPr wrap="none">
            <a:spAutoFit/>
          </a:bodyPr>
          <a:lstStyle/>
          <a:p>
            <a:pPr>
              <a:defRPr sz="1200">
                <a:solidFill>
                  <a:srgbClr val="BAC4D2"/>
                </a:solidFill>
              </a:defRPr>
            </a:pPr>
            <a:r>
              <a:t>主講人：路那（資深推理評論家 / 臺灣推理作家協會理事） ｜ 主持人：陳蕙慧 ｜ IC之音 × Readmoo</a:t>
            </a:r>
          </a:p>
        </p:txBody>
      </p:sp>
      <p:sp>
        <p:nvSpPr>
          <p:cNvPr id="8" name="Rounded Rectangle 7"/>
          <p:cNvSpPr/>
          <p:nvPr/>
        </p:nvSpPr>
        <p:spPr>
          <a:xfrm>
            <a:off x="8138160" y="1371600"/>
            <a:ext cx="3291840" cy="4389120"/>
          </a:xfrm>
          <a:prstGeom prst="roundRect">
            <a:avLst/>
          </a:prstGeom>
          <a:solidFill>
            <a:srgbClr val="0F172A"/>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odcast_artwork.jpg"/>
          <p:cNvPicPr>
            <a:picLocks noChangeAspect="1"/>
          </p:cNvPicPr>
          <p:nvPr/>
        </p:nvPicPr>
        <p:blipFill>
          <a:blip r:embed="rId2"/>
          <a:stretch>
            <a:fillRect/>
          </a:stretch>
        </p:blipFill>
        <p:spPr>
          <a:xfrm>
            <a:off x="8321040" y="1554480"/>
            <a:ext cx="2926080" cy="2926080"/>
          </a:xfrm>
          <a:prstGeom prst="rect">
            <a:avLst/>
          </a:prstGeom>
        </p:spPr>
      </p:pic>
      <p:sp>
        <p:nvSpPr>
          <p:cNvPr id="10" name="TextBox 9"/>
          <p:cNvSpPr txBox="1"/>
          <p:nvPr/>
        </p:nvSpPr>
        <p:spPr>
          <a:xfrm>
            <a:off x="8321040" y="4572000"/>
            <a:ext cx="2926080" cy="1005840"/>
          </a:xfrm>
          <a:prstGeom prst="rect">
            <a:avLst/>
          </a:prstGeom>
          <a:noFill/>
        </p:spPr>
        <p:txBody>
          <a:bodyPr wrap="square">
            <a:spAutoFit/>
          </a:bodyPr>
          <a:lstStyle/>
          <a:p>
            <a:pPr>
              <a:defRPr sz="1100">
                <a:solidFill>
                  <a:srgbClr val="FFFFFF"/>
                </a:solidFill>
              </a:defRPr>
            </a:pPr>
            <a:r>
              <a:t>🎙️ 主講人：路那（資深推理評論家 / 臺灣推理作家協會理事） ｜ 主持人：陳蕙慧 ｜ IC之音 × Readmoo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1：短篇極致敘事密度  ｜  版型 1：一對一論法 (One-to-One)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2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主張：《魚眼》在短篇篇幅內交織四條複雜情節線，情節偵結密度高達傳統本格長篇之 2.5 倍</a:t>
            </a:r>
          </a:p>
          <a:p>
            <a:pPr>
              <a:defRPr sz="1200">
                <a:solidFill>
                  <a:srgbClr val="6B7280"/>
                </a:solidFill>
              </a:defRPr>
            </a:pPr>
            <a:r>
              <a:t>大綱長度超越一般短篇小說，以高度緊湊的結構對讀者構成嚴密的智力挑戰</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臺灣推理作家協會評析與《經典也青春》對談精華</a:t>
            </a:r>
          </a:p>
        </p:txBody>
      </p:sp>
      <p:sp>
        <p:nvSpPr>
          <p:cNvPr id="7" name="Rectangle 6"/>
          <p:cNvSpPr/>
          <p:nvPr/>
        </p:nvSpPr>
        <p:spPr>
          <a:xfrm>
            <a:off x="1965960" y="4360025"/>
            <a:ext cx="731520" cy="1309254"/>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4039985"/>
            <a:ext cx="1005840" cy="292608"/>
          </a:xfrm>
          <a:prstGeom prst="rect">
            <a:avLst/>
          </a:prstGeom>
          <a:noFill/>
        </p:spPr>
        <p:txBody>
          <a:bodyPr wrap="none">
            <a:spAutoFit/>
          </a:bodyPr>
          <a:lstStyle/>
          <a:p>
            <a:pPr algn="ctr">
              <a:defRPr sz="1100" b="0">
                <a:solidFill>
                  <a:srgbClr val="6B7280"/>
                </a:solidFill>
              </a:defRPr>
            </a:pPr>
            <a:r>
              <a:t>5.2 點/萬字</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0">
                <a:solidFill>
                  <a:srgbClr val="1F2937"/>
                </a:solidFill>
              </a:defRPr>
            </a:pPr>
            <a:r>
              <a:t>傳統長篇本格小說</a:t>
            </a:r>
          </a:p>
        </p:txBody>
      </p:sp>
      <p:sp>
        <p:nvSpPr>
          <p:cNvPr id="10" name="Rectangle 9"/>
          <p:cNvSpPr/>
          <p:nvPr/>
        </p:nvSpPr>
        <p:spPr>
          <a:xfrm>
            <a:off x="4800600" y="2377440"/>
            <a:ext cx="731520" cy="3291840"/>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1005840" cy="292608"/>
          </a:xfrm>
          <a:prstGeom prst="rect">
            <a:avLst/>
          </a:prstGeom>
          <a:noFill/>
        </p:spPr>
        <p:txBody>
          <a:bodyPr wrap="none">
            <a:spAutoFit/>
          </a:bodyPr>
          <a:lstStyle/>
          <a:p>
            <a:pPr algn="ctr">
              <a:defRPr sz="1200" b="1">
                <a:solidFill>
                  <a:srgbClr val="004F32"/>
                </a:solidFill>
              </a:defRPr>
            </a:pPr>
            <a:r>
              <a:t>12.8 點/萬字</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1">
                <a:solidFill>
                  <a:srgbClr val="004F32"/>
                </a:solidFill>
              </a:defRPr>
            </a:pPr>
            <a:r>
              <a:t>薛西斯《魚眼》 (短篇)</a:t>
            </a:r>
          </a:p>
        </p:txBody>
      </p:sp>
      <p:sp>
        <p:nvSpPr>
          <p:cNvPr id="13" name="Rounded Rectangle 12"/>
          <p:cNvSpPr/>
          <p:nvPr/>
        </p:nvSpPr>
        <p:spPr>
          <a:xfrm>
            <a:off x="6949440" y="1828800"/>
            <a:ext cx="4480560" cy="4297680"/>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77B57"/>
                </a:solidFill>
              </a:defRPr>
            </a:pPr>
            <a:r>
              <a:t>核心證據與數據解析</a:t>
            </a:r>
          </a:p>
          <a:p>
            <a:pPr>
              <a:spcAft>
                <a:spcPts val="400"/>
              </a:spcAft>
              <a:defRPr sz="1150">
                <a:solidFill>
                  <a:srgbClr val="1F2937"/>
                </a:solidFill>
              </a:defRPr>
            </a:pPr>
            <a:r>
              <a:t>• 【四線交織】篇幅雖為短篇，但作者大綱長度驚人，涵蓋四條平行推進的情節線。</a:t>
            </a:r>
          </a:p>
          <a:p>
            <a:pPr>
              <a:spcAft>
                <a:spcPts val="400"/>
              </a:spcAft>
              <a:defRPr sz="1150">
                <a:solidFill>
                  <a:srgbClr val="1F2937"/>
                </a:solidFill>
              </a:defRPr>
            </a:pPr>
            <a:r>
              <a:t>• 【偵結密集】單位字數內蘊含密集的謎團、翻轉與人物心理博弈，打破長篇枝蔓拖沓。</a:t>
            </a:r>
          </a:p>
          <a:p>
            <a:pPr>
              <a:spcAft>
                <a:spcPts val="400"/>
              </a:spcAft>
              <a:defRPr sz="1150">
                <a:solidFill>
                  <a:srgbClr val="1F2937"/>
                </a:solidFill>
              </a:defRPr>
            </a:pPr>
            <a:r>
              <a:t>• 【評審震撼】榮獲第1屆金車推理首獎，以高濃度智力解謎震撼評審團，開創短篇新典範。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核心發現 2：薛西斯創作三層核心維度  ｜  版型 2：並列論法 (Parallel)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3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主張：薛西斯成功融合「本格解謎密度 × 角色心理層次 × 冷冽現代語言」，構築多維度文學景深</a:t>
            </a:r>
          </a:p>
          <a:p>
            <a:pPr>
              <a:defRPr sz="1200">
                <a:solidFill>
                  <a:srgbClr val="64748B"/>
                </a:solidFill>
              </a:defRPr>
            </a:pPr>
            <a:r>
              <a:t>超越單純找出兇手的遊戲規則，將犯罪動機推向現代社會倫理與權力關係審視</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《經典也青春》EP603 文本細讀分析</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維度 1：本格解謎密度</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小說內嵌「無數個細小謎團」層層咬合</a:t>
            </a:r>
          </a:p>
          <a:p>
            <a:pPr>
              <a:spcAft>
                <a:spcPts val="600"/>
              </a:spcAft>
              <a:defRPr sz="1200">
                <a:solidFill>
                  <a:srgbClr val="0F172A"/>
                </a:solidFill>
              </a:defRPr>
            </a:pPr>
            <a:r>
              <a:t>2. 死者視角與生者視點互相交錯印證</a:t>
            </a:r>
          </a:p>
          <a:p>
            <a:pPr>
              <a:spcAft>
                <a:spcPts val="600"/>
              </a:spcAft>
              <a:defRPr sz="1200">
                <a:solidFill>
                  <a:srgbClr val="0F172A"/>
                </a:solidFill>
              </a:defRPr>
            </a:pPr>
            <a:r>
              <a:t>3. 細節伏筆嚴密，提供完備的邏輯重構樂趣</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維度 2：角色心理層次</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深究「為何做這件事」與「為何沒做其他事」</a:t>
            </a:r>
          </a:p>
          <a:p>
            <a:pPr>
              <a:spcAft>
                <a:spcPts val="600"/>
              </a:spcAft>
              <a:defRPr sz="1200">
                <a:solidFill>
                  <a:srgbClr val="0F172A"/>
                </a:solidFill>
              </a:defRPr>
            </a:pPr>
            <a:r>
              <a:t>2. 直擊家族權力結構與女性處境的深層壓抑</a:t>
            </a:r>
          </a:p>
          <a:p>
            <a:pPr>
              <a:spcAft>
                <a:spcPts val="600"/>
              </a:spcAft>
              <a:defRPr sz="1200">
                <a:solidFill>
                  <a:srgbClr val="0F172A"/>
                </a:solidFill>
              </a:defRPr>
            </a:pPr>
            <a:r>
              <a:t>3. 顛覆社會大眾將兇手簡單歸類為惡魔的刻板</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維度 3：冷冽現代語言</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運用哲學辯證筆調，反覆詰問道德與動機</a:t>
            </a:r>
          </a:p>
          <a:p>
            <a:pPr>
              <a:spcAft>
                <a:spcPts val="600"/>
              </a:spcAft>
              <a:defRPr sz="1200">
                <a:solidFill>
                  <a:srgbClr val="0F172A"/>
                </a:solidFill>
              </a:defRPr>
            </a:pPr>
            <a:r>
              <a:t>2. 冷靜客觀的文字質地，迫使讀者直面殘酷真相</a:t>
            </a:r>
          </a:p>
          <a:p>
            <a:pPr>
              <a:spcAft>
                <a:spcPts val="600"/>
              </a:spcAft>
              <a:defRPr sz="1200">
                <a:solidFill>
                  <a:srgbClr val="0F172A"/>
                </a:solidFill>
              </a:defRPr>
            </a:pPr>
            <a:r>
              <a:t>3. 拒絕浮濫煽情，達成宛如外科手術般的精確剖析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3：死者視角與四重推理逆轉  ｜  版型 4：連鎖論法 (Chain / Flow)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4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主張：《魚眼》設計精妙的四重推演鏈，逐層擊碎公眾與媒體對真實刑案的表面假象</a:t>
            </a:r>
          </a:p>
          <a:p>
            <a:pPr>
              <a:defRPr sz="1200">
                <a:solidFill>
                  <a:srgbClr val="6B7280"/>
                </a:solidFill>
              </a:defRPr>
            </a:pPr>
            <a:r>
              <a:t>從公眾迷信、媒體獵巫到深層利益計算，導向冷酷而理性的人性真相深淵</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薛西斯《魚眼》情節結構與台灣陳高連夜案對照研究</a:t>
            </a:r>
          </a:p>
        </p:txBody>
      </p:sp>
      <p:sp>
        <p:nvSpPr>
          <p:cNvPr id="7" name="Right Arrow 6"/>
          <p:cNvSpPr/>
          <p:nvPr/>
        </p:nvSpPr>
        <p:spPr>
          <a:xfrm>
            <a:off x="731520" y="1783080"/>
            <a:ext cx="10728655" cy="347472"/>
          </a:xfrm>
          <a:prstGeom prst="rightArrow">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真相層級演進：從表面刻板印象 ───► 穿透至人性理性利益計算深淵</a:t>
            </a:r>
          </a:p>
        </p:txBody>
      </p:sp>
      <p:sp>
        <p:nvSpPr>
          <p:cNvPr id="8" name="Chevron 7"/>
          <p:cNvSpPr/>
          <p:nvPr/>
        </p:nvSpPr>
        <p:spPr>
          <a:xfrm>
            <a:off x="731520"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第一層：迷信與傳染病</a:t>
            </a:r>
          </a:p>
        </p:txBody>
      </p:sp>
      <p:sp>
        <p:nvSpPr>
          <p:cNvPr id="9" name="Rounded Rectangle 8"/>
          <p:cNvSpPr/>
          <p:nvPr/>
        </p:nvSpPr>
        <p:spPr>
          <a:xfrm>
            <a:off x="731520"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46120"/>
            <a:ext cx="2236393" cy="2743200"/>
          </a:xfrm>
          <a:prstGeom prst="rect">
            <a:avLst/>
          </a:prstGeom>
          <a:noFill/>
        </p:spPr>
        <p:txBody>
          <a:bodyPr wrap="square">
            <a:spAutoFit/>
          </a:bodyPr>
          <a:lstStyle/>
          <a:p>
            <a:pPr>
              <a:spcAft>
                <a:spcPts val="600"/>
              </a:spcAft>
              <a:defRPr sz="1200">
                <a:solidFill>
                  <a:srgbClr val="1F2937"/>
                </a:solidFill>
              </a:defRPr>
            </a:pPr>
            <a:r>
              <a:t>▪ 案件初期歸咎於邪靈作祟或不明疾病</a:t>
            </a:r>
          </a:p>
          <a:p>
            <a:pPr>
              <a:spcAft>
                <a:spcPts val="600"/>
              </a:spcAft>
              <a:defRPr sz="1200">
                <a:solidFill>
                  <a:srgbClr val="1F2937"/>
                </a:solidFill>
              </a:defRPr>
            </a:pPr>
            <a:r>
              <a:t>▪ 公眾面對難以理解的悲劇選擇非理性逃避</a:t>
            </a:r>
          </a:p>
          <a:p>
            <a:pPr>
              <a:spcAft>
                <a:spcPts val="600"/>
              </a:spcAft>
              <a:defRPr sz="1200">
                <a:solidFill>
                  <a:srgbClr val="1F2937"/>
                </a:solidFill>
              </a:defRPr>
            </a:pPr>
            <a:r>
              <a:t>▪ 掩蓋家族內部的緊張與深層裂痕</a:t>
            </a:r>
          </a:p>
        </p:txBody>
      </p:sp>
      <p:sp>
        <p:nvSpPr>
          <p:cNvPr id="11" name="Chevron 10"/>
          <p:cNvSpPr/>
          <p:nvPr/>
        </p:nvSpPr>
        <p:spPr>
          <a:xfrm>
            <a:off x="3470833"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第二層：媒體情殺與不孕</a:t>
            </a:r>
          </a:p>
        </p:txBody>
      </p:sp>
      <p:sp>
        <p:nvSpPr>
          <p:cNvPr id="12" name="Rounded Rectangle 11"/>
          <p:cNvSpPr/>
          <p:nvPr/>
        </p:nvSpPr>
        <p:spPr>
          <a:xfrm>
            <a:off x="3470833"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7993" y="3246120"/>
            <a:ext cx="2236393" cy="2743200"/>
          </a:xfrm>
          <a:prstGeom prst="rect">
            <a:avLst/>
          </a:prstGeom>
          <a:noFill/>
        </p:spPr>
        <p:txBody>
          <a:bodyPr wrap="square">
            <a:spAutoFit/>
          </a:bodyPr>
          <a:lstStyle/>
          <a:p>
            <a:pPr>
              <a:spcAft>
                <a:spcPts val="600"/>
              </a:spcAft>
              <a:defRPr sz="1200">
                <a:solidFill>
                  <a:srgbClr val="1F2937"/>
                </a:solidFill>
              </a:defRPr>
            </a:pPr>
            <a:r>
              <a:t>▪ 官方與媒體簡化為「因不孕而嫉妒殺子」</a:t>
            </a:r>
          </a:p>
          <a:p>
            <a:pPr>
              <a:spcAft>
                <a:spcPts val="600"/>
              </a:spcAft>
              <a:defRPr sz="1200">
                <a:solidFill>
                  <a:srgbClr val="1F2937"/>
                </a:solidFill>
              </a:defRPr>
            </a:pPr>
            <a:r>
              <a:t>▪ 套用社會主流對女性犯案的惡毒刻板定型</a:t>
            </a:r>
          </a:p>
          <a:p>
            <a:pPr>
              <a:spcAft>
                <a:spcPts val="600"/>
              </a:spcAft>
              <a:defRPr sz="1200">
                <a:solidFill>
                  <a:srgbClr val="1F2937"/>
                </a:solidFill>
              </a:defRPr>
            </a:pPr>
            <a:r>
              <a:t>▪ 提供大眾廉價而快速的情緒宣洩出口</a:t>
            </a:r>
          </a:p>
        </p:txBody>
      </p:sp>
      <p:sp>
        <p:nvSpPr>
          <p:cNvPr id="14" name="Chevron 13"/>
          <p:cNvSpPr/>
          <p:nvPr/>
        </p:nvSpPr>
        <p:spPr>
          <a:xfrm>
            <a:off x="6210147"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第三層：兇手已有子嗣反轉</a:t>
            </a:r>
          </a:p>
        </p:txBody>
      </p:sp>
      <p:sp>
        <p:nvSpPr>
          <p:cNvPr id="15" name="Rounded Rectangle 14"/>
          <p:cNvSpPr/>
          <p:nvPr/>
        </p:nvSpPr>
        <p:spPr>
          <a:xfrm>
            <a:off x="6210147"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7307" y="3246120"/>
            <a:ext cx="2236393" cy="2743200"/>
          </a:xfrm>
          <a:prstGeom prst="rect">
            <a:avLst/>
          </a:prstGeom>
          <a:noFill/>
        </p:spPr>
        <p:txBody>
          <a:bodyPr wrap="square">
            <a:spAutoFit/>
          </a:bodyPr>
          <a:lstStyle/>
          <a:p>
            <a:pPr>
              <a:spcAft>
                <a:spcPts val="600"/>
              </a:spcAft>
              <a:defRPr sz="1200">
                <a:solidFill>
                  <a:srgbClr val="1F2937"/>
                </a:solidFill>
              </a:defRPr>
            </a:pPr>
            <a:r>
              <a:t>▪ 調查揭示兇手實際已育有親生子女</a:t>
            </a:r>
          </a:p>
          <a:p>
            <a:pPr>
              <a:spcAft>
                <a:spcPts val="600"/>
              </a:spcAft>
              <a:defRPr sz="1200">
                <a:solidFill>
                  <a:srgbClr val="1F2937"/>
                </a:solidFill>
              </a:defRPr>
            </a:pPr>
            <a:r>
              <a:t>▪ 不孕嫉妒之動機假說被徹底粉碎瓦解</a:t>
            </a:r>
          </a:p>
          <a:p>
            <a:pPr>
              <a:spcAft>
                <a:spcPts val="600"/>
              </a:spcAft>
              <a:defRPr sz="1200">
                <a:solidFill>
                  <a:srgbClr val="1F2937"/>
                </a:solidFill>
              </a:defRPr>
            </a:pPr>
            <a:r>
              <a:t>▪ 迫使偵查與讀者重回犯罪現場之利益根源</a:t>
            </a:r>
          </a:p>
        </p:txBody>
      </p:sp>
      <p:sp>
        <p:nvSpPr>
          <p:cNvPr id="17" name="Chevron 16"/>
          <p:cNvSpPr/>
          <p:nvPr/>
        </p:nvSpPr>
        <p:spPr>
          <a:xfrm>
            <a:off x="8949461" y="2286000"/>
            <a:ext cx="2510713" cy="685800"/>
          </a:xfrm>
          <a:prstGeom prst="chevron">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第四層：理性利益計算深淵</a:t>
            </a:r>
          </a:p>
        </p:txBody>
      </p:sp>
      <p:sp>
        <p:nvSpPr>
          <p:cNvPr id="18" name="Rounded Rectangle 17"/>
          <p:cNvSpPr/>
          <p:nvPr/>
        </p:nvSpPr>
        <p:spPr>
          <a:xfrm>
            <a:off x="8949461"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6621" y="3246120"/>
            <a:ext cx="2236393" cy="2743200"/>
          </a:xfrm>
          <a:prstGeom prst="rect">
            <a:avLst/>
          </a:prstGeom>
          <a:noFill/>
        </p:spPr>
        <p:txBody>
          <a:bodyPr wrap="square">
            <a:spAutoFit/>
          </a:bodyPr>
          <a:lstStyle/>
          <a:p>
            <a:pPr>
              <a:spcAft>
                <a:spcPts val="600"/>
              </a:spcAft>
              <a:defRPr sz="1200">
                <a:solidFill>
                  <a:srgbClr val="1F2937"/>
                </a:solidFill>
              </a:defRPr>
            </a:pPr>
            <a:r>
              <a:t>▪ 確認犯行並非情緒衝動，而是冷靜的得失評估</a:t>
            </a:r>
          </a:p>
          <a:p>
            <a:pPr>
              <a:spcAft>
                <a:spcPts val="600"/>
              </a:spcAft>
              <a:defRPr sz="1200">
                <a:solidFill>
                  <a:srgbClr val="1F2937"/>
                </a:solidFill>
              </a:defRPr>
            </a:pPr>
            <a:r>
              <a:t>▪ 兇手確信「從中獲得好處遠大於服法代價」</a:t>
            </a:r>
          </a:p>
          <a:p>
            <a:pPr>
              <a:spcAft>
                <a:spcPts val="600"/>
              </a:spcAft>
              <a:defRPr sz="1200">
                <a:solidFill>
                  <a:srgbClr val="1F2937"/>
                </a:solidFill>
              </a:defRPr>
            </a:pPr>
            <a:r>
              <a:t>▪ 直視人性深處最令人不寒而慄的理性罪惡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4：薛西斯創作演進光譜  ｜  版型 5：麥肯錫矩陣論法 (McKinsey Flow)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5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主張：薛西斯從短篇《魚眼》的微觀人性深掘，成功蛻變至長篇《天災對策室》之宏觀體制構建</a:t>
            </a:r>
          </a:p>
          <a:p>
            <a:pPr>
              <a:defRPr sz="1200">
                <a:solidFill>
                  <a:srgbClr val="64748B"/>
                </a:solidFill>
              </a:defRPr>
            </a:pPr>
            <a:r>
              <a:t>保持高密度邏輯推理內核，持續拓展跨類型邊界與台灣在地重大社會議題格局</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台灣現當代推理小說作家系譜研究</a:t>
            </a:r>
          </a:p>
        </p:txBody>
      </p:sp>
      <p:sp>
        <p:nvSpPr>
          <p:cNvPr id="7" name="Chevron 6"/>
          <p:cNvSpPr/>
          <p:nvPr/>
        </p:nvSpPr>
        <p:spPr>
          <a:xfrm>
            <a:off x="2880360"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起點：短篇金車首獎</a:t>
            </a:r>
          </a:p>
        </p:txBody>
      </p:sp>
      <p:sp>
        <p:nvSpPr>
          <p:cNvPr id="8" name="Chevron 7"/>
          <p:cNvSpPr/>
          <p:nvPr/>
        </p:nvSpPr>
        <p:spPr>
          <a:xfrm>
            <a:off x="5059603"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過渡：日常之謎與心理</a:t>
            </a:r>
          </a:p>
        </p:txBody>
      </p:sp>
      <p:sp>
        <p:nvSpPr>
          <p:cNvPr id="9" name="Chevron 8"/>
          <p:cNvSpPr/>
          <p:nvPr/>
        </p:nvSpPr>
        <p:spPr>
          <a:xfrm>
            <a:off x="7238847"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成熟：跨類型長篇世界觀</a:t>
            </a:r>
          </a:p>
        </p:txBody>
      </p:sp>
      <p:sp>
        <p:nvSpPr>
          <p:cNvPr id="10" name="Chevron 9"/>
          <p:cNvSpPr/>
          <p:nvPr/>
        </p:nvSpPr>
        <p:spPr>
          <a:xfrm>
            <a:off x="9418091"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巔峰：國家體制與哲學</a:t>
            </a:r>
          </a:p>
        </p:txBody>
      </p:sp>
      <p:sp>
        <p:nvSpPr>
          <p:cNvPr id="11" name="Rectangle 10"/>
          <p:cNvSpPr/>
          <p:nvPr/>
        </p:nvSpPr>
        <p:spPr>
          <a:xfrm>
            <a:off x="731520" y="251460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代表作品</a:t>
            </a:r>
          </a:p>
        </p:txBody>
      </p:sp>
      <p:sp>
        <p:nvSpPr>
          <p:cNvPr id="12" name="Rounded Rectangle 11"/>
          <p:cNvSpPr/>
          <p:nvPr/>
        </p:nvSpPr>
        <p:spPr>
          <a:xfrm>
            <a:off x="2880360"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2606040"/>
            <a:ext cx="1859203" cy="1066799"/>
          </a:xfrm>
          <a:prstGeom prst="rect">
            <a:avLst/>
          </a:prstGeom>
          <a:noFill/>
        </p:spPr>
        <p:txBody>
          <a:bodyPr wrap="square">
            <a:spAutoFit/>
          </a:bodyPr>
          <a:lstStyle/>
          <a:p>
            <a:pPr>
              <a:defRPr sz="1150">
                <a:solidFill>
                  <a:srgbClr val="1F2937"/>
                </a:solidFill>
              </a:defRPr>
            </a:pPr>
            <a:r>
              <a:t>《魚眼》 (2013)</a:t>
            </a:r>
          </a:p>
        </p:txBody>
      </p:sp>
      <p:sp>
        <p:nvSpPr>
          <p:cNvPr id="14" name="Rounded Rectangle 13"/>
          <p:cNvSpPr/>
          <p:nvPr/>
        </p:nvSpPr>
        <p:spPr>
          <a:xfrm>
            <a:off x="5059603"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1043" y="2606040"/>
            <a:ext cx="1859203" cy="1066799"/>
          </a:xfrm>
          <a:prstGeom prst="rect">
            <a:avLst/>
          </a:prstGeom>
          <a:noFill/>
        </p:spPr>
        <p:txBody>
          <a:bodyPr wrap="square">
            <a:spAutoFit/>
          </a:bodyPr>
          <a:lstStyle/>
          <a:p>
            <a:pPr>
              <a:defRPr sz="1150">
                <a:solidFill>
                  <a:srgbClr val="1F2937"/>
                </a:solidFill>
              </a:defRPr>
            </a:pPr>
            <a:r>
              <a:t>《合身之衣》／短篇集</a:t>
            </a:r>
          </a:p>
        </p:txBody>
      </p:sp>
      <p:sp>
        <p:nvSpPr>
          <p:cNvPr id="16" name="Rounded Rectangle 15"/>
          <p:cNvSpPr/>
          <p:nvPr/>
        </p:nvSpPr>
        <p:spPr>
          <a:xfrm>
            <a:off x="7238847"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0287" y="2606040"/>
            <a:ext cx="1859203" cy="1066799"/>
          </a:xfrm>
          <a:prstGeom prst="rect">
            <a:avLst/>
          </a:prstGeom>
          <a:noFill/>
        </p:spPr>
        <p:txBody>
          <a:bodyPr wrap="square">
            <a:spAutoFit/>
          </a:bodyPr>
          <a:lstStyle/>
          <a:p>
            <a:pPr>
              <a:defRPr sz="1150">
                <a:solidFill>
                  <a:srgbClr val="1F2937"/>
                </a:solidFill>
              </a:defRPr>
            </a:pPr>
            <a:r>
              <a:t>《虛擬街頭漂流記》</a:t>
            </a:r>
          </a:p>
        </p:txBody>
      </p:sp>
      <p:sp>
        <p:nvSpPr>
          <p:cNvPr id="18" name="Rounded Rectangle 17"/>
          <p:cNvSpPr/>
          <p:nvPr/>
        </p:nvSpPr>
        <p:spPr>
          <a:xfrm>
            <a:off x="9418091"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531" y="2606040"/>
            <a:ext cx="1859203" cy="1066799"/>
          </a:xfrm>
          <a:prstGeom prst="rect">
            <a:avLst/>
          </a:prstGeom>
          <a:noFill/>
        </p:spPr>
        <p:txBody>
          <a:bodyPr wrap="square">
            <a:spAutoFit/>
          </a:bodyPr>
          <a:lstStyle/>
          <a:p>
            <a:pPr>
              <a:defRPr sz="1150">
                <a:solidFill>
                  <a:srgbClr val="1F2937"/>
                </a:solidFill>
              </a:defRPr>
            </a:pPr>
            <a:r>
              <a:t>《K.I.N.G.：天災對策室》</a:t>
            </a:r>
          </a:p>
        </p:txBody>
      </p:sp>
      <p:sp>
        <p:nvSpPr>
          <p:cNvPr id="20" name="Rectangle 19"/>
          <p:cNvSpPr/>
          <p:nvPr/>
        </p:nvSpPr>
        <p:spPr>
          <a:xfrm>
            <a:off x="731520" y="390144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核心議題</a:t>
            </a:r>
          </a:p>
        </p:txBody>
      </p:sp>
      <p:sp>
        <p:nvSpPr>
          <p:cNvPr id="21" name="Rounded Rectangle 20"/>
          <p:cNvSpPr/>
          <p:nvPr/>
        </p:nvSpPr>
        <p:spPr>
          <a:xfrm>
            <a:off x="2880360"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92879"/>
            <a:ext cx="1859203" cy="1066799"/>
          </a:xfrm>
          <a:prstGeom prst="rect">
            <a:avLst/>
          </a:prstGeom>
          <a:noFill/>
        </p:spPr>
        <p:txBody>
          <a:bodyPr wrap="square">
            <a:spAutoFit/>
          </a:bodyPr>
          <a:lstStyle/>
          <a:p>
            <a:pPr>
              <a:defRPr sz="1150">
                <a:solidFill>
                  <a:srgbClr val="1F2937"/>
                </a:solidFill>
              </a:defRPr>
            </a:pPr>
            <a:r>
              <a:t>單一真實刑案動機解構</a:t>
            </a:r>
          </a:p>
        </p:txBody>
      </p:sp>
      <p:sp>
        <p:nvSpPr>
          <p:cNvPr id="23" name="Rounded Rectangle 22"/>
          <p:cNvSpPr/>
          <p:nvPr/>
        </p:nvSpPr>
        <p:spPr>
          <a:xfrm>
            <a:off x="5059603"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1043" y="3992879"/>
            <a:ext cx="1859203" cy="1066799"/>
          </a:xfrm>
          <a:prstGeom prst="rect">
            <a:avLst/>
          </a:prstGeom>
          <a:noFill/>
        </p:spPr>
        <p:txBody>
          <a:bodyPr wrap="square">
            <a:spAutoFit/>
          </a:bodyPr>
          <a:lstStyle/>
          <a:p>
            <a:pPr>
              <a:defRPr sz="1150">
                <a:solidFill>
                  <a:srgbClr val="1F2937"/>
                </a:solidFill>
              </a:defRPr>
            </a:pPr>
            <a:r>
              <a:t>校園與日常生活倫理困境</a:t>
            </a:r>
          </a:p>
        </p:txBody>
      </p:sp>
      <p:sp>
        <p:nvSpPr>
          <p:cNvPr id="25" name="Rounded Rectangle 24"/>
          <p:cNvSpPr/>
          <p:nvPr/>
        </p:nvSpPr>
        <p:spPr>
          <a:xfrm>
            <a:off x="7238847"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30287" y="3992879"/>
            <a:ext cx="1859203" cy="1066799"/>
          </a:xfrm>
          <a:prstGeom prst="rect">
            <a:avLst/>
          </a:prstGeom>
          <a:noFill/>
        </p:spPr>
        <p:txBody>
          <a:bodyPr wrap="square">
            <a:spAutoFit/>
          </a:bodyPr>
          <a:lstStyle/>
          <a:p>
            <a:pPr>
              <a:defRPr sz="1150">
                <a:solidFill>
                  <a:srgbClr val="1F2937"/>
                </a:solidFill>
              </a:defRPr>
            </a:pPr>
            <a:r>
              <a:t>虛擬實境與當代存在焦慮</a:t>
            </a:r>
          </a:p>
        </p:txBody>
      </p:sp>
      <p:sp>
        <p:nvSpPr>
          <p:cNvPr id="27" name="Rounded Rectangle 26"/>
          <p:cNvSpPr/>
          <p:nvPr/>
        </p:nvSpPr>
        <p:spPr>
          <a:xfrm>
            <a:off x="9418091"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531" y="3992879"/>
            <a:ext cx="1859203" cy="1066799"/>
          </a:xfrm>
          <a:prstGeom prst="rect">
            <a:avLst/>
          </a:prstGeom>
          <a:noFill/>
        </p:spPr>
        <p:txBody>
          <a:bodyPr wrap="square">
            <a:spAutoFit/>
          </a:bodyPr>
          <a:lstStyle/>
          <a:p>
            <a:pPr>
              <a:defRPr sz="1150">
                <a:solidFill>
                  <a:srgbClr val="1F2937"/>
                </a:solidFill>
              </a:defRPr>
            </a:pPr>
            <a:r>
              <a:t>天災應變、科技倫理與國家黑幕</a:t>
            </a:r>
          </a:p>
        </p:txBody>
      </p:sp>
      <p:sp>
        <p:nvSpPr>
          <p:cNvPr id="29" name="Rectangle 28"/>
          <p:cNvSpPr/>
          <p:nvPr/>
        </p:nvSpPr>
        <p:spPr>
          <a:xfrm>
            <a:off x="731520" y="5288280"/>
            <a:ext cx="2011680" cy="124967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格局突破</a:t>
            </a:r>
          </a:p>
        </p:txBody>
      </p:sp>
      <p:sp>
        <p:nvSpPr>
          <p:cNvPr id="30" name="Rounded Rectangle 29"/>
          <p:cNvSpPr/>
          <p:nvPr/>
        </p:nvSpPr>
        <p:spPr>
          <a:xfrm>
            <a:off x="2880360"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71800" y="5379720"/>
            <a:ext cx="1859203" cy="1066799"/>
          </a:xfrm>
          <a:prstGeom prst="rect">
            <a:avLst/>
          </a:prstGeom>
          <a:noFill/>
        </p:spPr>
        <p:txBody>
          <a:bodyPr wrap="square">
            <a:spAutoFit/>
          </a:bodyPr>
          <a:lstStyle/>
          <a:p>
            <a:pPr>
              <a:defRPr sz="1150">
                <a:solidFill>
                  <a:srgbClr val="1F2937"/>
                </a:solidFill>
              </a:defRPr>
            </a:pPr>
            <a:r>
              <a:t>極致密度四線短篇本格</a:t>
            </a:r>
          </a:p>
        </p:txBody>
      </p:sp>
      <p:sp>
        <p:nvSpPr>
          <p:cNvPr id="32" name="Rounded Rectangle 31"/>
          <p:cNvSpPr/>
          <p:nvPr/>
        </p:nvSpPr>
        <p:spPr>
          <a:xfrm>
            <a:off x="5059603"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51043" y="5379720"/>
            <a:ext cx="1859203" cy="1066799"/>
          </a:xfrm>
          <a:prstGeom prst="rect">
            <a:avLst/>
          </a:prstGeom>
          <a:noFill/>
        </p:spPr>
        <p:txBody>
          <a:bodyPr wrap="square">
            <a:spAutoFit/>
          </a:bodyPr>
          <a:lstStyle/>
          <a:p>
            <a:pPr>
              <a:defRPr sz="1150">
                <a:solidFill>
                  <a:srgbClr val="1F2937"/>
                </a:solidFill>
              </a:defRPr>
            </a:pPr>
            <a:r>
              <a:t>深植女性與弱勢心理細節</a:t>
            </a:r>
          </a:p>
        </p:txBody>
      </p:sp>
      <p:sp>
        <p:nvSpPr>
          <p:cNvPr id="34" name="Rounded Rectangle 33"/>
          <p:cNvSpPr/>
          <p:nvPr/>
        </p:nvSpPr>
        <p:spPr>
          <a:xfrm>
            <a:off x="7238847"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0287" y="5379720"/>
            <a:ext cx="1859203" cy="1066799"/>
          </a:xfrm>
          <a:prstGeom prst="rect">
            <a:avLst/>
          </a:prstGeom>
          <a:noFill/>
        </p:spPr>
        <p:txBody>
          <a:bodyPr wrap="square">
            <a:spAutoFit/>
          </a:bodyPr>
          <a:lstStyle/>
          <a:p>
            <a:pPr>
              <a:defRPr sz="1150">
                <a:solidFill>
                  <a:srgbClr val="1F2937"/>
                </a:solidFill>
              </a:defRPr>
            </a:pPr>
            <a:r>
              <a:t>結合科幻設定與本格解謎</a:t>
            </a:r>
          </a:p>
        </p:txBody>
      </p:sp>
      <p:sp>
        <p:nvSpPr>
          <p:cNvPr id="36" name="Rounded Rectangle 35"/>
          <p:cNvSpPr/>
          <p:nvPr/>
        </p:nvSpPr>
        <p:spPr>
          <a:xfrm>
            <a:off x="9418091"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09531" y="5379720"/>
            <a:ext cx="1859203" cy="1066799"/>
          </a:xfrm>
          <a:prstGeom prst="rect">
            <a:avLst/>
          </a:prstGeom>
          <a:noFill/>
        </p:spPr>
        <p:txBody>
          <a:bodyPr wrap="square">
            <a:spAutoFit/>
          </a:bodyPr>
          <a:lstStyle/>
          <a:p>
            <a:pPr>
              <a:defRPr sz="1150">
                <a:solidFill>
                  <a:srgbClr val="1F2937"/>
                </a:solidFill>
              </a:defRPr>
            </a:pPr>
            <a:r>
              <a:t>宏大體制反思與跨媒介 IP 潛力</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5：新舊推理美學對立  ｜  版型 6：對立論法 (Opposition)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6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主張：薛西斯「人性深淵本格」打破古典本格純解謎桎梏，賦予類型文學深刻的批判與反思功能</a:t>
            </a:r>
          </a:p>
          <a:p>
            <a:pPr>
              <a:defRPr sz="1200">
                <a:solidFill>
                  <a:srgbClr val="64748B"/>
                </a:solidFill>
              </a:defRPr>
            </a:pPr>
            <a:r>
              <a:t>從物理詭計遊戲轉向社會結構性創傷，將推理從「解答案件」提升為「直視社會陰暗」</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京極夏彥妖怪推理 vs. 薛西斯社會哲學本格對比分析</a:t>
            </a:r>
          </a:p>
        </p:txBody>
      </p:sp>
      <p:sp>
        <p:nvSpPr>
          <p:cNvPr id="7" name="Rectangle 6"/>
          <p:cNvSpPr/>
          <p:nvPr/>
        </p:nvSpPr>
        <p:spPr>
          <a:xfrm>
            <a:off x="2880360" y="1783080"/>
            <a:ext cx="4206240" cy="4572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傳統古典本格派 (Traditional Whodunit)</a:t>
            </a:r>
          </a:p>
        </p:txBody>
      </p:sp>
      <p:sp>
        <p:nvSpPr>
          <p:cNvPr id="8" name="Rectangle 7"/>
          <p:cNvSpPr/>
          <p:nvPr/>
        </p:nvSpPr>
        <p:spPr>
          <a:xfrm>
            <a:off x="7223760" y="1783080"/>
            <a:ext cx="420624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薛西斯人性深淵本格 (Human-Core Mystery)</a:t>
            </a:r>
          </a:p>
        </p:txBody>
      </p:sp>
      <p:sp>
        <p:nvSpPr>
          <p:cNvPr id="9" name="Rounded Rectangle 8"/>
          <p:cNvSpPr/>
          <p:nvPr/>
        </p:nvSpPr>
        <p:spPr>
          <a:xfrm>
            <a:off x="731520" y="237744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謎團本質</a:t>
            </a:r>
          </a:p>
        </p:txBody>
      </p:sp>
      <p:sp>
        <p:nvSpPr>
          <p:cNvPr id="10" name="Rounded Rectangle 9"/>
          <p:cNvSpPr/>
          <p:nvPr/>
        </p:nvSpPr>
        <p:spPr>
          <a:xfrm>
            <a:off x="28803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423160"/>
            <a:ext cx="4023359" cy="777240"/>
          </a:xfrm>
          <a:prstGeom prst="rect">
            <a:avLst/>
          </a:prstGeom>
          <a:noFill/>
        </p:spPr>
        <p:txBody>
          <a:bodyPr wrap="square">
            <a:spAutoFit/>
          </a:bodyPr>
          <a:lstStyle/>
          <a:p>
            <a:pPr>
              <a:defRPr sz="1100">
                <a:solidFill>
                  <a:srgbClr val="1F2937"/>
                </a:solidFill>
              </a:defRPr>
            </a:pPr>
            <a:r>
              <a:t>聚焦密室、不在場證明等物理性詭計，追求單純解謎智力遊戲</a:t>
            </a:r>
          </a:p>
        </p:txBody>
      </p:sp>
      <p:sp>
        <p:nvSpPr>
          <p:cNvPr id="12" name="Rounded Rectangle 11"/>
          <p:cNvSpPr/>
          <p:nvPr/>
        </p:nvSpPr>
        <p:spPr>
          <a:xfrm>
            <a:off x="72237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423160"/>
            <a:ext cx="4023359" cy="777240"/>
          </a:xfrm>
          <a:prstGeom prst="rect">
            <a:avLst/>
          </a:prstGeom>
          <a:noFill/>
        </p:spPr>
        <p:txBody>
          <a:bodyPr wrap="square">
            <a:spAutoFit/>
          </a:bodyPr>
          <a:lstStyle/>
          <a:p>
            <a:pPr>
              <a:defRPr sz="1100">
                <a:solidFill>
                  <a:srgbClr val="1F2937"/>
                </a:solidFill>
              </a:defRPr>
            </a:pPr>
            <a:r>
              <a:t>圍繞權力關係、心理防禦與倫理深淵，解謎為探究真相載體</a:t>
            </a:r>
          </a:p>
        </p:txBody>
      </p:sp>
      <p:sp>
        <p:nvSpPr>
          <p:cNvPr id="14" name="Rounded Rectangle 13"/>
          <p:cNvSpPr/>
          <p:nvPr/>
        </p:nvSpPr>
        <p:spPr>
          <a:xfrm>
            <a:off x="731520" y="333756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犯案動機</a:t>
            </a:r>
          </a:p>
        </p:txBody>
      </p:sp>
      <p:sp>
        <p:nvSpPr>
          <p:cNvPr id="15" name="Rounded Rectangle 14"/>
          <p:cNvSpPr/>
          <p:nvPr/>
        </p:nvSpPr>
        <p:spPr>
          <a:xfrm>
            <a:off x="28803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383280"/>
            <a:ext cx="4023359" cy="777240"/>
          </a:xfrm>
          <a:prstGeom prst="rect">
            <a:avLst/>
          </a:prstGeom>
          <a:noFill/>
        </p:spPr>
        <p:txBody>
          <a:bodyPr wrap="square">
            <a:spAutoFit/>
          </a:bodyPr>
          <a:lstStyle/>
          <a:p>
            <a:pPr>
              <a:defRPr sz="1100">
                <a:solidFill>
                  <a:srgbClr val="1F2937"/>
                </a:solidFill>
              </a:defRPr>
            </a:pPr>
            <a:r>
              <a:t>動機簡化為愛恨情仇、貪婪或復仇，服務於推進解謎情節</a:t>
            </a:r>
          </a:p>
        </p:txBody>
      </p:sp>
      <p:sp>
        <p:nvSpPr>
          <p:cNvPr id="17" name="Rounded Rectangle 16"/>
          <p:cNvSpPr/>
          <p:nvPr/>
        </p:nvSpPr>
        <p:spPr>
          <a:xfrm>
            <a:off x="72237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3383280"/>
            <a:ext cx="4023359" cy="777240"/>
          </a:xfrm>
          <a:prstGeom prst="rect">
            <a:avLst/>
          </a:prstGeom>
          <a:noFill/>
        </p:spPr>
        <p:txBody>
          <a:bodyPr wrap="square">
            <a:spAutoFit/>
          </a:bodyPr>
          <a:lstStyle/>
          <a:p>
            <a:pPr>
              <a:defRPr sz="1100">
                <a:solidFill>
                  <a:srgbClr val="1F2937"/>
                </a:solidFill>
              </a:defRPr>
            </a:pPr>
            <a:r>
              <a:t>直擊理性的利益得失計算與結構性壓迫，拒絕粗暴標籤化</a:t>
            </a:r>
          </a:p>
        </p:txBody>
      </p:sp>
      <p:sp>
        <p:nvSpPr>
          <p:cNvPr id="19" name="Rounded Rectangle 18"/>
          <p:cNvSpPr/>
          <p:nvPr/>
        </p:nvSpPr>
        <p:spPr>
          <a:xfrm>
            <a:off x="731520" y="429768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社會關懷</a:t>
            </a:r>
          </a:p>
        </p:txBody>
      </p:sp>
      <p:sp>
        <p:nvSpPr>
          <p:cNvPr id="20" name="Rounded Rectangle 19"/>
          <p:cNvSpPr/>
          <p:nvPr/>
        </p:nvSpPr>
        <p:spPr>
          <a:xfrm>
            <a:off x="28803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343400"/>
            <a:ext cx="4023359" cy="777240"/>
          </a:xfrm>
          <a:prstGeom prst="rect">
            <a:avLst/>
          </a:prstGeom>
          <a:noFill/>
        </p:spPr>
        <p:txBody>
          <a:bodyPr wrap="square">
            <a:spAutoFit/>
          </a:bodyPr>
          <a:lstStyle/>
          <a:p>
            <a:pPr>
              <a:defRPr sz="1100">
                <a:solidFill>
                  <a:srgbClr val="1F2937"/>
                </a:solidFill>
              </a:defRPr>
            </a:pPr>
            <a:r>
              <a:t>社會現實常僅為背景點綴，案件解決後秩序隨之回歸平衡</a:t>
            </a:r>
          </a:p>
        </p:txBody>
      </p:sp>
      <p:sp>
        <p:nvSpPr>
          <p:cNvPr id="22" name="Rounded Rectangle 21"/>
          <p:cNvSpPr/>
          <p:nvPr/>
        </p:nvSpPr>
        <p:spPr>
          <a:xfrm>
            <a:off x="72237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4343400"/>
            <a:ext cx="4023359" cy="777240"/>
          </a:xfrm>
          <a:prstGeom prst="rect">
            <a:avLst/>
          </a:prstGeom>
          <a:noFill/>
        </p:spPr>
        <p:txBody>
          <a:bodyPr wrap="square">
            <a:spAutoFit/>
          </a:bodyPr>
          <a:lstStyle/>
          <a:p>
            <a:pPr>
              <a:defRPr sz="1100">
                <a:solidFill>
                  <a:srgbClr val="1F2937"/>
                </a:solidFill>
              </a:defRPr>
            </a:pPr>
            <a:r>
              <a:t>深植在地真實歷史創傷，揭露集體不求甚解所造成的系統性傷害</a:t>
            </a:r>
          </a:p>
        </p:txBody>
      </p:sp>
      <p:sp>
        <p:nvSpPr>
          <p:cNvPr id="24" name="Rounded Rectangle 23"/>
          <p:cNvSpPr/>
          <p:nvPr/>
        </p:nvSpPr>
        <p:spPr>
          <a:xfrm>
            <a:off x="731520" y="525780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語言質地</a:t>
            </a:r>
          </a:p>
        </p:txBody>
      </p:sp>
      <p:sp>
        <p:nvSpPr>
          <p:cNvPr id="25" name="Rounded Rectangle 24"/>
          <p:cNvSpPr/>
          <p:nvPr/>
        </p:nvSpPr>
        <p:spPr>
          <a:xfrm>
            <a:off x="28803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303520"/>
            <a:ext cx="4023359" cy="777240"/>
          </a:xfrm>
          <a:prstGeom prst="rect">
            <a:avLst/>
          </a:prstGeom>
          <a:noFill/>
        </p:spPr>
        <p:txBody>
          <a:bodyPr wrap="square">
            <a:spAutoFit/>
          </a:bodyPr>
          <a:lstStyle/>
          <a:p>
            <a:pPr>
              <a:defRPr sz="1100">
                <a:solidFill>
                  <a:srgbClr val="1F2937"/>
                </a:solidFill>
              </a:defRPr>
            </a:pPr>
            <a:r>
              <a:t>敘事平實清晰，情節緊扣線索推進，風格偏向客觀說明</a:t>
            </a:r>
          </a:p>
        </p:txBody>
      </p:sp>
      <p:sp>
        <p:nvSpPr>
          <p:cNvPr id="27" name="Rounded Rectangle 26"/>
          <p:cNvSpPr/>
          <p:nvPr/>
        </p:nvSpPr>
        <p:spPr>
          <a:xfrm>
            <a:off x="72237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5303520"/>
            <a:ext cx="4023359" cy="777240"/>
          </a:xfrm>
          <a:prstGeom prst="rect">
            <a:avLst/>
          </a:prstGeom>
          <a:noFill/>
        </p:spPr>
        <p:txBody>
          <a:bodyPr wrap="square">
            <a:spAutoFit/>
          </a:bodyPr>
          <a:lstStyle/>
          <a:p>
            <a:pPr>
              <a:defRPr sz="1100">
                <a:solidFill>
                  <a:srgbClr val="1F2937"/>
                </a:solidFill>
              </a:defRPr>
            </a:pPr>
            <a:r>
              <a:t>運用高度理性哲學辯證筆觸，迫使讀者共同凝視不願看見之處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6：台灣推理在地世代交替  ｜  版型 2：並列論法 (Parallel)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7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主張：路那指出，《魚眼》標誌著台灣推理小說走向「真實案件再詮釋」與「集體記憶傳承」的文藝復興</a:t>
            </a:r>
          </a:p>
          <a:p>
            <a:pPr>
              <a:defRPr sz="1200">
                <a:solidFill>
                  <a:srgbClr val="6B7280"/>
                </a:solidFill>
              </a:defRPr>
            </a:pPr>
            <a:r>
              <a:t>走出日美歐推理模仿期，以成熟的本土文學文本抵禦社會遺忘與重複犯錯的風險</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路那（臺灣推理作家協會理事 / 疑案辦研究員）評論觀點</a:t>
            </a:r>
          </a:p>
        </p:txBody>
      </p:sp>
      <p:sp>
        <p:nvSpPr>
          <p:cNvPr id="7" name="Rounded Rectangle 6"/>
          <p:cNvSpPr/>
          <p:nvPr/>
        </p:nvSpPr>
        <p:spPr>
          <a:xfrm>
            <a:off x="731520"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1：在地刑案之文藝復興</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1F2937"/>
                </a:solidFill>
              </a:defRPr>
            </a:pPr>
            <a:r>
              <a:t>1. 取材「陳高連夜案」等台灣真實懸案重構歷史</a:t>
            </a:r>
          </a:p>
          <a:p>
            <a:pPr>
              <a:spcAft>
                <a:spcPts val="600"/>
              </a:spcAft>
              <a:defRPr sz="1200">
                <a:solidFill>
                  <a:srgbClr val="1F2937"/>
                </a:solidFill>
              </a:defRPr>
            </a:pPr>
            <a:r>
              <a:t>2. 以文學想像填補歷史檔案未言明的動機空白</a:t>
            </a:r>
          </a:p>
          <a:p>
            <a:pPr>
              <a:spcAft>
                <a:spcPts val="600"/>
              </a:spcAft>
              <a:defRPr sz="1200">
                <a:solidFill>
                  <a:srgbClr val="1F2937"/>
                </a:solidFill>
              </a:defRPr>
            </a:pPr>
            <a:r>
              <a:t>3. 讓塵封歷史從冰冷判決書轉化為鮮活社會省思</a:t>
            </a:r>
          </a:p>
        </p:txBody>
      </p:sp>
      <p:sp>
        <p:nvSpPr>
          <p:cNvPr id="10" name="Rounded Rectangle 9"/>
          <p:cNvSpPr/>
          <p:nvPr/>
        </p:nvSpPr>
        <p:spPr>
          <a:xfrm>
            <a:off x="4383938"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2：拒絕「不求甚解」的集體意識</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1F2937"/>
                </a:solidFill>
              </a:defRPr>
            </a:pPr>
            <a:r>
              <a:t>1. 痛斥大眾面對重大刑案滿足於簡化標籤的怠惰</a:t>
            </a:r>
          </a:p>
          <a:p>
            <a:pPr>
              <a:spcAft>
                <a:spcPts val="600"/>
              </a:spcAft>
              <a:defRPr sz="1200">
                <a:solidFill>
                  <a:srgbClr val="1F2937"/>
                </a:solidFill>
              </a:defRPr>
            </a:pPr>
            <a:r>
              <a:t>2. 若不探究陰暗細節，歷史必將重複悲劇與錯誤</a:t>
            </a:r>
          </a:p>
          <a:p>
            <a:pPr>
              <a:spcAft>
                <a:spcPts val="600"/>
              </a:spcAft>
              <a:defRPr sz="1200">
                <a:solidFill>
                  <a:srgbClr val="1F2937"/>
                </a:solidFill>
              </a:defRPr>
            </a:pPr>
            <a:r>
              <a:t>3. 文學文本承擔起保存社會記憶不可或缺的重責</a:t>
            </a:r>
          </a:p>
        </p:txBody>
      </p:sp>
      <p:sp>
        <p:nvSpPr>
          <p:cNvPr id="13" name="Rounded Rectangle 12"/>
          <p:cNvSpPr/>
          <p:nvPr/>
        </p:nvSpPr>
        <p:spPr>
          <a:xfrm>
            <a:off x="8036356"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3：新世代作家的文化自信</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1F2937"/>
                </a:solidFill>
              </a:defRPr>
            </a:pPr>
            <a:r>
              <a:t>1. 不再生硬移植外國場景，自信書寫台灣在地脈絡</a:t>
            </a:r>
          </a:p>
          <a:p>
            <a:pPr>
              <a:spcAft>
                <a:spcPts val="600"/>
              </a:spcAft>
              <a:defRPr sz="1200">
                <a:solidFill>
                  <a:srgbClr val="1F2937"/>
                </a:solidFill>
              </a:defRPr>
            </a:pPr>
            <a:r>
              <a:t>2. 敘事技術比肩國際水準，具備跨國翻譯出海實力</a:t>
            </a:r>
          </a:p>
          <a:p>
            <a:pPr>
              <a:spcAft>
                <a:spcPts val="600"/>
              </a:spcAft>
              <a:defRPr sz="1200">
                <a:solidFill>
                  <a:srgbClr val="1F2937"/>
                </a:solidFill>
              </a:defRPr>
            </a:pPr>
            <a:r>
              <a:t>3. 從純娛樂市場邁向大眾文化與嚴肅文學的交匯點</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策略定位矩陣  ｜  版型 8：BCG 2x2 矩陣 (BCG Matrix)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8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主張：薛西斯在「本格解謎精巧度」與「社會與角色深層剖析」雙維度均居於行業最領先象限</a:t>
            </a:r>
          </a:p>
          <a:p>
            <a:pPr>
              <a:defRPr sz="1200">
                <a:solidFill>
                  <a:srgbClr val="6B7280"/>
                </a:solidFill>
              </a:defRPr>
            </a:pPr>
            <a:r>
              <a:t>成功跨越傳統本格與純社會派的鴻溝，建立高門檻的台灣新世代推理作家標竿</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BCG 矩陣模型分析台灣現代推理文學競爭版圖</a:t>
            </a:r>
          </a:p>
        </p:txBody>
      </p:sp>
      <p:sp>
        <p:nvSpPr>
          <p:cNvPr id="7" name="Rectangle 6"/>
          <p:cNvSpPr/>
          <p:nvPr/>
        </p:nvSpPr>
        <p:spPr>
          <a:xfrm>
            <a:off x="731520" y="1783080"/>
            <a:ext cx="1097280" cy="3931920"/>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t>
            </a:r>
            <a:br/>
            <a:r>
              <a:t>社</a:t>
            </a:r>
            <a:br/>
            <a:r>
              <a:t>會</a:t>
            </a:r>
            <a:br/>
            <a:r>
              <a:t>人</a:t>
            </a:r>
            <a:br/>
            <a:r>
              <a:t>性</a:t>
            </a:r>
            <a:br/>
            <a:r>
              <a:t>深</a:t>
            </a:r>
            <a:br/>
            <a:r>
              <a:t>度</a:t>
            </a:r>
            <a:br/>
            <a:r>
              <a:t>│</a:t>
            </a:r>
            <a:br/>
            <a:r>
              <a:t>Y</a:t>
            </a:r>
            <a:br/>
            <a:r>
              <a:t>軸</a:t>
            </a:r>
            <a:br/>
            <a:r>
              <a:t>│</a:t>
            </a:r>
            <a:br/>
            <a:r>
              <a:t>單</a:t>
            </a:r>
            <a:br/>
            <a:r>
              <a:t>純</a:t>
            </a:r>
            <a:br/>
            <a:r>
              <a:t>娛</a:t>
            </a:r>
            <a:br/>
            <a:r>
              <a:t>樂</a:t>
            </a:r>
            <a:br/>
            <a:r>
              <a:t>消</a:t>
            </a:r>
            <a:br/>
            <a:r>
              <a:t>遣</a:t>
            </a:r>
            <a:br/>
            <a:r>
              <a:t>▼</a:t>
            </a:r>
          </a:p>
        </p:txBody>
      </p:sp>
      <p:sp>
        <p:nvSpPr>
          <p:cNvPr id="8" name="Rectangle 7"/>
          <p:cNvSpPr/>
          <p:nvPr/>
        </p:nvSpPr>
        <p:spPr>
          <a:xfrm>
            <a:off x="1965960" y="5806440"/>
            <a:ext cx="6583680" cy="384048"/>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 單純物理詭計／解謎精巧度               X 軸：推理小說敘事維度               本格解謎高度精密複雜 ►</a:t>
            </a:r>
          </a:p>
        </p:txBody>
      </p:sp>
      <p:sp>
        <p:nvSpPr>
          <p:cNvPr id="9" name="Rounded Rectangle 8"/>
          <p:cNvSpPr/>
          <p:nvPr/>
        </p:nvSpPr>
        <p:spPr>
          <a:xfrm>
            <a:off x="1965960" y="178308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1874519"/>
            <a:ext cx="2971800" cy="1691639"/>
          </a:xfrm>
          <a:prstGeom prst="rect">
            <a:avLst/>
          </a:prstGeom>
          <a:noFill/>
        </p:spPr>
        <p:txBody>
          <a:bodyPr wrap="square">
            <a:spAutoFit/>
          </a:bodyPr>
          <a:lstStyle/>
          <a:p>
            <a:pPr>
              <a:spcAft>
                <a:spcPts val="400"/>
              </a:spcAft>
              <a:defRPr sz="1300" b="1">
                <a:solidFill>
                  <a:srgbClr val="177B57"/>
                </a:solidFill>
              </a:defRPr>
            </a:pPr>
            <a:r>
              <a:t>象限 1：純粹社會派 (左上)</a:t>
            </a:r>
          </a:p>
          <a:p>
            <a:pPr>
              <a:defRPr sz="1100">
                <a:solidFill>
                  <a:srgbClr val="1F2937"/>
                </a:solidFill>
              </a:defRPr>
            </a:pPr>
            <a:r>
              <a:t>著重社會批判與寫實諷刺，但缺少拍案叫絕的本格解謎快感</a:t>
            </a:r>
          </a:p>
        </p:txBody>
      </p:sp>
      <p:sp>
        <p:nvSpPr>
          <p:cNvPr id="11" name="Rounded Rectangle 10"/>
          <p:cNvSpPr/>
          <p:nvPr/>
        </p:nvSpPr>
        <p:spPr>
          <a:xfrm>
            <a:off x="5303520" y="1783080"/>
            <a:ext cx="3246120" cy="1874519"/>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1874519"/>
            <a:ext cx="2971800" cy="1691639"/>
          </a:xfrm>
          <a:prstGeom prst="rect">
            <a:avLst/>
          </a:prstGeom>
          <a:noFill/>
        </p:spPr>
        <p:txBody>
          <a:bodyPr wrap="square">
            <a:spAutoFit/>
          </a:bodyPr>
          <a:lstStyle/>
          <a:p>
            <a:pPr>
              <a:spcAft>
                <a:spcPts val="400"/>
              </a:spcAft>
              <a:defRPr sz="1300" b="1">
                <a:solidFill>
                  <a:srgbClr val="004F32"/>
                </a:solidFill>
              </a:defRPr>
            </a:pPr>
            <a:r>
              <a:t>象限 2：薛西斯領先象限 (右上 - 目標焦點)</a:t>
            </a:r>
          </a:p>
          <a:p>
            <a:pPr>
              <a:defRPr sz="1100">
                <a:solidFill>
                  <a:srgbClr val="1F2937"/>
                </a:solidFill>
              </a:defRPr>
            </a:pPr>
            <a:r>
              <a:t>《魚眼》戰略落點：四線高密度本格解謎 × 冷酷人性深淵 × 社會記憶</a:t>
            </a:r>
          </a:p>
        </p:txBody>
      </p:sp>
      <p:sp>
        <p:nvSpPr>
          <p:cNvPr id="13" name="Rounded Rectangle 12"/>
          <p:cNvSpPr/>
          <p:nvPr/>
        </p:nvSpPr>
        <p:spPr>
          <a:xfrm>
            <a:off x="196596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886200"/>
            <a:ext cx="2971800" cy="1691639"/>
          </a:xfrm>
          <a:prstGeom prst="rect">
            <a:avLst/>
          </a:prstGeom>
          <a:noFill/>
        </p:spPr>
        <p:txBody>
          <a:bodyPr wrap="square">
            <a:spAutoFit/>
          </a:bodyPr>
          <a:lstStyle/>
          <a:p>
            <a:pPr>
              <a:spcAft>
                <a:spcPts val="400"/>
              </a:spcAft>
              <a:defRPr sz="1300" b="1">
                <a:solidFill>
                  <a:srgbClr val="177B57"/>
                </a:solidFill>
              </a:defRPr>
            </a:pPr>
            <a:r>
              <a:t>象限 3：純娛樂懸疑 (左下)</a:t>
            </a:r>
          </a:p>
          <a:p>
            <a:pPr>
              <a:defRPr sz="1100">
                <a:solidFill>
                  <a:srgbClr val="1F2937"/>
                </a:solidFill>
              </a:defRPr>
            </a:pPr>
            <a:r>
              <a:t>以刺激情節或驚悚氛圍吸引讀者，角色與社會反思相對扁平</a:t>
            </a:r>
          </a:p>
        </p:txBody>
      </p:sp>
      <p:sp>
        <p:nvSpPr>
          <p:cNvPr id="15" name="Rounded Rectangle 14"/>
          <p:cNvSpPr/>
          <p:nvPr/>
        </p:nvSpPr>
        <p:spPr>
          <a:xfrm>
            <a:off x="530352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3886200"/>
            <a:ext cx="2971800" cy="1691639"/>
          </a:xfrm>
          <a:prstGeom prst="rect">
            <a:avLst/>
          </a:prstGeom>
          <a:noFill/>
        </p:spPr>
        <p:txBody>
          <a:bodyPr wrap="square">
            <a:spAutoFit/>
          </a:bodyPr>
          <a:lstStyle/>
          <a:p>
            <a:pPr>
              <a:spcAft>
                <a:spcPts val="400"/>
              </a:spcAft>
              <a:defRPr sz="1300" b="1">
                <a:solidFill>
                  <a:srgbClr val="177B57"/>
                </a:solidFill>
              </a:defRPr>
            </a:pPr>
            <a:r>
              <a:t>象限 4：古典本格派 (右下)</a:t>
            </a:r>
          </a:p>
          <a:p>
            <a:pPr>
              <a:defRPr sz="1100">
                <a:solidFill>
                  <a:srgbClr val="1F2937"/>
                </a:solidFill>
              </a:defRPr>
            </a:pPr>
            <a:r>
              <a:t>專注於密室與不在場證明幾何詭計，人物常淪為解謎道具符號</a:t>
            </a:r>
          </a:p>
        </p:txBody>
      </p:sp>
      <p:sp>
        <p:nvSpPr>
          <p:cNvPr id="17" name="Rounded Rectangle 16"/>
          <p:cNvSpPr/>
          <p:nvPr/>
        </p:nvSpPr>
        <p:spPr>
          <a:xfrm>
            <a:off x="8778240" y="1783080"/>
            <a:ext cx="2651760" cy="4389120"/>
          </a:xfrm>
          <a:prstGeom prst="roundRect">
            <a:avLst/>
          </a:prstGeom>
          <a:solidFill>
            <a:srgbClr val="F3F4F6"/>
          </a:solidFill>
          <a:ln w="1905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1920240"/>
            <a:ext cx="2377440" cy="4114800"/>
          </a:xfrm>
          <a:prstGeom prst="rect">
            <a:avLst/>
          </a:prstGeom>
          <a:noFill/>
        </p:spPr>
        <p:txBody>
          <a:bodyPr wrap="square">
            <a:spAutoFit/>
          </a:bodyPr>
          <a:lstStyle/>
          <a:p>
            <a:pPr>
              <a:spcAft>
                <a:spcPts val="800"/>
              </a:spcAft>
              <a:defRPr sz="1400" b="1">
                <a:solidFill>
                  <a:srgbClr val="177B57"/>
                </a:solidFill>
              </a:defRPr>
            </a:pPr>
            <a:r>
              <a:t>🎯 BCG 策略啟示</a:t>
            </a:r>
          </a:p>
          <a:p>
            <a:pPr>
              <a:spcAft>
                <a:spcPts val="800"/>
              </a:spcAft>
              <a:defRPr sz="1100">
                <a:solidFill>
                  <a:srgbClr val="1F2937"/>
                </a:solidFill>
              </a:defRPr>
            </a:pPr>
            <a:r>
              <a:t>• 【雙重平衡】不走極端學術晦澀，亦不流於快餐膚淺。</a:t>
            </a:r>
          </a:p>
          <a:p>
            <a:pPr>
              <a:spcAft>
                <a:spcPts val="800"/>
              </a:spcAft>
              <a:defRPr sz="1100">
                <a:solidFill>
                  <a:srgbClr val="1F2937"/>
                </a:solidFill>
              </a:defRPr>
            </a:pPr>
            <a:r>
              <a:t>• 【國際破圈】以大眾百合小說為載體，包覆深刻後殖民反思。</a:t>
            </a:r>
          </a:p>
          <a:p>
            <a:pPr>
              <a:spcAft>
                <a:spcPts val="800"/>
              </a:spcAft>
              <a:defRPr sz="1100">
                <a:solidFill>
                  <a:srgbClr val="1F2937"/>
                </a:solidFill>
              </a:defRPr>
            </a:pPr>
            <a:r>
              <a:t>• 【出海範式】為臺灣在地經驗走向全球提供可複製的經典路徑。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落地實踐行動建議  ｜  行動建議：三大落地護欄實踐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9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主張：建立短中長期落地護欄，轉化《魚眼》之文學洞察為台灣推理 IP 生態系健全發展動能</a:t>
            </a:r>
          </a:p>
          <a:p>
            <a:pPr>
              <a:defRPr sz="1200">
                <a:solidFill>
                  <a:srgbClr val="64748B"/>
                </a:solidFill>
              </a:defRPr>
            </a:pPr>
            <a:r>
              <a:t>針對廣大讀者導讀推廣、創作者敘事升級與產業跨媒介轉譯之三大實踐路徑</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台灣文化內容策進與類型文學產業化實踐方案</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短期實踐 (0-30 天)：讀者導讀深化</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策劃《魚眼》專題讀書會，拆解四條線索與死者魚眼視角</a:t>
            </a:r>
          </a:p>
          <a:p>
            <a:pPr>
              <a:spcAft>
                <a:spcPts val="600"/>
              </a:spcAft>
              <a:defRPr sz="1200">
                <a:solidFill>
                  <a:srgbClr val="0F172A"/>
                </a:solidFill>
              </a:defRPr>
            </a:pPr>
            <a:r>
              <a:t>2. 建立線上討論社群，探討台灣真實懸案之歷史記憶傳承</a:t>
            </a:r>
          </a:p>
          <a:p>
            <a:pPr>
              <a:spcAft>
                <a:spcPts val="600"/>
              </a:spcAft>
              <a:defRPr sz="1200">
                <a:solidFill>
                  <a:srgbClr val="0F172A"/>
                </a:solidFill>
              </a:defRPr>
            </a:pPr>
            <a:r>
              <a:t>3. 引導讀者反思個人在日常人際關係中是否慣於粗暴歸因</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中期推進 (1-3 個月)：創作者敘事升級</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舉辦金車推理獎創作工作坊，研析「短篇高密度大綱」技術</a:t>
            </a:r>
          </a:p>
          <a:p>
            <a:pPr>
              <a:spcAft>
                <a:spcPts val="600"/>
              </a:spcAft>
              <a:defRPr sz="1200">
                <a:solidFill>
                  <a:srgbClr val="0F172A"/>
                </a:solidFill>
              </a:defRPr>
            </a:pPr>
            <a:r>
              <a:t>2. 學習薛西斯「哲學辯證筆調」，拒絕扁平化臉譜人物描寫</a:t>
            </a:r>
          </a:p>
          <a:p>
            <a:pPr>
              <a:spcAft>
                <a:spcPts val="600"/>
              </a:spcAft>
              <a:defRPr sz="1200">
                <a:solidFill>
                  <a:srgbClr val="0F172A"/>
                </a:solidFill>
              </a:defRPr>
            </a:pPr>
            <a:r>
              <a:t>3. 推動跨界田野調查，深化對台灣在地文史與司法人權之理解</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長期制度 (3-6 個月)：推理 IP 化出海</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建立台灣原創推理作品與影視改編、串流平台之對接機制</a:t>
            </a:r>
          </a:p>
          <a:p>
            <a:pPr>
              <a:spcAft>
                <a:spcPts val="600"/>
              </a:spcAft>
              <a:defRPr sz="1200">
                <a:solidFill>
                  <a:srgbClr val="0F172A"/>
                </a:solidFill>
              </a:defRPr>
            </a:pPr>
            <a:r>
              <a:t>2. 推動外語翻譯外譯獎助，將薛西斯長短篇作品推向國際書市</a:t>
            </a:r>
          </a:p>
          <a:p>
            <a:pPr>
              <a:spcAft>
                <a:spcPts val="600"/>
              </a:spcAft>
              <a:defRPr sz="1200">
                <a:solidFill>
                  <a:srgbClr val="0F172A"/>
                </a:solidFill>
              </a:defRPr>
            </a:pPr>
            <a:r>
              <a:t>3. 探索條漫、沉浸式劇本殺與電玩改編，延伸台灣文化 IP 生命力</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終局結論：凝視真相的魚眼  ｜  版型 1：一對一論法 (One-to-One)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10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主張：「即使是糟糕的解釋也勝過沒有解釋」——《魚眼》以務實姿態引領台灣文學凝視真相</a:t>
            </a:r>
          </a:p>
          <a:p>
            <a:pPr>
              <a:defRPr sz="1200">
                <a:solidFill>
                  <a:srgbClr val="64748B"/>
                </a:solidFill>
              </a:defRPr>
            </a:pPr>
            <a:r>
              <a:t>不論真相多麼令人不安，唯有持續提出疑問與理解動機，才能免於重蹈歷史覆轍</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《經典也青春》節目核心結論 ｜ 領讀人：路那 ｜ 主持人：陳蕙慧</a:t>
            </a:r>
          </a:p>
        </p:txBody>
      </p:sp>
      <p:sp>
        <p:nvSpPr>
          <p:cNvPr id="7" name="Rectangle 6"/>
          <p:cNvSpPr/>
          <p:nvPr/>
        </p:nvSpPr>
        <p:spPr>
          <a:xfrm>
            <a:off x="1965960" y="4803006"/>
            <a:ext cx="731520" cy="866273"/>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4482966"/>
            <a:ext cx="1005840" cy="292608"/>
          </a:xfrm>
          <a:prstGeom prst="rect">
            <a:avLst/>
          </a:prstGeom>
          <a:noFill/>
        </p:spPr>
        <p:txBody>
          <a:bodyPr wrap="none">
            <a:spAutoFit/>
          </a:bodyPr>
          <a:lstStyle/>
          <a:p>
            <a:pPr algn="ctr">
              <a:defRPr sz="1100" b="0">
                <a:solidFill>
                  <a:srgbClr val="64748B"/>
                </a:solidFill>
              </a:defRPr>
            </a:pPr>
            <a:r>
              <a:t>遺忘與盲從</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0">
                <a:solidFill>
                  <a:srgbClr val="1F2937"/>
                </a:solidFill>
              </a:defRPr>
            </a:pPr>
            <a:r>
              <a:t>社會集體不求甚解</a:t>
            </a:r>
          </a:p>
        </p:txBody>
      </p:sp>
      <p:sp>
        <p:nvSpPr>
          <p:cNvPr id="10" name="Rectangle 9"/>
          <p:cNvSpPr/>
          <p:nvPr/>
        </p:nvSpPr>
        <p:spPr>
          <a:xfrm>
            <a:off x="4800600" y="2377440"/>
            <a:ext cx="731520" cy="3291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1005840" cy="292608"/>
          </a:xfrm>
          <a:prstGeom prst="rect">
            <a:avLst/>
          </a:prstGeom>
          <a:noFill/>
        </p:spPr>
        <p:txBody>
          <a:bodyPr wrap="none">
            <a:spAutoFit/>
          </a:bodyPr>
          <a:lstStyle/>
          <a:p>
            <a:pPr algn="ctr">
              <a:defRPr sz="1200" b="1">
                <a:solidFill>
                  <a:srgbClr val="051C2C"/>
                </a:solidFill>
              </a:defRPr>
            </a:pPr>
            <a:r>
              <a:t>反思與記憶</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1">
                <a:solidFill>
                  <a:srgbClr val="051C2C"/>
                </a:solidFill>
              </a:defRPr>
            </a:pPr>
            <a:r>
              <a:t>凝視真相之「魚眼」</a:t>
            </a:r>
          </a:p>
        </p:txBody>
      </p:sp>
      <p:sp>
        <p:nvSpPr>
          <p:cNvPr id="13" name="Rounded Rectangle 12"/>
          <p:cNvSpPr/>
          <p:nvPr/>
        </p:nvSpPr>
        <p:spPr>
          <a:xfrm>
            <a:off x="6949440" y="1828800"/>
            <a:ext cx="4480560" cy="42976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E3A8A"/>
                </a:solidFill>
              </a:defRPr>
            </a:pPr>
            <a:r>
              <a:t>全集終極核心啟示</a:t>
            </a:r>
          </a:p>
          <a:p>
            <a:pPr>
              <a:spcAft>
                <a:spcPts val="400"/>
              </a:spcAft>
              <a:defRPr sz="1150">
                <a:solidFill>
                  <a:srgbClr val="1F2937"/>
                </a:solidFill>
              </a:defRPr>
            </a:pPr>
            <a:r>
              <a:t>• 【持續追問】路那金句「一個很爛的解釋也好過沒有解釋」，是面對複雜犯罪的勇氣起點。</a:t>
            </a:r>
          </a:p>
          <a:p>
            <a:pPr>
              <a:spcAft>
                <a:spcPts val="400"/>
              </a:spcAft>
              <a:defRPr sz="1150">
                <a:solidFill>
                  <a:srgbClr val="1F2937"/>
                </a:solidFill>
              </a:defRPr>
            </a:pPr>
            <a:r>
              <a:t>• 【拒絕忽視】犯罪往往源於冷酷而理性的利益衡量，唯有理解才能防範未然。</a:t>
            </a:r>
          </a:p>
          <a:p>
            <a:pPr>
              <a:spcAft>
                <a:spcPts val="400"/>
              </a:spcAft>
              <a:defRPr sz="1150">
                <a:solidFill>
                  <a:srgbClr val="1F2937"/>
                </a:solidFill>
              </a:defRPr>
            </a:pPr>
            <a:r>
              <a:t>• 【記憶傳承】文學作品不僅是娛樂載體，更是社會集體良知與歷史記憶的最堅固堡壘。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