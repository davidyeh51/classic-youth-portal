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【採用版型與風格】cover ｜ McKinsey &amp; Company</a:t>
            </a:r>
          </a:p>
          <a:p>
            <a:r>
              <a:t>① 本頁結論：本頁確立《當祈禱落幕時》在東野圭吾創作生涯及加賀恭一郎系列中最高巔峰之文學地位。</a:t>
            </a:r>
          </a:p>
          <a:p>
            <a:r>
              <a:t>② 補充說明：陳國偉副教授為東野圭吾撰寫過23篇解說，親證其從早期本格解謎、中期《新參者》人形町庶民觀察，到本作「人間本格」大成之歷程。</a:t>
            </a:r>
          </a:p>
          <a:p>
            <a:r>
              <a:t>③ 下一頁轉場：首先，我們檢視本作在推理文學史所達成的吉川英治獎榮譽與風格突破。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1：一對一論法 (One-to-One) ｜ BCG (Boston Consulting Group)</a:t>
            </a:r>
          </a:p>
          <a:p>
            <a:r>
              <a:t>① 本頁結論：本作打破了本格派無血肉、社會派無詭計的刻板二元劃分，實現了推理文學質的飛躍。</a:t>
            </a:r>
          </a:p>
          <a:p>
            <a:r>
              <a:t>② 補充說明：東野圭吾藉此作證明，推理解謎的最高境界不是炫技，而是對人性深沉苦難的慈悲觀照。</a:t>
            </a:r>
          </a:p>
          <a:p>
            <a:r>
              <a:t>③ 下一頁轉場：接著探討支撐本作宏大敘事的三大核心支柱。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(Parallel) ｜ McKinsey &amp; Company</a:t>
            </a:r>
          </a:p>
          <a:p>
            <a:r>
              <a:t>① 本頁結論：三個維度的交織，使小說從單純的兇殺案破案，提升為對日本現代社會體制的宏大審判。</a:t>
            </a:r>
          </a:p>
          <a:p>
            <a:r>
              <a:t>② 補充說明：陳國偉副教授指出，東野圭吾在書中精確重現日本橋生活細節，賦予空間無可取代的生命力。</a:t>
            </a:r>
          </a:p>
          <a:p>
            <a:r>
              <a:t>③ 下一頁轉場：接下來沿著案情時間軸，剖析這場橫跨三十年的因果鏈推進。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4：連鎖論法 (Chain / Flow) ｜ Accenture</a:t>
            </a:r>
          </a:p>
          <a:p>
            <a:r>
              <a:t>① 本頁結論：全書沒有突兀的巧合，每一個線索的解開都伴隨著對角色生命悲歌的震撼發掘。</a:t>
            </a:r>
          </a:p>
          <a:p>
            <a:r>
              <a:t>② 補充說明：加賀恭一郎之所以長年甘願留在日本橋擔任地方警察，正是在等待母親身亡最後真相的浮現。</a:t>
            </a:r>
          </a:p>
          <a:p>
            <a:r>
              <a:t>③ 下一頁轉場：接下來透過麥肯錫矩陣，診斷加賀恭一郎與淺居父女跨越三十年的心理動態。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5：麥肯錫論法 (McKinsey Matrix) ｜ McKinsey &amp; Company</a:t>
            </a:r>
          </a:p>
          <a:p>
            <a:r>
              <a:t>① 本頁結論：加賀恭一郎與淺居忠雄表面是警匪對立，實則是精神世界中彼此映照的兩面鏡子。</a:t>
            </a:r>
          </a:p>
          <a:p>
            <a:r>
              <a:t>② 補充說明：陳國偉副教授強調，加賀恭一郎在人形町的十幾年，是一場溫柔而漫長的身世修行。</a:t>
            </a:r>
          </a:p>
          <a:p>
            <a:r>
              <a:t>③ 下一頁轉場：深入審視古典本格派與現代社會派推理在本作中的典範對抗與融合。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6：對立論法 (Opposition) ｜ BCG (Boston Consulting Group)</a:t>
            </a:r>
          </a:p>
          <a:p>
            <a:r>
              <a:t>① 本頁結論：《當祈禱落幕時》的成功證明：最震撼的謎團解法，永遠根植於最深刻的人性真實。</a:t>
            </a:r>
          </a:p>
          <a:p>
            <a:r>
              <a:t>② 補充說明：松本清張的社會關懷與江戶川亂步的奇巧智謀，在東野圭吾筆下達成了歷史性的大融合。</a:t>
            </a:r>
          </a:p>
          <a:p>
            <a:r>
              <a:t>③ 下一頁轉場：接著探討家庭倫理情感如何賦予刑偵破案無可取代的救贖力量。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7：文類跨界比較 (Cross-Genre Fusion) ｜ Accenture</a:t>
            </a:r>
          </a:p>
          <a:p>
            <a:r>
              <a:t>① 本頁結論：東野圭吾在家庭倫理劇場中的深耕，使他的推理小說具備超越類型文學的強大穿透力。</a:t>
            </a:r>
          </a:p>
          <a:p>
            <a:r>
              <a:t>② 補充說明：這部作品不僅是解謎之作，更是一首獻給所有在困頓中默默守護家人的哀傷詠嘆調。</a:t>
            </a:r>
          </a:p>
          <a:p>
            <a:r>
              <a:t>③ 下一頁轉場：將本作放入 BCG 策略矩陣，檢視東野圭吾在日本文壇的戰略座標。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8：BCG 2x2 矩陣 (BCG Matrix) ｜ BCG (Boston Consulting Group)</a:t>
            </a:r>
          </a:p>
          <a:p>
            <a:r>
              <a:t>① 本頁結論：東野圭吾之所以成為亞洲文壇霸主，正在於他成功佔據了右上角這個最稀缺的戰略象限。</a:t>
            </a:r>
          </a:p>
          <a:p>
            <a:r>
              <a:t>② 補充說明：《當祈禱落幕時》是該象限最完美的代表作，兼具直木獎與吉川英治獎的雙重高度。</a:t>
            </a:r>
          </a:p>
          <a:p>
            <a:r>
              <a:t>③ 下一頁轉場：最後，針對讀者、創作者與文化評論者提出具體落地實踐建議。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【採用版型與風格】行動建議：三大落地護欄實踐 ｜ McKinsey &amp; Company</a:t>
            </a:r>
          </a:p>
          <a:p>
            <a:r>
              <a:t>① 本頁結論：閱讀經典的意義，在於將書中提煉的智慧轉化為觀照現實、理解他人的生活力量。</a:t>
            </a:r>
          </a:p>
          <a:p>
            <a:r>
              <a:t>② 補充說明：陳國偉副教授強調，好的推理小說是社會的測溫計，能測出時代最真實的冷暖。</a:t>
            </a:r>
          </a:p>
          <a:p>
            <a:r>
              <a:t>③ 下一頁轉場：總結全篇，重申這部加賀恭一郎完結篇對當代讀者的恆久啟示。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1：一對一論法 (One-to-One) ｜ McKinsey &amp; Company</a:t>
            </a:r>
          </a:p>
          <a:p>
            <a:r>
              <a:t>① 本頁結論：《當祈禱落幕時》不僅是加賀恭一郎的落幕，更是東野圭吾寫作格局的最高昇華。</a:t>
            </a:r>
          </a:p>
          <a:p>
            <a:r>
              <a:t>② 補充說明：感謝陳國偉副教授深入透徹的領讀，帶領聽眾看懂東野圭吾藏在推理謎團後的深情。</a:t>
            </a:r>
          </a:p>
          <a:p>
            <a:r>
              <a:t>③ 下一頁轉場：感謝聆聽，歡迎前往知識庫大廳探索更多經典名著導讀與無雜訊簡報。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6459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EXECUTIVE PODCAST BRIEFING  |  ZERO-NOISE CONSULTING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經典也青春EP604：陳國偉談東野圭吾的《當祈禱落幕時》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核心主張：融合社會派命運悲歌與本格極致解謎，加賀恭一郎身世與日本核電悲歌的巔峰交響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AC4D2"/>
                </a:solidFill>
              </a:defRPr>
            </a:pPr>
            <a:r>
              <a:t>主講人：陳國偉副教授（中興大學文學院副院長 / 東野圭吾解說專家） ｜ 主持人：陳蕙慧 ｜ IC之音 × Readmoo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291840" cy="43891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dcast_ar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554480"/>
            <a:ext cx="2926080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45720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🎙️ 主講人：陳國偉副教授（中興大學文學院副院長 / 東野圭吾解說專家） ｜ 主持人：陳蕙慧 ｜ IC之音 × Readmoo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A74"/>
                </a:solidFill>
              </a:defRPr>
            </a:pPr>
            <a:r>
              <a:t>核心發現 1：文學史榮譽里程碑  ｜  版型 1：一對一論法 (One-to-One)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4F32"/>
                </a:solidFill>
              </a:defRPr>
            </a:pPr>
            <a:r>
              <a:t>① 主張：《當祈禱落幕時》榮膺第48屆吉川英治文學獎，宣告「人間本格」體系登峰造極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打破古典本格與社會派壁壘，加賀恭一郎三十年巡警宿命之旅的終極圓滿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Source: 吉川英治文學獎歷屆紀錄 ｜ 陳國偉《當祈禱落幕時》專文解說</a:t>
            </a:r>
          </a:p>
        </p:txBody>
      </p:sp>
      <p:sp>
        <p:nvSpPr>
          <p:cNvPr id="7" name="Rectangle 6"/>
          <p:cNvSpPr/>
          <p:nvPr/>
        </p:nvSpPr>
        <p:spPr>
          <a:xfrm>
            <a:off x="1493520" y="4661573"/>
            <a:ext cx="731520" cy="1007706"/>
          </a:xfrm>
          <a:prstGeom prst="rect">
            <a:avLst/>
          </a:prstGeom>
          <a:solidFill>
            <a:srgbClr val="C0C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6360" y="4341533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幾何詭計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0640" y="574243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1F2937"/>
                </a:solidFill>
              </a:defRPr>
            </a:pPr>
            <a:r>
              <a:t>早期本格期 (1985-2005)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485916"/>
            <a:ext cx="731520" cy="2183363"/>
          </a:xfrm>
          <a:prstGeom prst="rect">
            <a:avLst/>
          </a:prstGeom>
          <a:solidFill>
            <a:srgbClr val="C0C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3165876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新參者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74243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1F2937"/>
                </a:solidFill>
              </a:defRPr>
            </a:pPr>
            <a:r>
              <a:t>人間本格摸索 (2005-2010)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73040" y="2377440"/>
            <a:ext cx="731520" cy="3291840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5880" y="205740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4F32"/>
                </a:solidFill>
              </a:defRPr>
            </a:pPr>
            <a:r>
              <a:t>吉川英治獎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0160" y="574243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04F32"/>
                </a:solidFill>
              </a:defRPr>
            </a:pPr>
            <a:r>
              <a:t>巔峰大成期 (2013-)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828800"/>
            <a:ext cx="4480560" cy="429768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2011680"/>
            <a:ext cx="4023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② 全球推理文壇最高榮譽認證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榮獲第48屆吉川英治文學獎，與《嫌疑犯X的獻身》並列東野圭吾生涯雙巔峰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完美終結加賀恭一郎自1986年《畢業》以來長達近三十年的刑警心靈流徙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陳國偉教授親撰 23 篇東野專文解說之最高評價：將家庭悲劇與社會批判融入嚴密本格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阿部寬主演電影版票房大賣，樹立日本當代改編文學無可撼動的經典標竿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核心發現 2：文本構築機制  ｜  版型 2：並列論法 (Parallel)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1C2C"/>
                </a:solidFill>
              </a:defRPr>
            </a:pPr>
            <a:r>
              <a:t>① 主張：全書以「雙軌尋親謎團」、「日本橋十二座橋網絡」與「核電底層悲歌」構築三層史詩結構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家庭原罪 × 庶民地域地景 × 社會階級底層批判的立體交織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Source: IC之音《經典也青春》EP604 文本結構深入剖析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23818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423818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支柱 1：加賀與博美的雙軌對照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1. 加賀追尋出走母親田島百合子客死仙台真相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2. 淺居博美背負父女兩代生死不離之絕望承諾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3. 兩道深沉家庭傷痕在命運交會點激烈碰撞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1828800"/>
            <a:ext cx="3423818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1828800"/>
            <a:ext cx="3423818" cy="4572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支柱 2：日本橋地域地景網絡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1. 人形町、水天宮、清洲橋等十二座橋空間巡禮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2. 明治座舞台劇《曾根崎心中》的戲中戲宿命隱喻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3. 每月中旬依序燒毀之月曆構成解謎核心鑰匙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828800"/>
            <a:ext cx="3423818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36356" y="1828800"/>
            <a:ext cx="3423818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支柱 3：核電底層工人的階級悲歌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1. 松本清張《砂之器》在二十一世紀的震撼回響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2. 揭露日本福島與敦賀核電廠無名清掃工殘酷處境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3. 資本繁榮背後被剝奪姓名與人權的邊緣人悲劇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100FF"/>
                </a:solidFill>
              </a:defRPr>
            </a:pPr>
            <a:r>
              <a:t>核心發現 3：時序推進與因果鏈  ｜  版型 4：連鎖論法 (Chain / Flow)  ｜  Accenture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11827"/>
                </a:solidFill>
              </a:defRPr>
            </a:pPr>
            <a:r>
              <a:t>① 主張：從東京廉價公寓腐屍案出發，四重嚴密因果推演直抵三十年前核電調包宿命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環環相扣之邏輯推演：庶民日常凶案 ➔ 日本橋月曆 ➔ 母親遺留密碼 ➔ 父女絕境祈禱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Source: 東野圭吾《當祈禱落幕時》因果推演架構分析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" y="1783080"/>
            <a:ext cx="10728655" cy="347472"/>
          </a:xfrm>
          <a:prstGeom prst="rightArrow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② 橫跨三十年之時序推演與案情因果深化推進鏈 ───►</a:t>
            </a:r>
          </a:p>
        </p:txBody>
      </p:sp>
      <p:sp>
        <p:nvSpPr>
          <p:cNvPr id="8" name="Chevron 7"/>
          <p:cNvSpPr/>
          <p:nvPr/>
        </p:nvSpPr>
        <p:spPr>
          <a:xfrm>
            <a:off x="731520" y="2286000"/>
            <a:ext cx="3423818" cy="68580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順序 1：押谷道子離奇遇害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3423818" cy="301752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314949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滋賀縣養老院女職員赴東京訪友遭勒斃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命案現場無打鬥痕跡，牽連名導演淺居博美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搜查一課陷入身分與動機迷霧</a:t>
            </a:r>
          </a:p>
        </p:txBody>
      </p:sp>
      <p:sp>
        <p:nvSpPr>
          <p:cNvPr id="11" name="Chevron 10"/>
          <p:cNvSpPr/>
          <p:nvPr/>
        </p:nvSpPr>
        <p:spPr>
          <a:xfrm>
            <a:off x="4383938" y="2286000"/>
            <a:ext cx="3423818" cy="685800"/>
          </a:xfrm>
          <a:prstGeom prst="chevron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順序 2：日本橋十二座橋密碼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3108960"/>
            <a:ext cx="3423818" cy="301752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1098" y="3246120"/>
            <a:ext cx="314949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死者租屋處遺留每月中旬燒毀之日本橋月曆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松宮脩平查知加賀母親遺物竟有完全相同字跡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加賀恭一郎身世謎團正式捲入刑偵主線</a:t>
            </a:r>
          </a:p>
        </p:txBody>
      </p:sp>
      <p:sp>
        <p:nvSpPr>
          <p:cNvPr id="14" name="Chevron 13"/>
          <p:cNvSpPr/>
          <p:nvPr/>
        </p:nvSpPr>
        <p:spPr>
          <a:xfrm>
            <a:off x="8036356" y="2286000"/>
            <a:ext cx="3423818" cy="685800"/>
          </a:xfrm>
          <a:prstGeom prst="chevron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順序 3：三十年身分調包真相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356" y="3108960"/>
            <a:ext cx="3423818" cy="301752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3516" y="3246120"/>
            <a:ext cx="314949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核電廠清潔工綿部俊一即博美假死父親淺居忠雄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父親弒人借殼重生，隱於暗處守護愛女舞台夢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▪ 祈禱大幕落下：極致父愛與法律正義之終極撕裂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核心發現 4：家庭原罪與救贖矩陣  ｜  版型 5：麥肯錫論法 (McKinsey Matrix)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1C2C"/>
                </a:solidFill>
              </a:defRPr>
            </a:pPr>
            <a:r>
              <a:t>① 主張：加賀恭一郎 vs. 淺居忠雄：橫軸四階段因果 × 縱軸家庭原罪與贖罪救贖之矩陣對照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同樣面對家庭離散之創傷，刑警與逃亡者如何以截然不同路徑尋求靈魂安頓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Source: 陳國偉副教授《當祈禱落幕時》角色心理與精神救贖解讀</a:t>
            </a:r>
          </a:p>
        </p:txBody>
      </p:sp>
      <p:sp>
        <p:nvSpPr>
          <p:cNvPr id="7" name="Chevron 6"/>
          <p:cNvSpPr/>
          <p:nvPr/>
        </p:nvSpPr>
        <p:spPr>
          <a:xfrm>
            <a:off x="2880360" y="1783080"/>
            <a:ext cx="2042083" cy="5486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階段 1：家庭離散原罪</a:t>
            </a:r>
          </a:p>
        </p:txBody>
      </p:sp>
      <p:sp>
        <p:nvSpPr>
          <p:cNvPr id="8" name="Chevron 7"/>
          <p:cNvSpPr/>
          <p:nvPr/>
        </p:nvSpPr>
        <p:spPr>
          <a:xfrm>
            <a:off x="5059603" y="1783080"/>
            <a:ext cx="2042083" cy="5486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階段 2：邊緣蟄伏守候</a:t>
            </a:r>
          </a:p>
        </p:txBody>
      </p:sp>
      <p:sp>
        <p:nvSpPr>
          <p:cNvPr id="9" name="Chevron 8"/>
          <p:cNvSpPr/>
          <p:nvPr/>
        </p:nvSpPr>
        <p:spPr>
          <a:xfrm>
            <a:off x="7238847" y="1783080"/>
            <a:ext cx="2042083" cy="5486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階段 3：隱蔽守護碰撞</a:t>
            </a:r>
          </a:p>
        </p:txBody>
      </p:sp>
      <p:sp>
        <p:nvSpPr>
          <p:cNvPr id="10" name="Chevron 9"/>
          <p:cNvSpPr/>
          <p:nvPr/>
        </p:nvSpPr>
        <p:spPr>
          <a:xfrm>
            <a:off x="9418091" y="1783080"/>
            <a:ext cx="2042083" cy="548640"/>
          </a:xfrm>
          <a:prstGeom prst="chevr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階段 4：祈禱終局救贖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2011680" cy="17373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加賀恭一郎 (刑警的守候)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514600"/>
            <a:ext cx="2042083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606040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母親因父親專制離家出走，懷抱自責創傷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9603" y="2514600"/>
            <a:ext cx="2042083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1043" y="2606040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甘願降調日本橋署，在人形町守望母親足跡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8847" y="2514600"/>
            <a:ext cx="2042083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0287" y="2606040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以心靈捕手姿態撫慰地方居民，尋找母親影子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091" y="2514600"/>
            <a:ext cx="2042083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531" y="2606040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解開命案真相，亦解開心中身世死結，走向新生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89120"/>
            <a:ext cx="2011680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淺居忠雄 (逃亡者的獻身)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4389120"/>
            <a:ext cx="2042083" cy="173736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4480559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遭妻子背叛負債累累，攜幼女絕望跳崖自盡未遂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59603" y="4389120"/>
            <a:ext cx="2042083" cy="173736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51043" y="4480559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利用意外事故調包身分，偽裝自盡抹去人間存在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8847" y="4389120"/>
            <a:ext cx="2042083" cy="173736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0287" y="4480559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遠赴核電廠充當清掃工，每月日本橋橋頭遠眺愛女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091" y="4389120"/>
            <a:ext cx="2042083" cy="173736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531" y="4480559"/>
            <a:ext cx="185920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2937"/>
                </a:solidFill>
              </a:defRPr>
            </a:pPr>
            <a:r>
              <a:t>為保全愛女前程親手終結罪孽，以生命完成最終祈禱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A74"/>
                </a:solidFill>
              </a:defRPr>
            </a:pPr>
            <a:r>
              <a:t>核心發現 5：推理美學典範對抗  ｜  版型 6：對立論法 (Opposition)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4F32"/>
                </a:solidFill>
              </a:defRPr>
            </a:pPr>
            <a:r>
              <a:t>① 主張：「古典本格純智力詭計」vs.「社會派命運與體制拷問」在本作達成美學共生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東野圭吾跨越戰後日本推理五十年流派對立，確立「人間本格」之劃時代價值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Source: IC之音《經典也青春》EP604 日本推理文學流派演進論述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783080"/>
            <a:ext cx="4206240" cy="457200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古典本格推理維度（純粹解謎）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783080"/>
            <a:ext cx="4206240" cy="457200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② 社會派推理維度（人間悲歌）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201168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4F32"/>
                </a:solidFill>
              </a:defRPr>
            </a:pPr>
            <a:r>
              <a:t>謎團核心本質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37744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42316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十二座橋的行程盲點、不在場證明與精妙偽裝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37744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42316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社會階級壓迫、戶籍體制暴力與底層工人生存絕境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201168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4F32"/>
                </a:solidFill>
              </a:defRPr>
            </a:pPr>
            <a:r>
              <a:t>兇手作案動機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333756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338328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追求完美犯罪、瞞過警方的智力對弈與誤導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33756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38328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為捍衛摯愛親人之生存尊嚴，傾其所有的沉痛犧牲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80"/>
            <a:ext cx="201168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4F32"/>
                </a:solidFill>
              </a:defRPr>
            </a:pPr>
            <a:r>
              <a:t>偵探角色定位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429768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434340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冷靜超然、居高臨下指出兇手的解謎機器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29768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434340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深入庶民社區、醫治創傷與守護家庭的心靈捕手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57800"/>
            <a:ext cx="201168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4F32"/>
                </a:solidFill>
              </a:defRPr>
            </a:pPr>
            <a:r>
              <a:t>文學終極承載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525780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530352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封閉式暴風雨山莊的益智智力遊戲體驗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5257800"/>
            <a:ext cx="4206240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5303520"/>
            <a:ext cx="40233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對日本戰後繁榮背後被制度性拋棄之弱勢的沉痛控訴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100FF"/>
                </a:solidFill>
              </a:defRPr>
            </a:pPr>
            <a:r>
              <a:t>核心發現 6：文類跨界融合機制  ｜  版型 7：文類跨界比較 (Cross-Genre Fusion)  ｜  Accenture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11827"/>
                </a:solidFill>
              </a:defRPr>
            </a:pPr>
            <a:r>
              <a:t>① 主張：親情家庭劇場的濃烈血肉，賦予冰冷刑偵邏輯無可取代之救贖力量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從《嫌疑犯X的獻身》之男女愛情，昇華至《當祈禱落幕時》之父女骨肉絕境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Source: 陳國偉副教授東野圭吾系列創作脈絡專題研究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23818" cy="4389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423818" cy="4572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維度 1：本格詭計的嚴密佈局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1. 十二座橋的時間差與暗號系統精準契合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2. 身分調包、縱火掩飾與DNA比對技術博弈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3. 抽絲剝繭的邏輯鏈條毫無破綻與牽強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1828800"/>
            <a:ext cx="3423818" cy="4389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1828800"/>
            <a:ext cx="3423818" cy="4572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維度 2：松本清張式社會悲歌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1. 直擊日本核電外包「隱形工人」的健康摧殘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2. 戶籍抹除後流浪於社會邊緣的無身分幽魂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3. 國家經濟崛起背後被犧牲者的血淚證言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828800"/>
            <a:ext cx="3423818" cy="4389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36356" y="1828800"/>
            <a:ext cx="3423818" cy="4572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維度 3：加賀恭一郎的靈魂昇華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1. 破案不是將兇手繩之以法，而是撫平創傷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2. 化解橫跨兩代人的心結，與亡母達成靈魂和解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3. 從「新參者」真正蛻變為懂得愛的成熟執法者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BA74"/>
                </a:solidFill>
              </a:defRPr>
            </a:pPr>
            <a:r>
              <a:t>策略定位矩陣  ｜  版型 8：BCG 2x2 矩陣 (BCG Matrix)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4F32"/>
                </a:solidFill>
              </a:defRPr>
            </a:pPr>
            <a:r>
              <a:t>① 主張：東野圭吾在「本格智力複雜度」與「人間情感社會批判」間建立無可撼動的領先座標</a:t>
            </a:r>
          </a:p>
          <a:p>
            <a:pPr>
              <a:defRPr sz="1200">
                <a:solidFill>
                  <a:srgbClr val="6B7280"/>
                </a:solidFill>
              </a:defRPr>
            </a:pPr>
            <a:r>
              <a:t>跨越四十年的創作版圖：在嚴謹詭計、大眾暢銷與社會厚度中取得最佳平衡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Source: BCG 矩陣分析日本現代推理小說競爭格局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1097280" cy="3931920"/>
          </a:xfrm>
          <a:prstGeom prst="rect">
            <a:avLst/>
          </a:prstGeom>
          <a:solidFill>
            <a:srgbClr val="004F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▲</a:t>
            </a:r>
            <a:br/>
            <a:r>
              <a:t>大</a:t>
            </a:r>
            <a:br/>
            <a:r>
              <a:t>眾</a:t>
            </a:r>
            <a:br/>
            <a:r>
              <a:t>暢</a:t>
            </a:r>
            <a:br/>
            <a:r>
              <a:t>銷</a:t>
            </a:r>
            <a:br/>
            <a:r>
              <a:t>傳</a:t>
            </a:r>
            <a:br/>
            <a:r>
              <a:t>播</a:t>
            </a:r>
            <a:br/>
            <a:r>
              <a:t>力</a:t>
            </a:r>
            <a:br/>
            <a:r>
              <a:t>│</a:t>
            </a:r>
            <a:br/>
            <a:r>
              <a:t>Y</a:t>
            </a:r>
            <a:br/>
            <a:r>
              <a:t>軸</a:t>
            </a:r>
            <a:br/>
            <a:r>
              <a:t>│</a:t>
            </a:r>
            <a:br/>
            <a:r>
              <a:t>純</a:t>
            </a:r>
            <a:br/>
            <a:r>
              <a:t>文</a:t>
            </a:r>
            <a:br/>
            <a:r>
              <a:t>學</a:t>
            </a:r>
            <a:br/>
            <a:r>
              <a:t>深</a:t>
            </a:r>
            <a:br/>
            <a:r>
              <a:t>度</a:t>
            </a:r>
            <a:br/>
            <a: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5806440"/>
            <a:ext cx="6583680" cy="384048"/>
          </a:xfrm>
          <a:prstGeom prst="rect">
            <a:avLst/>
          </a:prstGeom>
          <a:solidFill>
            <a:srgbClr val="004F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◄ 嚴謹智力解謎／本格幾何詭計               X 軸：推理小說敘事維度               人間情感／社會階級深度批判 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1783080"/>
            <a:ext cx="3246120" cy="1874519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874519"/>
            <a:ext cx="2971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7B57"/>
                </a:solidFill>
              </a:defRPr>
            </a:pPr>
            <a:r>
              <a:t>象限 1：古典本格派 (左上)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智力詭計極度精巧，但角色紙片化、缺少社會厚度與情感共鳴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783080"/>
            <a:ext cx="3246120" cy="1874519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874519"/>
            <a:ext cx="2971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4F32"/>
                </a:solidFill>
              </a:defRPr>
            </a:pPr>
            <a:r>
              <a:t>象限 2：人間本格巔峰 (右上 - 目標焦點)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《當祈禱落幕時》落點：嚴密本格詭計 × 沉痛親情悲歌 × 跨國大眾共鳴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3794760"/>
            <a:ext cx="3246120" cy="1874519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3886200"/>
            <a:ext cx="2971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7B57"/>
                </a:solidFill>
              </a:defRPr>
            </a:pPr>
            <a:r>
              <a:t>象限 3：硬漢冷硬派 (左下)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強調黑色氛圍與孤獨執法，但缺少大眾傳播力與精巧解謎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794760"/>
            <a:ext cx="3246120" cy="1874519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3886200"/>
            <a:ext cx="2971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7B57"/>
                </a:solidFill>
              </a:defRPr>
            </a:pPr>
            <a:r>
              <a:t>象限 4：傳統社會派 (右下)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強大體制批判與人性深度，但往往缺少令人拍案叫絕的本格詭計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783080"/>
            <a:ext cx="2651760" cy="438912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92024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77B57"/>
                </a:solidFill>
              </a:defRPr>
            </a:pPr>
            <a:r>
              <a:t>🎯 BCG 策略啟示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【雙重平衡】不走極端學術晦澀，亦不流於快餐膚淺。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【國際破圈】以大眾百合小說為載體，包覆深刻後殖民反思。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</a:defRPr>
            </a:pPr>
            <a:r>
              <a:t>• 【出海範式】為臺灣在地經驗走向全球提供可複製的經典路徑。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落地實踐行動建議  ｜  行動建議：三大落地護欄實踐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1C2C"/>
                </a:solidFill>
              </a:defRPr>
            </a:pPr>
            <a:r>
              <a:t>① 主張：建立短中長期落地護欄，轉化推理洞察為當代故事創作與社會關懷動能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現代讀者、小說創作者與文化轉譯者的三大落地實踐藍圖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Source: Executive Action Roadmap 經典也青春導讀實踐藍圖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23818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423818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短期實踐 (0-30 天)：現代推理讀者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1. 重新依時序通讀加賀恭一郎十部曲，梳理加賀身世成長線索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2. 親赴東京日本橋進行「人形町、明治座與十二座橋聖地巡禮」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3. 反思個人在家庭關係中是否存在難以啟齒的自責與情感溝通盲點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1828800"/>
            <a:ext cx="3423818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1828800"/>
            <a:ext cx="3423818" cy="4572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中期推進 (1-3 個月)：故事創作者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1. 借鑒東野圭吾「人間本格」範式，拒絕扁平化、為解謎而解謎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2. 將情節衝突深植於家庭倫理矛盾與當代真實社會議題之中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3. 精準設定地域空間網絡，讓城市文化與地景成為推動劇情的有機角色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828800"/>
            <a:ext cx="3423818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36356" y="1828800"/>
            <a:ext cx="3423818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長期制度 (3-6 個月)：文化評論與傳播者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2423160"/>
            <a:ext cx="314949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1. 推動大眾類型小說深度文獻研究，提升通俗文學之學術話語權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2. 借鑒加賀系列影視改編模式，探索台灣本土在地推理小說的跨媒介轉譯</a:t>
            </a:r>
          </a:p>
          <a:p>
            <a:pPr>
              <a:spcAft>
                <a:spcPts val="600"/>
              </a:spcAft>
              <a:defRPr sz="1200">
                <a:solidFill>
                  <a:srgbClr val="1F2937"/>
                </a:solidFill>
              </a:defRPr>
            </a:pPr>
            <a:r>
              <a:t>3. 透過故事喚起公眾對邊緣弱勢群體（如底層勞工、單親家庭）之長效關懷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總結：超越時空的文學啟示  ｜  版型 1：一對一論法 (One-to-One)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20040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1C2C"/>
                </a:solidFill>
              </a:defRPr>
            </a:pPr>
            <a:r>
              <a:t>① 主張：《當祈禱落幕時》不僅是神作收官，更是一場對人性、家庭與時代體制的永恆祈禱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在謊言落幕之處，守護最後真實的愛與救贖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Source: IC之音《經典也青春》EP604 導讀總結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493520" y="2814112"/>
            <a:ext cx="731520" cy="2855167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6360" y="2494072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嚴密詭計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0640" y="574243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1F2937"/>
                </a:solidFill>
              </a:defRPr>
            </a:pPr>
            <a:r>
              <a:t>本格解謎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646161"/>
            <a:ext cx="731520" cy="3023118"/>
          </a:xfrm>
          <a:prstGeom prst="rect">
            <a:avLst/>
          </a:prstGeom>
          <a:solidFill>
            <a:srgbClr val="BA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2326121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核電悲歌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74243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0">
                <a:solidFill>
                  <a:srgbClr val="1F2937"/>
                </a:solidFill>
              </a:defRPr>
            </a:pPr>
            <a:r>
              <a:t>社會批判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73040" y="2377440"/>
            <a:ext cx="731520" cy="3291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5880" y="205740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永恆祈禱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0160" y="574243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051C2C"/>
                </a:solidFill>
              </a:defRPr>
            </a:pPr>
            <a:r>
              <a:t>人性救贖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828800"/>
            <a:ext cx="448056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2011680"/>
            <a:ext cx="4023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② 導讀精華總結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案件的真正終點不是將犯人送進監獄，而是解開橫跨三十年的人性死結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加賀恭一郎在人形町的十幾年，既是等待母親的救贖，也是對所有受苦靈魂的溫柔護衛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淺居父女的悲劇警示我們：當社會體制將弱勢逼入絕境，家庭之愛竟會化作最沉痛的深淵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t>• 陳國偉教授總結：東野圭吾以此作向世界宣告，推理小說能承載最深沉的人間苦難與善意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