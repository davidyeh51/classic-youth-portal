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【採用版型與風格】cover ｜ McKinsey &amp; Company</a:t>
            </a:r>
          </a:p>
          <a:p>
            <a:r>
              <a:t>① 本頁結論：本頁確立《臺灣漫遊錄》在當代華文文學跨入全球頂尖獎項的核心地位與導讀框架。</a:t>
            </a:r>
          </a:p>
          <a:p>
            <a:r>
              <a:t>② 補充說明：本集由陳國偉副教授領讀其指導學生楊双子之獲獎鉅作，從歷史考證、後殖民權力、百合情誼到飲食文學進行全方位深度解析。</a:t>
            </a:r>
          </a:p>
          <a:p>
            <a:r>
              <a:t>③ 下一頁轉場：首先，我們來看這部作品在全球文學版圖所樹立的歷史性里程碑。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1：一對一論法 (One-to-One) ｜ BCG (Boston Consulting Group)</a:t>
            </a:r>
          </a:p>
          <a:p>
            <a:r>
              <a:t>① 本頁結論：《臺灣漫遊錄》打破華語文學在西方與日本主流書市的翻譯藩籬，成為指標性經典。</a:t>
            </a:r>
          </a:p>
          <a:p>
            <a:r>
              <a:t>② 補充說明：國際評審盛讚其兼具「美味的浪漫故事」與「極其銳利的後殖民歷史剖析」，具備高度普世價值。</a:t>
            </a:r>
          </a:p>
          <a:p>
            <a:r>
              <a:t>③ 下一頁轉場：接下來，深入剖析支撐這部作品深層文學魅力的三大構築支柱。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(Parallel) ｜ McKinsey &amp; Company</a:t>
            </a:r>
          </a:p>
          <a:p>
            <a:r>
              <a:t>① 本頁結論：透過虛構翻譯、臺中地景與食物命名的巧妙架構，小說具備深厚的解讀潛力。</a:t>
            </a:r>
          </a:p>
          <a:p>
            <a:r>
              <a:t>② 補充說明：陳國偉副教授指出，楊双子小說將臺中納入關鍵地景，打破過往文學偏重台北的慣性。</a:t>
            </a:r>
          </a:p>
          <a:p>
            <a:r>
              <a:t>③ 下一頁轉場：讓我們沿著昭和十三年的縱貫鐵道，檢視這趟漫遊旅程的因果演進。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 (Chain / Flow) ｜ Accenture</a:t>
            </a:r>
          </a:p>
          <a:p>
            <a:r>
              <a:t>① 本頁結論：鐵道漫遊不僅是空間上的位移，更是兩位女性在權力與情感光譜上的不可逆位移。</a:t>
            </a:r>
          </a:p>
          <a:p>
            <a:r>
              <a:t>② 補充說明：看似溫暖的美食小吃之旅，背後伴隨著中日戰爭爆發（1938年）的嚴峻歷史陰影。</a:t>
            </a:r>
          </a:p>
          <a:p>
            <a:r>
              <a:t>③ 下一頁轉場：接著以麥肯錫矩陣，逐一診斷兩位女主角在各階段的權力認知與心理抗詰。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 (McKinsey Matrix) ｜ McKinsey &amp; Company</a:t>
            </a:r>
          </a:p>
          <a:p>
            <a:r>
              <a:t>① 本頁結論：青山千鶴子的善意與王千鶴的抵抗，構成了全書最幽微精采的心理角力。</a:t>
            </a:r>
          </a:p>
          <a:p>
            <a:r>
              <a:t>② 補充說明：餐桌上王千鶴說出「我不喜歡吃這個」，實際上是被殖民者極為珍貴的主體性展示。</a:t>
            </a:r>
          </a:p>
          <a:p>
            <a:r>
              <a:t>③ 下一頁轉場：進一步將「殖民者善意」與「真實處境」置於對立論法維度進行嚴格審視。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6：對立論法 (Opposition) ｜ BCG (Boston Consulting Group)</a:t>
            </a:r>
          </a:p>
          <a:p>
            <a:r>
              <a:t>① 本頁結論：小說超越歷史題材的關鍵，在於它對人際權力關係中「無意識暴力」的普世揭示。</a:t>
            </a:r>
          </a:p>
          <a:p>
            <a:r>
              <a:t>② 補充說明：陳國偉副教授強調，許多人在親子、職場與伴侶關係中，往往無意間扮演了青山千鶴子。</a:t>
            </a:r>
          </a:p>
          <a:p>
            <a:r>
              <a:t>③ 下一頁轉場：接下來，探討大眾百合小說包裝與純文學嚴肅批判如何達成完美融合。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7：文類跨界比較 (Cross-Genre Fusion) ｜ Accenture</a:t>
            </a:r>
          </a:p>
          <a:p>
            <a:r>
              <a:t>① 本頁結論：百合小說不是噱頭，而是作者用來解構宏大歷史敘事的精密顯微鏡。</a:t>
            </a:r>
          </a:p>
          <a:p>
            <a:r>
              <a:t>② 補充說明：楊双子早期撰寫愛情小說的深厚功力，讓兩位女性的互動具有極高的心理寫實感。</a:t>
            </a:r>
          </a:p>
          <a:p>
            <a:r>
              <a:t>③ 下一頁轉場：將此成功範式放入 BCG 策略矩陣，檢視臺灣文學國際破圈的戰略座標。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8：BCG 2x2 矩陣 (BCG Matrix) ｜ BCG (Boston Consulting Group)</a:t>
            </a:r>
          </a:p>
          <a:p>
            <a:r>
              <a:t>① 本頁結論：臺灣文學走向世界，關鍵在於將獨特的地方歷史經驗轉化為普世人類共感的語彙。</a:t>
            </a:r>
          </a:p>
          <a:p>
            <a:r>
              <a:t>② 補充說明：《臺灣漫遊錄》證明，深入本土歷史並不等於封閉，反而能成為全球共鳴的基石。</a:t>
            </a:r>
          </a:p>
          <a:p>
            <a:r>
              <a:t>③ 下一頁轉場：最後，針對讀者、創作者與文化傳播者提出具體落地實踐建議。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【採用版型與風格】行動建議：三大落地護欄實踐 ｜ McKinsey &amp; Company</a:t>
            </a:r>
          </a:p>
          <a:p>
            <a:r>
              <a:t>① 本頁結論：優秀的文學作品不應止於閱讀，更應轉化為個人生命反思與產業實踐的動能。</a:t>
            </a:r>
          </a:p>
          <a:p>
            <a:r>
              <a:t>② 補充說明：透過跨媒介與高品質外譯，臺灣文學具備源源不絕的國際破圈潛力。</a:t>
            </a:r>
          </a:p>
          <a:p>
            <a:r>
              <a:t>③ 下一頁轉場：總結全篇，重申這部當代經典對我們每個人身處世界的恆久啟示。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1：一對一論法 (One-to-One) ｜ McKinsey &amp; Company</a:t>
            </a:r>
          </a:p>
          <a:p>
            <a:r>
              <a:t>① 本頁結論：《臺灣漫遊錄》之所以偉大，是因為它最終關照的是每個人在各種關係中的真實靈魂。</a:t>
            </a:r>
          </a:p>
          <a:p>
            <a:r>
              <a:t>② 補充說明：感謝陳國偉副教授精闢深刻的領讀，為聽眾帶來一場智識與情感兼具的文學饗宴。</a:t>
            </a:r>
          </a:p>
          <a:p>
            <a:r>
              <a:t>③ 下一頁轉場：感謝聆聽，歡迎下載完整無雜訊簡報並親臨走訪臺中，體驗這趟不凡的漫遊。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6459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EXECUTIVE PODCAST BRIEFING  |  ZERO-NOISE CONSULTING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經典也青春EP605：陳國偉談楊双子的《臺灣漫遊錄》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核心主張：以昭和十三年鐵道飲食漫遊為骨架，拆解殖民善意與階級鴻溝，開創臺灣文學國際榮耀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AC4D2"/>
                </a:solidFill>
              </a:defRPr>
            </a:pPr>
            <a:r>
              <a:t>主講人：陳國偉副教授（中興大學文學院副院長） ｜ 主持人：陳蕙慧 ｜ IC之音 × Readmoo 讀墨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291840" cy="43891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dcast_ar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554480"/>
            <a:ext cx="292608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45720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🎙️ 主講人：陳國偉副教授（中興大學文學院副院長） ｜ 主持人：陳蕙慧 ｜ IC之音 × Readmoo 讀墨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A74"/>
                </a:solidFill>
              </a:defRPr>
            </a:pPr>
            <a:r>
              <a:t>核心發現 1：國際榮譽里程碑  ｜  版型 1：一對一論法 (One-to-One)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4F32"/>
                </a:solidFill>
              </a:defRPr>
            </a:pPr>
            <a:r>
              <a:t>① 主張：楊双子《臺灣漫遊錄》橫掃美日三大國際翻譯大獎，確立華語作家全球頂尖地位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美國國家圖書獎首位華語作家 ＋ 日本翻譯大賞 ＋ 國際布克獎歷史性突破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Source: National Book Foundation, International Booker Prize, Japan Translation Award Official Records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93520" y="5322770"/>
            <a:ext cx="731520" cy="346509"/>
          </a:xfrm>
          <a:prstGeom prst="rect">
            <a:avLst/>
          </a:prstGeom>
          <a:solidFill>
            <a:srgbClr val="C0C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6360" y="500273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0 首例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0640" y="5742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1F2937"/>
                </a:solidFill>
              </a:defRPr>
            </a:pPr>
            <a:r>
              <a:t>歷年華語作家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936732"/>
            <a:ext cx="731520" cy="1732547"/>
          </a:xfrm>
          <a:prstGeom prst="rect">
            <a:avLst/>
          </a:prstGeom>
          <a:solidFill>
            <a:srgbClr val="C0C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3616692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布克獎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742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1F2937"/>
                </a:solidFill>
              </a:defRPr>
            </a:pPr>
            <a:r>
              <a:t>韓江 (亞洲首座)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73040" y="2377440"/>
            <a:ext cx="731520" cy="329184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5880" y="205740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3 冠王榮耀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0160" y="5742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04F32"/>
                </a:solidFill>
              </a:defRPr>
            </a:pPr>
            <a:r>
              <a:t>楊双子《臺灣漫遊錄》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828800"/>
            <a:ext cx="4480560" cy="42976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011680"/>
            <a:ext cx="4023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② 全球最高翻譯文學榮譽認證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2024 年榮獲美國國家圖書獎翻譯文學獎（華語作家歷史第一人）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2024 年榮獲日本翻譯大賞（首位獲獎之台灣文學作家）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榮獲國際布克獎肯定，比肩諾貝爾文學獎得主韓江之國際聲譽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陳國偉教授親證：從碩士文史研究到文學創作的厚積薄發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核心發現 2：文本構築機制  ｜  版型 2：並列論法 (Parallel)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1C2C"/>
                </a:solidFill>
              </a:defRPr>
            </a:pPr>
            <a:r>
              <a:t>① 主張：全書以虛構翻譯體、臺中地景網絡與飲食篇章，構築多層次後殖民文學空間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三大支柱相互交織，將嚴謹歷史考證轉化為流暢大眾文學經驗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Source: IC之音《經典也青春》EP605 文本結構分析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3818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23818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支柱 1：虛構翻譯體後設文學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1. 假托日本女作家青山千鶴子1954年自傳小說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2. 創造多層次敘事距離與日台視角交錯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3. 打破傳統歷史小說生硬刻板的宣教框限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828800"/>
            <a:ext cx="3423818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1828800"/>
            <a:ext cx="3423818" cy="4572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支柱 2：臺中城鄉地景網絡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1. 以楊双子故鄉臺中為故事地理核心大本營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2. 細緻考究日治時期柳川、本島人與日人區域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3. 拓展臺灣文學「從臺中走向世界」之新版圖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828800"/>
            <a:ext cx="3423818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6356" y="1828800"/>
            <a:ext cx="3423818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支柱 3：以食為名的章節隱喻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1. 每一章皆以台灣經典代表性小吃料理命名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2. 冬瓜茶、米苔目、生魚片、蜜豆冰與麻芛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3. 餐桌作為文化、階級、性別與權力的角力場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100FF"/>
                </a:solidFill>
              </a:defRPr>
            </a:pPr>
            <a:r>
              <a:t>核心發現 3：時序推進與因果鏈  ｜  版型 4：連鎖論法 (Chain / Flow)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11827"/>
                </a:solidFill>
              </a:defRPr>
            </a:pPr>
            <a:r>
              <a:t>① 主張：昭和十三年鐵道漫遊在飲食親密碰撞中，逐步推導出殖民鴻溝的殘酷覺醒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從基隆港登陸到臺中柳川，因果鏈展現出親密與疏離並存的深層動態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Source: 楊双子《臺灣漫遊錄》時空情節脈絡分析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" y="1783080"/>
            <a:ext cx="10728655" cy="347472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② 昭和十三年 (1938) 縱貫鐵道漫遊與心理演進推進鏈 ───►</a:t>
            </a:r>
          </a:p>
        </p:txBody>
      </p:sp>
      <p:sp>
        <p:nvSpPr>
          <p:cNvPr id="8" name="Chevron 7"/>
          <p:cNvSpPr/>
          <p:nvPr/>
        </p:nvSpPr>
        <p:spPr>
          <a:xfrm>
            <a:off x="731520" y="2286000"/>
            <a:ext cx="3423818" cy="68580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順序 1：基隆港登陸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3423818" cy="301752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314949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帝國作家青山千鶴子訪台演講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初遇安排之台灣隨行通譯王千鶴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殖民者獵奇與善意視角初現</a:t>
            </a:r>
          </a:p>
        </p:txBody>
      </p:sp>
      <p:sp>
        <p:nvSpPr>
          <p:cNvPr id="11" name="Chevron 10"/>
          <p:cNvSpPr/>
          <p:nvPr/>
        </p:nvSpPr>
        <p:spPr>
          <a:xfrm>
            <a:off x="4383938" y="2286000"/>
            <a:ext cx="3423818" cy="68580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順序 2：臺中春風館同桌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3108960"/>
            <a:ext cx="3423818" cy="301752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098" y="3246120"/>
            <a:ext cx="314949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深入臺中柳川與在地城鄉風貌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打破日式宴席規範，共享庶民小吃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身體物理距離拉近，浪漫情愫萌芽</a:t>
            </a:r>
          </a:p>
        </p:txBody>
      </p:sp>
      <p:sp>
        <p:nvSpPr>
          <p:cNvPr id="14" name="Chevron 13"/>
          <p:cNvSpPr/>
          <p:nvPr/>
        </p:nvSpPr>
        <p:spPr>
          <a:xfrm>
            <a:off x="8036356" y="2286000"/>
            <a:ext cx="3423818" cy="685800"/>
          </a:xfrm>
          <a:prstGeom prst="chevron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順序 3：殖民鴻溝終局覺醒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3108960"/>
            <a:ext cx="3423818" cy="301752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3516" y="3246120"/>
            <a:ext cx="314949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王千鶴面臨婚配與生存雙重壓迫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青山邀請赴日引發「毒性善意」衝擊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無法跨越的身分階級鴻溝徹底爆發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核心發現 4：權力與主體性矩陣  ｜  版型 5：麥肯錫論法 (McKinsey Matrix)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1C2C"/>
                </a:solidFill>
              </a:defRPr>
            </a:pPr>
            <a:r>
              <a:t>① 主張：兩位女主角跨階段關係演進，深刻映射「殖民凝視痛點」與「主體抗詰解方」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橫軸四階段流程 × 縱軸殖民者與被殖民者心理動態矩陣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Source: 陳國偉副教授《臺灣漫遊錄》角色心理與權力結構解讀</a:t>
            </a:r>
          </a:p>
        </p:txBody>
      </p:sp>
      <p:sp>
        <p:nvSpPr>
          <p:cNvPr id="7" name="Chevron 6"/>
          <p:cNvSpPr/>
          <p:nvPr/>
        </p:nvSpPr>
        <p:spPr>
          <a:xfrm>
            <a:off x="2880360" y="1783080"/>
            <a:ext cx="2042083" cy="5486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階段 1：初識相逢</a:t>
            </a:r>
          </a:p>
        </p:txBody>
      </p:sp>
      <p:sp>
        <p:nvSpPr>
          <p:cNvPr id="8" name="Chevron 7"/>
          <p:cNvSpPr/>
          <p:nvPr/>
        </p:nvSpPr>
        <p:spPr>
          <a:xfrm>
            <a:off x="5059603" y="1783080"/>
            <a:ext cx="2042083" cy="5486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階段 2：鐵道漫遊</a:t>
            </a:r>
          </a:p>
        </p:txBody>
      </p:sp>
      <p:sp>
        <p:nvSpPr>
          <p:cNvPr id="9" name="Chevron 8"/>
          <p:cNvSpPr/>
          <p:nvPr/>
        </p:nvSpPr>
        <p:spPr>
          <a:xfrm>
            <a:off x="7238847" y="1783080"/>
            <a:ext cx="2042083" cy="5486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階段 3：餐桌小吃親炙</a:t>
            </a:r>
          </a:p>
        </p:txBody>
      </p:sp>
      <p:sp>
        <p:nvSpPr>
          <p:cNvPr id="10" name="Chevron 9"/>
          <p:cNvSpPr/>
          <p:nvPr/>
        </p:nvSpPr>
        <p:spPr>
          <a:xfrm>
            <a:off x="9418091" y="1783080"/>
            <a:ext cx="2042083" cy="5486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階段 4：終局抉擇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2011680" cy="17373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青山千鶴子 (殖民者痛點)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514600"/>
            <a:ext cx="2042083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真誠釋出友好，視自己為引領知己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9603" y="2514600"/>
            <a:ext cx="2042083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1043" y="2606040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以帝國內地文人眼光凝視台灣風土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8847" y="2514600"/>
            <a:ext cx="2042083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0287" y="2606040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執著以「同桌吃飯」作為友誼證明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091" y="2514600"/>
            <a:ext cx="2042083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531" y="2606040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「為你好」邀其赴日，無視對方意願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2011680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王千鶴 (主體抗詰解方)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4389120"/>
            <a:ext cx="2042083" cy="173736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480559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戴上通譯禮貌假面，維持自我防護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59603" y="4389120"/>
            <a:ext cx="2042083" cy="173736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1043" y="4480559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化身在地領路人，以博學重奪主導權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8847" y="4389120"/>
            <a:ext cx="2042083" cy="173736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0287" y="4480559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藉由餐桌偏好展現自我主體性意志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091" y="4389120"/>
            <a:ext cx="2042083" cy="173736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531" y="4480559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拒絕依附帝國善意，堅守主體尊嚴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A74"/>
                </a:solidFill>
              </a:defRPr>
            </a:pPr>
            <a:r>
              <a:t>核心發現 5：善意悖論與毒性關係  ｜  版型 6：對立論法 (Opposition)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4F32"/>
                </a:solidFill>
              </a:defRPr>
            </a:pPr>
            <a:r>
              <a:t>① 主張：「殖民者主觀善意」實質構成隱形壓迫，為當代人際「毒性關係」提供深層鏡鑑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表面溫暖的「為你好」如何剝奪弱勢主體性，直指現代職場與情感痛點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Source: IC之音《經典也青春》EP605 人際關係與後殖民批判反思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783080"/>
            <a:ext cx="4206240" cy="457200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殖民者的主觀善意（青山千鶴子）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783080"/>
            <a:ext cx="4206240" cy="457200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被殖民者的真實處境（王千鶴）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201168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F32"/>
                </a:solidFill>
              </a:defRPr>
            </a:pPr>
            <a:r>
              <a:t>關係自我認知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37744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42316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自認拋棄帝國偏見，真誠追求平等靈魂之交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37744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42316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深知階級森嚴，必須配戴溫和假面確保自身安全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201168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F32"/>
                </a:solidFill>
              </a:defRPr>
            </a:pPr>
            <a:r>
              <a:t>未來抉擇期待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333756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38328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好心規劃赴日新生活，認為能解救千鶴脫離困境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33756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38328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深知回日只是換個籠子被豢養，無法真正擺脫附庸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201168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F32"/>
                </a:solidFill>
              </a:defRPr>
            </a:pPr>
            <a:r>
              <a:t>權力本質真相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429768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434340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無意識之優越感：「我對你好，你理當完全依順」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29768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434340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在飲食與沈默中抵抗，守護最後一寸精神自主權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201168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F32"/>
                </a:solidFill>
              </a:defRPr>
            </a:pPr>
            <a:r>
              <a:t>當代生活映射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525780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530352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職場或親密關係中打著保護名義的強勢控制者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525780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530352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處於弱勢地位、聲音被消音、被強行代表的受害者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100FF"/>
                </a:solidFill>
              </a:defRPr>
            </a:pPr>
            <a:r>
              <a:t>核心發現 6：文類跨界融合機制  ｜  版型 7：文類跨界比較 (Cross-Genre Fusion)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11827"/>
                </a:solidFill>
              </a:defRPr>
            </a:pPr>
            <a:r>
              <a:t>① 主張：大眾百合浪漫作為甜美誘餌，反襯出後殖民歷史批判的冷酷手術刀力量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少女小說細膩情感 × 嚴肅政治寓言，打造跨界高黏著度的傳播模型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Source: 楊双子大眾文學與百合創作脈絡研究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3818" cy="4389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23818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維度 1：大眾百合浪漫外衣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1. 借用少女小說唯美細膩筆法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2. 營造雙女主同桌共食的曖昧情愫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3. 大幅降低嚴肅歷史文獻的閱讀門檻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828800"/>
            <a:ext cx="3423818" cy="4389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1828800"/>
            <a:ext cx="3423818" cy="457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維度 2：銳利後殖民本質批判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1. 無情戳破殖民現代化神話下的剝削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2. 揭露以善意為掩護之文化同化暴力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3. 超越傳統非黑即白的扁平抗爭框架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828800"/>
            <a:ext cx="3423818" cy="4389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6356" y="1828800"/>
            <a:ext cx="3423818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維度 3：雙軌互文綜效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1. 情感越親密，身分撕裂感越痛徹心扉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2. 以飲食口腹之慾包裝政治主體性追尋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3. 創造商業暢銷與學術高評價的雙贏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A74"/>
                </a:solidFill>
              </a:defRPr>
            </a:pPr>
            <a:r>
              <a:t>策略定位矩陣  ｜  版型 8：BCG 2x2 矩陣 (BCG Matrix)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4F32"/>
                </a:solidFill>
              </a:defRPr>
            </a:pPr>
            <a:r>
              <a:t>① 主張：《臺灣漫遊錄》精準卡位「普世共鳴 × 現代可讀性」象限，為台文出海樹立標竿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在歷史考據深度、通俗流暢可讀性與全球普世人性間取得最佳戰略平衡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Source: BCG 矩陣分析臺灣文學出海策略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1097280" cy="3931920"/>
          </a:xfrm>
          <a:prstGeom prst="rect">
            <a:avLst/>
          </a:prstGeom>
          <a:solidFill>
            <a:srgbClr val="004F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▲</a:t>
            </a:r>
            <a:br/>
            <a:r>
              <a:t>普</a:t>
            </a:r>
            <a:br/>
            <a:r>
              <a:t>世</a:t>
            </a:r>
            <a:br/>
            <a:r>
              <a:t>人</a:t>
            </a:r>
            <a:br/>
            <a:r>
              <a:t>性</a:t>
            </a:r>
            <a:br/>
            <a:r>
              <a:t>共</a:t>
            </a:r>
            <a:br/>
            <a:r>
              <a:t>鳴</a:t>
            </a:r>
            <a:br/>
            <a:r>
              <a:t>│</a:t>
            </a:r>
            <a:br/>
            <a:r>
              <a:t>Y</a:t>
            </a:r>
            <a:br/>
            <a:r>
              <a:t>軸</a:t>
            </a:r>
            <a:br/>
            <a:r>
              <a:t>│</a:t>
            </a:r>
            <a:br/>
            <a:r>
              <a:t>地</a:t>
            </a:r>
            <a:br/>
            <a:r>
              <a:t>域</a:t>
            </a:r>
            <a:br/>
            <a:r>
              <a:t>本</a:t>
            </a:r>
            <a:br/>
            <a:r>
              <a:t>土</a:t>
            </a:r>
            <a:br/>
            <a:r>
              <a:t>經</a:t>
            </a:r>
            <a:br/>
            <a:r>
              <a:t>驗</a:t>
            </a:r>
            <a:br/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5806440"/>
            <a:ext cx="6583680" cy="384048"/>
          </a:xfrm>
          <a:prstGeom prst="rect">
            <a:avLst/>
          </a:prstGeom>
          <a:solidFill>
            <a:srgbClr val="004F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◄ 嚴謹歷史文史考據               X 軸：文本敘事光譜               現代大眾流暢可讀性 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783080"/>
            <a:ext cx="3246120" cy="1874519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874519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7B57"/>
                </a:solidFill>
              </a:defRPr>
            </a:pPr>
            <a:r>
              <a:t>象限 1：象牙塔純文學 (左上)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高度普世哲理但敘事晦澀艱深，海外大眾傳播力受限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783080"/>
            <a:ext cx="3246120" cy="1874519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874519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4F32"/>
                </a:solidFill>
              </a:defRPr>
            </a:pPr>
            <a:r>
              <a:t>象限 2：全球文學明星 (右上 - 目標焦點)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《臺灣漫遊錄》落點：兼具歷史考證、百合可讀性與後殖民普世共鳴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3794760"/>
            <a:ext cx="3246120" cy="1874519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886200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7B57"/>
                </a:solidFill>
              </a:defRPr>
            </a:pPr>
            <a:r>
              <a:t>象限 3：地方文史考據 (左下)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高度本土局限性，缺乏跨文化翻譯與通俗傳播之敘事鉤子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794760"/>
            <a:ext cx="3246120" cy="1874519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3886200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7B57"/>
                </a:solidFill>
              </a:defRPr>
            </a:pPr>
            <a:r>
              <a:t>象限 4：純通俗娛樂 (右下)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具備快節奏大眾娛樂性，但欠缺歷史厚度與思想承載量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783080"/>
            <a:ext cx="2651760" cy="43891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92024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7B57"/>
                </a:solidFill>
              </a:defRPr>
            </a:pPr>
            <a:r>
              <a:t>🎯 BCG 策略啟示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【雙重平衡】不走極端學術晦澀，亦不流於快餐膚淺。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【國際破圈】以大眾百合小說為載體，包覆深刻後殖民反思。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【出海範式】為臺灣在地經驗走向全球提供可複製的經典路徑。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落地實踐行動建議  ｜  行動建議：三大落地護欄實踐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1C2C"/>
                </a:solidFill>
              </a:defRPr>
            </a:pPr>
            <a:r>
              <a:t>① 主張：建立短中長期落地護欄，轉化文學洞察為當代文化創作與主體性覺醒資產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現代讀者、文化創作者與跨界傳播者的三大落地實踐藍圖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Source: Executive Action Roadmap 經典也青春導讀實踐藍圖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3818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23818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短期實踐 (0-30 天)：現代讀者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1. 進行臺中舊城區與柳川「美食與歷史聖地巡禮」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2. 對照1938年與現代飲食，體會餐桌背後的主體意志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3. 反思個人在親密關係中是否無意識扮演「青山千鶴子」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828800"/>
            <a:ext cx="3423818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1828800"/>
            <a:ext cx="3423818" cy="4572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中期推進 (1-3 個月)：文化創作者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1. 借鑒楊双子「大眾類型＋文史考據」之混合敘事模式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2. 摒棄傳統扁平二元對立，挖掘幽微之權力與情感辯證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3. 積極探索跨媒介轉譯潛力（影視改編、舞台劇、動漫）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828800"/>
            <a:ext cx="3423818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6356" y="1828800"/>
            <a:ext cx="3423818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長期制度 (3-6 個月)：跨界傳播者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1. 推動台灣文學高質量多語系翻譯與全球出版網絡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2. 將台灣歷史主體性轉化為探討多元包容的國際共同語彙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3. 建立以本土故事對話全球普世人性的文化輸出長效機制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總結：超越時空的文學啟示  ｜  版型 1：一對一論法 (One-to-One)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1C2C"/>
                </a:solidFill>
              </a:defRPr>
            </a:pPr>
            <a:r>
              <a:t>① 主張：《臺灣漫遊錄》超越單一歷史時空，為當代人際處境與自我主體性樹立永恆鏡鑑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從昭和十三年的餐桌，到二十一世紀的我們：守護不可妥協的自我主體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Source: IC之音《經典也青春》EP605 導讀總結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493520" y="3150014"/>
            <a:ext cx="731520" cy="2519265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6360" y="2829974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飲食文學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0640" y="5742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1F2937"/>
                </a:solidFill>
              </a:defRPr>
            </a:pPr>
            <a:r>
              <a:t>感官小吃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814112"/>
            <a:ext cx="731520" cy="2855167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494072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日治地景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742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1F2937"/>
                </a:solidFill>
              </a:defRPr>
            </a:pPr>
            <a:r>
              <a:t>歷史記憶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73040" y="2377440"/>
            <a:ext cx="731520" cy="3291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5880" y="205740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永恆鏡鑑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0160" y="5742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51C2C"/>
                </a:solidFill>
              </a:defRPr>
            </a:pPr>
            <a:r>
              <a:t>主體自覺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828800"/>
            <a:ext cx="448056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011680"/>
            <a:ext cx="4023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② 導讀精華總結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以百合之情引路、以美食料理鋪陳，最終直面不可撼動的歷史現實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王千鶴在餐桌上守護的，是身為被殖民者乃至每一個獨立個人的不可侵犯主體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陳國偉教授總結：無論處於何種時代或關係，這部作品都能為迷惘者照亮內心真實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獻給所有在壓迫與善意夾縫中，依然勇敢追尋自我定義的讀者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